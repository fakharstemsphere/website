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9" r:id="rId7"/>
    <p:sldId id="270" r:id="rId8"/>
    <p:sldId id="271" r:id="rId9"/>
    <p:sldId id="261" r:id="rId10"/>
    <p:sldId id="262" r:id="rId11"/>
    <p:sldId id="264" r:id="rId12"/>
    <p:sldId id="265" r:id="rId13"/>
    <p:sldId id="266" r:id="rId14"/>
    <p:sldId id="267" r:id="rId15"/>
    <p:sldId id="268" r:id="rId16"/>
    <p:sldId id="272" r:id="rId17"/>
    <p:sldId id="263" r:id="rId18"/>
    <p:sldId id="273" r:id="rId19"/>
    <p:sldId id="274" r:id="rId20"/>
    <p:sldId id="275" r:id="rId21"/>
    <p:sldId id="276" r:id="rId22"/>
    <p:sldId id="282" r:id="rId23"/>
    <p:sldId id="277" r:id="rId24"/>
    <p:sldId id="278" r:id="rId25"/>
    <p:sldId id="279" r:id="rId26"/>
    <p:sldId id="280" r:id="rId27"/>
    <p:sldId id="281" r:id="rId28"/>
    <p:sldId id="289" r:id="rId29"/>
    <p:sldId id="290" r:id="rId30"/>
    <p:sldId id="283" r:id="rId31"/>
    <p:sldId id="284" r:id="rId32"/>
    <p:sldId id="286" r:id="rId33"/>
    <p:sldId id="287" r:id="rId34"/>
    <p:sldId id="288" r:id="rId35"/>
    <p:sldId id="293" r:id="rId36"/>
    <p:sldId id="294" r:id="rId37"/>
    <p:sldId id="295" r:id="rId38"/>
    <p:sldId id="296" r:id="rId39"/>
    <p:sldId id="297" r:id="rId40"/>
    <p:sldId id="298" r:id="rId41"/>
    <p:sldId id="300" r:id="rId42"/>
    <p:sldId id="299" r:id="rId43"/>
    <p:sldId id="301" r:id="rId44"/>
    <p:sldId id="302" r:id="rId45"/>
    <p:sldId id="304" r:id="rId46"/>
    <p:sldId id="303" r:id="rId47"/>
    <p:sldId id="305" r:id="rId48"/>
    <p:sldId id="306" r:id="rId49"/>
    <p:sldId id="30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56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022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9871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4C3E18F-3CB7-46A0-8301-0008DA77D65A}"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497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4C3E18F-3CB7-46A0-8301-0008DA77D65A}" type="datetimeFigureOut">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2571788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4C3E18F-3CB7-46A0-8301-0008DA77D65A}" type="datetimeFigureOut">
              <a:rPr lang="en-US" smtClean="0"/>
              <a:t>4/10/2020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85115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4C3E18F-3CB7-46A0-8301-0008DA77D65A}" type="datetimeFigureOut">
              <a:rPr lang="en-US" smtClean="0"/>
              <a:t>4/10/2020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216564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4C3E18F-3CB7-46A0-8301-0008DA77D65A}" type="datetimeFigureOut">
              <a:rPr lang="en-US" smtClean="0"/>
              <a:t>4/10/2020</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2138054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4C3E18F-3CB7-46A0-8301-0008DA77D65A}" type="datetimeFigureOut">
              <a:rPr lang="en-US" smtClean="0"/>
              <a:t>4/10/2020</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5E1C207-5865-4CAC-89F6-E075B21F7846}" type="slidenum">
              <a:rPr lang="en-US" smtClean="0"/>
              <a:t>‹#›</a:t>
            </a:fld>
            <a:endParaRPr lang="en-US"/>
          </a:p>
        </p:txBody>
      </p:sp>
    </p:spTree>
    <p:extLst>
      <p:ext uri="{BB962C8B-B14F-4D97-AF65-F5344CB8AC3E}">
        <p14:creationId xmlns:p14="http://schemas.microsoft.com/office/powerpoint/2010/main" val="3329849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4C3E18F-3CB7-46A0-8301-0008DA77D65A}" type="datetimeFigureOut">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459319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185946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C3E18F-3CB7-46A0-8301-0008DA77D65A}"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1C207-5865-4CAC-89F6-E075B21F7846}" type="slidenum">
              <a:rPr lang="en-US" smtClean="0"/>
              <a:t>‹#›</a:t>
            </a:fld>
            <a:endParaRPr lang="en-US"/>
          </a:p>
        </p:txBody>
      </p:sp>
    </p:spTree>
    <p:extLst>
      <p:ext uri="{BB962C8B-B14F-4D97-AF65-F5344CB8AC3E}">
        <p14:creationId xmlns:p14="http://schemas.microsoft.com/office/powerpoint/2010/main" val="365611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4C3E18F-3CB7-46A0-8301-0008DA77D65A}" type="datetimeFigureOut">
              <a:rPr lang="en-US" smtClean="0"/>
              <a:t>4/10/2020</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5E1C207-5865-4CAC-89F6-E075B21F784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7760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Cache </a:t>
            </a:r>
            <a:endParaRPr lang="en-US" dirty="0"/>
          </a:p>
        </p:txBody>
      </p:sp>
      <p:sp>
        <p:nvSpPr>
          <p:cNvPr id="3" name="Subtitle 2"/>
          <p:cNvSpPr>
            <a:spLocks noGrp="1"/>
          </p:cNvSpPr>
          <p:nvPr>
            <p:ph type="subTitle" idx="1"/>
          </p:nvPr>
        </p:nvSpPr>
        <p:spPr/>
        <p:txBody>
          <a:bodyPr>
            <a:normAutofit/>
          </a:bodyPr>
          <a:lstStyle/>
          <a:p>
            <a:r>
              <a:rPr lang="en-US" b="1" dirty="0" smtClean="0"/>
              <a:t>Compiled by:</a:t>
            </a:r>
            <a:endParaRPr lang="en-US" dirty="0" smtClean="0"/>
          </a:p>
          <a:p>
            <a:r>
              <a:rPr lang="en-US" dirty="0" smtClean="0"/>
              <a:t>	</a:t>
            </a:r>
            <a:r>
              <a:rPr lang="en-US" dirty="0" err="1" smtClean="0"/>
              <a:t>Sarosh</a:t>
            </a:r>
            <a:r>
              <a:rPr lang="en-US" dirty="0" smtClean="0"/>
              <a:t> </a:t>
            </a:r>
            <a:r>
              <a:rPr lang="en-US" dirty="0" err="1" smtClean="0"/>
              <a:t>shahid</a:t>
            </a:r>
            <a:endParaRPr lang="en-US" dirty="0"/>
          </a:p>
        </p:txBody>
      </p:sp>
    </p:spTree>
    <p:extLst>
      <p:ext uri="{BB962C8B-B14F-4D97-AF65-F5344CB8AC3E}">
        <p14:creationId xmlns:p14="http://schemas.microsoft.com/office/powerpoint/2010/main" val="3652957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2635023" y="3317888"/>
            <a:ext cx="1934119" cy="369332"/>
          </a:xfrm>
          <a:prstGeom prst="rect">
            <a:avLst/>
          </a:prstGeom>
          <a:solidFill>
            <a:schemeClr val="bg1"/>
          </a:solidFill>
        </p:spPr>
        <p:txBody>
          <a:bodyPr wrap="square" rtlCol="0">
            <a:spAutoFit/>
          </a:bodyPr>
          <a:lstStyle/>
          <a:p>
            <a:r>
              <a:rPr lang="en-US" dirty="0" smtClean="0">
                <a:solidFill>
                  <a:srgbClr val="0070C0"/>
                </a:solidFill>
              </a:rPr>
              <a:t>Find data in cache</a:t>
            </a:r>
            <a:endParaRPr lang="en-US" dirty="0">
              <a:solidFill>
                <a:srgbClr val="0070C0"/>
              </a:solidFill>
            </a:endParaRPr>
          </a:p>
        </p:txBody>
      </p:sp>
      <p:sp>
        <p:nvSpPr>
          <p:cNvPr id="2" name="Title 1"/>
          <p:cNvSpPr>
            <a:spLocks noGrp="1"/>
          </p:cNvSpPr>
          <p:nvPr>
            <p:ph type="title"/>
          </p:nvPr>
        </p:nvSpPr>
        <p:spPr/>
        <p:txBody>
          <a:bodyPr/>
          <a:lstStyle/>
          <a:p>
            <a:r>
              <a:rPr lang="en-US" dirty="0" smtClean="0"/>
              <a:t>Cache Miss</a:t>
            </a:r>
            <a:endParaRPr lang="en-US" dirty="0"/>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MOV AL, </a:t>
            </a:r>
            <a:r>
              <a:rPr lang="en-US" dirty="0">
                <a:solidFill>
                  <a:srgbClr val="FF0000"/>
                </a:solidFill>
              </a:rPr>
              <a:t>[08]</a:t>
            </a:r>
          </a:p>
        </p:txBody>
      </p:sp>
      <p:sp>
        <p:nvSpPr>
          <p:cNvPr id="5" name="Rectangle 4"/>
          <p:cNvSpPr/>
          <p:nvPr/>
        </p:nvSpPr>
        <p:spPr>
          <a:xfrm>
            <a:off x="4754880"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extLst>
              <p:ext uri="{D42A27DB-BD31-4B8C-83A1-F6EECF244321}">
                <p14:modId xmlns:p14="http://schemas.microsoft.com/office/powerpoint/2010/main" val="858741639"/>
              </p:ext>
            </p:extLst>
          </p:nvPr>
        </p:nvGraphicFramePr>
        <p:xfrm>
          <a:off x="91630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 xmlns:a16="http://schemas.microsoft.com/office/drawing/2014/main" val="1695656520"/>
                    </a:ext>
                  </a:extLst>
                </a:gridCol>
                <a:gridCol w="1459230">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47</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88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99</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21</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4157796138"/>
                  </a:ext>
                </a:extLst>
              </a:tr>
              <a:tr h="362494">
                <a:tc>
                  <a:txBody>
                    <a:bodyPr/>
                    <a:lstStyle/>
                    <a:p>
                      <a:r>
                        <a:rPr lang="en-US" b="1" dirty="0" smtClean="0">
                          <a:solidFill>
                            <a:srgbClr val="FF0000"/>
                          </a:solidFill>
                        </a:rPr>
                        <a:t>08</a:t>
                      </a:r>
                      <a:endParaRPr lang="en-US" b="1" dirty="0">
                        <a:solidFill>
                          <a:srgbClr val="FF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smtClean="0">
                          <a:solidFill>
                            <a:srgbClr val="FF0000"/>
                          </a:solidFill>
                        </a:rPr>
                        <a:t>57</a:t>
                      </a:r>
                      <a:endParaRPr lang="en-US" b="1" dirty="0">
                        <a:solidFill>
                          <a:srgbClr val="FF0000"/>
                        </a:solidFill>
                      </a:endParaRPr>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521264448"/>
                  </a:ext>
                </a:extLst>
              </a:tr>
              <a:tr h="362494">
                <a:tc>
                  <a:txBody>
                    <a:bodyPr/>
                    <a:lstStyle/>
                    <a:p>
                      <a:r>
                        <a:rPr lang="en-US" b="1" dirty="0" smtClean="0"/>
                        <a:t>09</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903301412"/>
                  </a:ext>
                </a:extLst>
              </a:tr>
              <a:tr h="362494">
                <a:tc>
                  <a:txBody>
                    <a:bodyPr/>
                    <a:lstStyle/>
                    <a:p>
                      <a:r>
                        <a:rPr lang="en-US" b="1" dirty="0" smtClean="0"/>
                        <a:t>0A</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1317120"/>
                  </a:ext>
                </a:extLst>
              </a:tr>
              <a:tr h="362494">
                <a:tc>
                  <a:txBody>
                    <a:bodyPr/>
                    <a:lstStyle/>
                    <a:p>
                      <a:r>
                        <a:rPr lang="en-US" b="1" dirty="0" smtClean="0"/>
                        <a:t>0B</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22</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smtClean="0"/>
              <a:t>Processor</a:t>
            </a:r>
            <a:endParaRPr lang="en-US" dirty="0"/>
          </a:p>
        </p:txBody>
      </p:sp>
      <p:sp>
        <p:nvSpPr>
          <p:cNvPr id="12" name="TextBox 11"/>
          <p:cNvSpPr txBox="1"/>
          <p:nvPr/>
        </p:nvSpPr>
        <p:spPr>
          <a:xfrm>
            <a:off x="5081452" y="5068389"/>
            <a:ext cx="1924594" cy="369332"/>
          </a:xfrm>
          <a:prstGeom prst="rect">
            <a:avLst/>
          </a:prstGeom>
          <a:noFill/>
        </p:spPr>
        <p:txBody>
          <a:bodyPr wrap="square" rtlCol="0">
            <a:spAutoFit/>
          </a:bodyPr>
          <a:lstStyle/>
          <a:p>
            <a:r>
              <a:rPr lang="en-US" dirty="0" smtClean="0"/>
              <a:t>Cache</a:t>
            </a:r>
            <a:endParaRPr lang="en-US" dirty="0"/>
          </a:p>
        </p:txBody>
      </p:sp>
      <p:sp>
        <p:nvSpPr>
          <p:cNvPr id="14" name="TextBox 13"/>
          <p:cNvSpPr txBox="1"/>
          <p:nvPr/>
        </p:nvSpPr>
        <p:spPr>
          <a:xfrm>
            <a:off x="4829175" y="3502554"/>
            <a:ext cx="1457325" cy="369332"/>
          </a:xfrm>
          <a:prstGeom prst="rect">
            <a:avLst/>
          </a:prstGeom>
          <a:solidFill>
            <a:schemeClr val="bg1"/>
          </a:solidFill>
        </p:spPr>
        <p:txBody>
          <a:bodyPr wrap="square" rtlCol="0">
            <a:spAutoFit/>
          </a:bodyPr>
          <a:lstStyle/>
          <a:p>
            <a:pPr algn="ctr"/>
            <a:r>
              <a:rPr lang="en-US" dirty="0" smtClean="0">
                <a:solidFill>
                  <a:srgbClr val="0070C0"/>
                </a:solidFill>
              </a:rPr>
              <a:t>Not Found</a:t>
            </a:r>
            <a:endParaRPr lang="en-US" dirty="0">
              <a:solidFill>
                <a:srgbClr val="0070C0"/>
              </a:solidFill>
            </a:endParaRPr>
          </a:p>
        </p:txBody>
      </p:sp>
      <p:sp>
        <p:nvSpPr>
          <p:cNvPr id="13" name="TextBox 12"/>
          <p:cNvSpPr txBox="1"/>
          <p:nvPr/>
        </p:nvSpPr>
        <p:spPr>
          <a:xfrm>
            <a:off x="11130506" y="5915294"/>
            <a:ext cx="1061494" cy="369332"/>
          </a:xfrm>
          <a:prstGeom prst="rect">
            <a:avLst/>
          </a:prstGeom>
          <a:noFill/>
        </p:spPr>
        <p:txBody>
          <a:bodyPr wrap="square" rtlCol="0">
            <a:spAutoFit/>
          </a:bodyPr>
          <a:lstStyle/>
          <a:p>
            <a:r>
              <a:rPr lang="en-US" dirty="0" smtClean="0"/>
              <a:t>Memory</a:t>
            </a:r>
            <a:endParaRPr lang="en-US" dirty="0"/>
          </a:p>
        </p:txBody>
      </p:sp>
      <p:cxnSp>
        <p:nvCxnSpPr>
          <p:cNvPr id="15" name="Straight Arrow Connector 14"/>
          <p:cNvCxnSpPr/>
          <p:nvPr/>
        </p:nvCxnSpPr>
        <p:spPr>
          <a:xfrm flipV="1">
            <a:off x="2597876" y="3654563"/>
            <a:ext cx="2008414"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92720" y="5461870"/>
            <a:ext cx="1457325" cy="369332"/>
          </a:xfrm>
          <a:prstGeom prst="rect">
            <a:avLst/>
          </a:prstGeom>
          <a:solidFill>
            <a:schemeClr val="bg1"/>
          </a:solidFill>
        </p:spPr>
        <p:txBody>
          <a:bodyPr wrap="square" rtlCol="0">
            <a:spAutoFit/>
          </a:bodyPr>
          <a:lstStyle/>
          <a:p>
            <a:pPr algn="ctr"/>
            <a:r>
              <a:rPr lang="en-US" b="1" dirty="0" smtClean="0">
                <a:solidFill>
                  <a:srgbClr val="FF0000"/>
                </a:solidFill>
              </a:rPr>
              <a:t>CACHE MISS</a:t>
            </a:r>
            <a:endParaRPr lang="en-US" b="1" dirty="0">
              <a:solidFill>
                <a:srgbClr val="FF0000"/>
              </a:solidFill>
            </a:endParaRPr>
          </a:p>
        </p:txBody>
      </p:sp>
      <p:sp>
        <p:nvSpPr>
          <p:cNvPr id="18" name="TextBox 17"/>
          <p:cNvSpPr txBox="1"/>
          <p:nvPr/>
        </p:nvSpPr>
        <p:spPr>
          <a:xfrm>
            <a:off x="6710771" y="4178328"/>
            <a:ext cx="1934119" cy="369332"/>
          </a:xfrm>
          <a:prstGeom prst="rect">
            <a:avLst/>
          </a:prstGeom>
          <a:solidFill>
            <a:schemeClr val="bg1"/>
          </a:solidFill>
        </p:spPr>
        <p:txBody>
          <a:bodyPr wrap="square" rtlCol="0">
            <a:spAutoFit/>
          </a:bodyPr>
          <a:lstStyle/>
          <a:p>
            <a:endParaRPr lang="en-US" dirty="0">
              <a:solidFill>
                <a:srgbClr val="0070C0"/>
              </a:solidFill>
            </a:endParaRPr>
          </a:p>
        </p:txBody>
      </p:sp>
      <p:cxnSp>
        <p:nvCxnSpPr>
          <p:cNvPr id="19" name="Straight Arrow Connector 18"/>
          <p:cNvCxnSpPr/>
          <p:nvPr/>
        </p:nvCxnSpPr>
        <p:spPr>
          <a:xfrm flipV="1">
            <a:off x="6636476" y="3654564"/>
            <a:ext cx="2008414"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6636476" y="4054533"/>
            <a:ext cx="2008414" cy="145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831217" y="3956918"/>
            <a:ext cx="1457325" cy="646331"/>
          </a:xfrm>
          <a:prstGeom prst="rect">
            <a:avLst/>
          </a:prstGeom>
          <a:solidFill>
            <a:schemeClr val="bg1"/>
          </a:solidFill>
        </p:spPr>
        <p:txBody>
          <a:bodyPr wrap="square" rtlCol="0">
            <a:spAutoFit/>
          </a:bodyPr>
          <a:lstStyle/>
          <a:p>
            <a:pPr algn="ctr"/>
            <a:r>
              <a:rPr lang="en-US" dirty="0" smtClean="0">
                <a:solidFill>
                  <a:srgbClr val="FF0000"/>
                </a:solidFill>
              </a:rPr>
              <a:t>Place 57 in</a:t>
            </a:r>
          </a:p>
          <a:p>
            <a:pPr algn="ctr"/>
            <a:r>
              <a:rPr lang="en-US" dirty="0" smtClean="0">
                <a:solidFill>
                  <a:srgbClr val="FF0000"/>
                </a:solidFill>
              </a:rPr>
              <a:t>cache</a:t>
            </a:r>
            <a:endParaRPr lang="en-US" dirty="0">
              <a:solidFill>
                <a:srgbClr val="FF0000"/>
              </a:solidFill>
            </a:endParaRPr>
          </a:p>
        </p:txBody>
      </p:sp>
      <p:cxnSp>
        <p:nvCxnSpPr>
          <p:cNvPr id="22" name="Straight Arrow Connector 21"/>
          <p:cNvCxnSpPr/>
          <p:nvPr/>
        </p:nvCxnSpPr>
        <p:spPr>
          <a:xfrm flipH="1" flipV="1">
            <a:off x="2606858" y="4058436"/>
            <a:ext cx="2008414" cy="145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585358" y="4098196"/>
            <a:ext cx="2006645"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sp>
        <p:nvSpPr>
          <p:cNvPr id="24" name="TextBox 23"/>
          <p:cNvSpPr txBox="1"/>
          <p:nvPr/>
        </p:nvSpPr>
        <p:spPr>
          <a:xfrm>
            <a:off x="6682430" y="4098196"/>
            <a:ext cx="2006645"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sp>
        <p:nvSpPr>
          <p:cNvPr id="25" name="TextBox 24"/>
          <p:cNvSpPr txBox="1"/>
          <p:nvPr/>
        </p:nvSpPr>
        <p:spPr>
          <a:xfrm>
            <a:off x="6673623" y="3254751"/>
            <a:ext cx="2220995" cy="369332"/>
          </a:xfrm>
          <a:prstGeom prst="rect">
            <a:avLst/>
          </a:prstGeom>
          <a:solidFill>
            <a:schemeClr val="bg1"/>
          </a:solidFill>
        </p:spPr>
        <p:txBody>
          <a:bodyPr wrap="square" rtlCol="0">
            <a:spAutoFit/>
          </a:bodyPr>
          <a:lstStyle/>
          <a:p>
            <a:r>
              <a:rPr lang="en-US" dirty="0" smtClean="0">
                <a:solidFill>
                  <a:srgbClr val="0070C0"/>
                </a:solidFill>
              </a:rPr>
              <a:t>Find data in memory</a:t>
            </a:r>
            <a:endParaRPr lang="en-US" dirty="0">
              <a:solidFill>
                <a:srgbClr val="0070C0"/>
              </a:solidFill>
            </a:endParaRPr>
          </a:p>
        </p:txBody>
      </p:sp>
    </p:spTree>
    <p:extLst>
      <p:ext uri="{BB962C8B-B14F-4D97-AF65-F5344CB8AC3E}">
        <p14:creationId xmlns:p14="http://schemas.microsoft.com/office/powerpoint/2010/main" val="9812265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6" grpId="0" animBg="1"/>
      <p:bldP spid="18" grpId="0" animBg="1"/>
      <p:bldP spid="21" grpId="0" animBg="1"/>
      <p:bldP spid="23"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2635023" y="3317888"/>
            <a:ext cx="1934119" cy="369332"/>
          </a:xfrm>
          <a:prstGeom prst="rect">
            <a:avLst/>
          </a:prstGeom>
          <a:solidFill>
            <a:schemeClr val="bg1"/>
          </a:solidFill>
        </p:spPr>
        <p:txBody>
          <a:bodyPr wrap="square" rtlCol="0">
            <a:spAutoFit/>
          </a:bodyPr>
          <a:lstStyle/>
          <a:p>
            <a:r>
              <a:rPr lang="en-US" dirty="0" smtClean="0">
                <a:solidFill>
                  <a:srgbClr val="0070C0"/>
                </a:solidFill>
              </a:rPr>
              <a:t>Find data in cache</a:t>
            </a:r>
            <a:endParaRPr lang="en-US" dirty="0">
              <a:solidFill>
                <a:srgbClr val="0070C0"/>
              </a:solidFill>
            </a:endParaRPr>
          </a:p>
        </p:txBody>
      </p:sp>
      <p:sp>
        <p:nvSpPr>
          <p:cNvPr id="2" name="Title 1"/>
          <p:cNvSpPr>
            <a:spLocks noGrp="1"/>
          </p:cNvSpPr>
          <p:nvPr>
            <p:ph type="title"/>
          </p:nvPr>
        </p:nvSpPr>
        <p:spPr/>
        <p:txBody>
          <a:bodyPr/>
          <a:lstStyle/>
          <a:p>
            <a:r>
              <a:rPr lang="en-US" dirty="0" smtClean="0"/>
              <a:t>Cache Hit</a:t>
            </a:r>
            <a:endParaRPr lang="en-US" dirty="0"/>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MOV AL, </a:t>
            </a:r>
            <a:r>
              <a:rPr lang="en-US" dirty="0">
                <a:solidFill>
                  <a:srgbClr val="FF0000"/>
                </a:solidFill>
              </a:rPr>
              <a:t>[08]</a:t>
            </a:r>
          </a:p>
        </p:txBody>
      </p:sp>
      <p:sp>
        <p:nvSpPr>
          <p:cNvPr id="5" name="Rectangle 4"/>
          <p:cNvSpPr/>
          <p:nvPr/>
        </p:nvSpPr>
        <p:spPr>
          <a:xfrm>
            <a:off x="4754880"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extLst/>
          </p:nvPr>
        </p:nvGraphicFramePr>
        <p:xfrm>
          <a:off x="91630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 xmlns:a16="http://schemas.microsoft.com/office/drawing/2014/main" val="1695656520"/>
                    </a:ext>
                  </a:extLst>
                </a:gridCol>
                <a:gridCol w="1459230">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47</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88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99</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21</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4157796138"/>
                  </a:ext>
                </a:extLst>
              </a:tr>
              <a:tr h="362494">
                <a:tc>
                  <a:txBody>
                    <a:bodyPr/>
                    <a:lstStyle/>
                    <a:p>
                      <a:r>
                        <a:rPr lang="en-US" b="1" dirty="0" smtClean="0">
                          <a:solidFill>
                            <a:srgbClr val="FF0000"/>
                          </a:solidFill>
                        </a:rPr>
                        <a:t>08</a:t>
                      </a:r>
                      <a:endParaRPr lang="en-US" b="1" dirty="0">
                        <a:solidFill>
                          <a:srgbClr val="FF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smtClean="0">
                          <a:solidFill>
                            <a:srgbClr val="FF0000"/>
                          </a:solidFill>
                        </a:rPr>
                        <a:t>57</a:t>
                      </a:r>
                      <a:endParaRPr lang="en-US" b="1" dirty="0">
                        <a:solidFill>
                          <a:srgbClr val="FF0000"/>
                        </a:solidFill>
                      </a:endParaRPr>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521264448"/>
                  </a:ext>
                </a:extLst>
              </a:tr>
              <a:tr h="362494">
                <a:tc>
                  <a:txBody>
                    <a:bodyPr/>
                    <a:lstStyle/>
                    <a:p>
                      <a:r>
                        <a:rPr lang="en-US" b="1" dirty="0" smtClean="0"/>
                        <a:t>09</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903301412"/>
                  </a:ext>
                </a:extLst>
              </a:tr>
              <a:tr h="362494">
                <a:tc>
                  <a:txBody>
                    <a:bodyPr/>
                    <a:lstStyle/>
                    <a:p>
                      <a:r>
                        <a:rPr lang="en-US" b="1" dirty="0" smtClean="0"/>
                        <a:t>0A</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1317120"/>
                  </a:ext>
                </a:extLst>
              </a:tr>
              <a:tr h="362494">
                <a:tc>
                  <a:txBody>
                    <a:bodyPr/>
                    <a:lstStyle/>
                    <a:p>
                      <a:r>
                        <a:rPr lang="en-US" b="1" dirty="0" smtClean="0"/>
                        <a:t>0B</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22</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smtClean="0"/>
              <a:t>Processor</a:t>
            </a:r>
            <a:endParaRPr lang="en-US" dirty="0"/>
          </a:p>
        </p:txBody>
      </p:sp>
      <p:sp>
        <p:nvSpPr>
          <p:cNvPr id="12" name="TextBox 11"/>
          <p:cNvSpPr txBox="1"/>
          <p:nvPr/>
        </p:nvSpPr>
        <p:spPr>
          <a:xfrm>
            <a:off x="5081452" y="5068389"/>
            <a:ext cx="1924594" cy="369332"/>
          </a:xfrm>
          <a:prstGeom prst="rect">
            <a:avLst/>
          </a:prstGeom>
          <a:noFill/>
        </p:spPr>
        <p:txBody>
          <a:bodyPr wrap="square" rtlCol="0">
            <a:spAutoFit/>
          </a:bodyPr>
          <a:lstStyle/>
          <a:p>
            <a:r>
              <a:rPr lang="en-US" dirty="0" smtClean="0"/>
              <a:t>Cache</a:t>
            </a:r>
            <a:endParaRPr lang="en-US" dirty="0"/>
          </a:p>
        </p:txBody>
      </p:sp>
      <p:sp>
        <p:nvSpPr>
          <p:cNvPr id="14" name="TextBox 13"/>
          <p:cNvSpPr txBox="1"/>
          <p:nvPr/>
        </p:nvSpPr>
        <p:spPr>
          <a:xfrm>
            <a:off x="4829175" y="3502554"/>
            <a:ext cx="1457325" cy="369332"/>
          </a:xfrm>
          <a:prstGeom prst="rect">
            <a:avLst/>
          </a:prstGeom>
          <a:solidFill>
            <a:schemeClr val="bg1"/>
          </a:solidFill>
        </p:spPr>
        <p:txBody>
          <a:bodyPr wrap="square" rtlCol="0">
            <a:spAutoFit/>
          </a:bodyPr>
          <a:lstStyle/>
          <a:p>
            <a:pPr algn="ctr"/>
            <a:r>
              <a:rPr lang="en-US" dirty="0" smtClean="0">
                <a:solidFill>
                  <a:srgbClr val="0070C0"/>
                </a:solidFill>
              </a:rPr>
              <a:t>Found</a:t>
            </a:r>
            <a:endParaRPr lang="en-US" dirty="0">
              <a:solidFill>
                <a:srgbClr val="0070C0"/>
              </a:solidFill>
            </a:endParaRPr>
          </a:p>
        </p:txBody>
      </p:sp>
      <p:sp>
        <p:nvSpPr>
          <p:cNvPr id="13" name="TextBox 12"/>
          <p:cNvSpPr txBox="1"/>
          <p:nvPr/>
        </p:nvSpPr>
        <p:spPr>
          <a:xfrm>
            <a:off x="11130506" y="5915294"/>
            <a:ext cx="1061494" cy="369332"/>
          </a:xfrm>
          <a:prstGeom prst="rect">
            <a:avLst/>
          </a:prstGeom>
          <a:noFill/>
        </p:spPr>
        <p:txBody>
          <a:bodyPr wrap="square" rtlCol="0">
            <a:spAutoFit/>
          </a:bodyPr>
          <a:lstStyle/>
          <a:p>
            <a:r>
              <a:rPr lang="en-US" dirty="0" smtClean="0"/>
              <a:t>Memory</a:t>
            </a:r>
            <a:endParaRPr lang="en-US" dirty="0"/>
          </a:p>
        </p:txBody>
      </p:sp>
      <p:cxnSp>
        <p:nvCxnSpPr>
          <p:cNvPr id="15" name="Straight Arrow Connector 14"/>
          <p:cNvCxnSpPr/>
          <p:nvPr/>
        </p:nvCxnSpPr>
        <p:spPr>
          <a:xfrm flipV="1">
            <a:off x="2597876" y="3654564"/>
            <a:ext cx="2008414"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892720" y="5461870"/>
            <a:ext cx="1457325" cy="369332"/>
          </a:xfrm>
          <a:prstGeom prst="rect">
            <a:avLst/>
          </a:prstGeom>
          <a:solidFill>
            <a:schemeClr val="bg1"/>
          </a:solidFill>
        </p:spPr>
        <p:txBody>
          <a:bodyPr wrap="square" rtlCol="0">
            <a:spAutoFit/>
          </a:bodyPr>
          <a:lstStyle/>
          <a:p>
            <a:pPr algn="ctr"/>
            <a:r>
              <a:rPr lang="en-US" b="1" dirty="0" smtClean="0">
                <a:solidFill>
                  <a:srgbClr val="FF0000"/>
                </a:solidFill>
              </a:rPr>
              <a:t>CACHE HIT</a:t>
            </a:r>
            <a:endParaRPr lang="en-US" b="1" dirty="0">
              <a:solidFill>
                <a:srgbClr val="FF0000"/>
              </a:solidFill>
            </a:endParaRPr>
          </a:p>
        </p:txBody>
      </p:sp>
      <p:sp>
        <p:nvSpPr>
          <p:cNvPr id="21" name="TextBox 20"/>
          <p:cNvSpPr txBox="1"/>
          <p:nvPr/>
        </p:nvSpPr>
        <p:spPr>
          <a:xfrm>
            <a:off x="4831217" y="3956918"/>
            <a:ext cx="1457325" cy="646331"/>
          </a:xfrm>
          <a:prstGeom prst="rect">
            <a:avLst/>
          </a:prstGeom>
          <a:solidFill>
            <a:schemeClr val="bg1"/>
          </a:solidFill>
        </p:spPr>
        <p:txBody>
          <a:bodyPr wrap="square" rtlCol="0">
            <a:spAutoFit/>
          </a:bodyPr>
          <a:lstStyle/>
          <a:p>
            <a:pPr algn="ctr"/>
            <a:r>
              <a:rPr lang="en-US" dirty="0" smtClean="0">
                <a:solidFill>
                  <a:srgbClr val="FF0000"/>
                </a:solidFill>
              </a:rPr>
              <a:t>Data 57 in</a:t>
            </a:r>
          </a:p>
          <a:p>
            <a:pPr algn="ctr"/>
            <a:r>
              <a:rPr lang="en-US" dirty="0" smtClean="0">
                <a:solidFill>
                  <a:srgbClr val="FF0000"/>
                </a:solidFill>
              </a:rPr>
              <a:t>cache</a:t>
            </a:r>
            <a:endParaRPr lang="en-US" dirty="0">
              <a:solidFill>
                <a:srgbClr val="FF0000"/>
              </a:solidFill>
            </a:endParaRPr>
          </a:p>
        </p:txBody>
      </p:sp>
      <p:cxnSp>
        <p:nvCxnSpPr>
          <p:cNvPr id="22" name="Straight Arrow Connector 21"/>
          <p:cNvCxnSpPr/>
          <p:nvPr/>
        </p:nvCxnSpPr>
        <p:spPr>
          <a:xfrm flipH="1" flipV="1">
            <a:off x="2606858" y="4058436"/>
            <a:ext cx="2008414" cy="145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585358" y="4098196"/>
            <a:ext cx="2006645"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spTree>
    <p:extLst>
      <p:ext uri="{BB962C8B-B14F-4D97-AF65-F5344CB8AC3E}">
        <p14:creationId xmlns:p14="http://schemas.microsoft.com/office/powerpoint/2010/main" val="21782733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6" grpId="0" animBg="1"/>
      <p:bldP spid="21"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a:t>
            </a:r>
            <a:endParaRPr lang="en-US" dirty="0"/>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MOV AL, </a:t>
            </a:r>
            <a:r>
              <a:rPr lang="en-US" dirty="0">
                <a:solidFill>
                  <a:srgbClr val="FF0000"/>
                </a:solidFill>
              </a:rPr>
              <a:t>[08]</a:t>
            </a:r>
          </a:p>
        </p:txBody>
      </p:sp>
      <p:sp>
        <p:nvSpPr>
          <p:cNvPr id="5" name="Rectangle 4"/>
          <p:cNvSpPr/>
          <p:nvPr/>
        </p:nvSpPr>
        <p:spPr>
          <a:xfrm>
            <a:off x="3814082"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458826262"/>
              </p:ext>
            </p:extLst>
          </p:nvPr>
        </p:nvGraphicFramePr>
        <p:xfrm>
          <a:off x="100774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 xmlns:a16="http://schemas.microsoft.com/office/drawing/2014/main" val="1695656520"/>
                    </a:ext>
                  </a:extLst>
                </a:gridCol>
                <a:gridCol w="1459230">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47</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88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99</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21</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4157796138"/>
                  </a:ext>
                </a:extLst>
              </a:tr>
              <a:tr h="362494">
                <a:tc>
                  <a:txBody>
                    <a:bodyPr/>
                    <a:lstStyle/>
                    <a:p>
                      <a:r>
                        <a:rPr lang="en-US" b="1" dirty="0" smtClean="0">
                          <a:solidFill>
                            <a:srgbClr val="FF0000"/>
                          </a:solidFill>
                        </a:rPr>
                        <a:t>08</a:t>
                      </a:r>
                      <a:endParaRPr lang="en-US" b="1" dirty="0">
                        <a:solidFill>
                          <a:srgbClr val="FF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smtClean="0">
                          <a:solidFill>
                            <a:srgbClr val="FF0000"/>
                          </a:solidFill>
                        </a:rPr>
                        <a:t>57</a:t>
                      </a:r>
                      <a:endParaRPr lang="en-US" b="1" dirty="0">
                        <a:solidFill>
                          <a:srgbClr val="FF0000"/>
                        </a:solidFill>
                      </a:endParaRPr>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521264448"/>
                  </a:ext>
                </a:extLst>
              </a:tr>
              <a:tr h="362494">
                <a:tc>
                  <a:txBody>
                    <a:bodyPr/>
                    <a:lstStyle/>
                    <a:p>
                      <a:r>
                        <a:rPr lang="en-US" b="1" dirty="0" smtClean="0"/>
                        <a:t>09</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903301412"/>
                  </a:ext>
                </a:extLst>
              </a:tr>
              <a:tr h="362494">
                <a:tc>
                  <a:txBody>
                    <a:bodyPr/>
                    <a:lstStyle/>
                    <a:p>
                      <a:r>
                        <a:rPr lang="en-US" b="1" dirty="0" smtClean="0"/>
                        <a:t>0A</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1317120"/>
                  </a:ext>
                </a:extLst>
              </a:tr>
              <a:tr h="362494">
                <a:tc>
                  <a:txBody>
                    <a:bodyPr/>
                    <a:lstStyle/>
                    <a:p>
                      <a:r>
                        <a:rPr lang="en-US" b="1" dirty="0" smtClean="0"/>
                        <a:t>0B</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22</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smtClean="0"/>
              <a:t>Processor</a:t>
            </a:r>
            <a:endParaRPr lang="en-US" dirty="0"/>
          </a:p>
        </p:txBody>
      </p:sp>
      <p:sp>
        <p:nvSpPr>
          <p:cNvPr id="12" name="TextBox 11"/>
          <p:cNvSpPr txBox="1"/>
          <p:nvPr/>
        </p:nvSpPr>
        <p:spPr>
          <a:xfrm>
            <a:off x="4023995" y="5068389"/>
            <a:ext cx="1277678" cy="369332"/>
          </a:xfrm>
          <a:prstGeom prst="rect">
            <a:avLst/>
          </a:prstGeom>
          <a:noFill/>
        </p:spPr>
        <p:txBody>
          <a:bodyPr wrap="square" rtlCol="0">
            <a:spAutoFit/>
          </a:bodyPr>
          <a:lstStyle/>
          <a:p>
            <a:r>
              <a:rPr lang="en-US" dirty="0" smtClean="0"/>
              <a:t>L1 Cache</a:t>
            </a:r>
            <a:endParaRPr lang="en-US" dirty="0"/>
          </a:p>
        </p:txBody>
      </p:sp>
      <p:sp>
        <p:nvSpPr>
          <p:cNvPr id="13" name="TextBox 12"/>
          <p:cNvSpPr txBox="1"/>
          <p:nvPr/>
        </p:nvSpPr>
        <p:spPr>
          <a:xfrm>
            <a:off x="10770288" y="6326774"/>
            <a:ext cx="1061494" cy="369332"/>
          </a:xfrm>
          <a:prstGeom prst="rect">
            <a:avLst/>
          </a:prstGeom>
          <a:noFill/>
        </p:spPr>
        <p:txBody>
          <a:bodyPr wrap="square" rtlCol="0">
            <a:spAutoFit/>
          </a:bodyPr>
          <a:lstStyle/>
          <a:p>
            <a:r>
              <a:rPr lang="en-US" dirty="0" smtClean="0"/>
              <a:t>Memory</a:t>
            </a:r>
            <a:endParaRPr lang="en-US" dirty="0"/>
          </a:p>
        </p:txBody>
      </p:sp>
      <p:sp>
        <p:nvSpPr>
          <p:cNvPr id="26" name="Rectangle 25"/>
          <p:cNvSpPr/>
          <p:nvPr/>
        </p:nvSpPr>
        <p:spPr>
          <a:xfrm>
            <a:off x="6837589"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p:cNvSpPr txBox="1"/>
          <p:nvPr/>
        </p:nvSpPr>
        <p:spPr>
          <a:xfrm>
            <a:off x="7047502" y="5068389"/>
            <a:ext cx="1277678" cy="369332"/>
          </a:xfrm>
          <a:prstGeom prst="rect">
            <a:avLst/>
          </a:prstGeom>
          <a:noFill/>
        </p:spPr>
        <p:txBody>
          <a:bodyPr wrap="square" rtlCol="0">
            <a:spAutoFit/>
          </a:bodyPr>
          <a:lstStyle/>
          <a:p>
            <a:r>
              <a:rPr lang="en-US" dirty="0" smtClean="0"/>
              <a:t>L2 Cache</a:t>
            </a:r>
            <a:endParaRPr lang="en-US" dirty="0"/>
          </a:p>
        </p:txBody>
      </p:sp>
      <p:sp>
        <p:nvSpPr>
          <p:cNvPr id="28" name="TextBox 27"/>
          <p:cNvSpPr txBox="1"/>
          <p:nvPr/>
        </p:nvSpPr>
        <p:spPr>
          <a:xfrm>
            <a:off x="2563994" y="2871457"/>
            <a:ext cx="1139586" cy="523220"/>
          </a:xfrm>
          <a:prstGeom prst="rect">
            <a:avLst/>
          </a:prstGeom>
          <a:solidFill>
            <a:schemeClr val="bg1"/>
          </a:solidFill>
        </p:spPr>
        <p:txBody>
          <a:bodyPr wrap="square" rtlCol="0">
            <a:spAutoFit/>
          </a:bodyPr>
          <a:lstStyle/>
          <a:p>
            <a:pPr algn="ctr"/>
            <a:r>
              <a:rPr lang="en-US" sz="1400" dirty="0" smtClean="0">
                <a:solidFill>
                  <a:srgbClr val="0070C0"/>
                </a:solidFill>
              </a:rPr>
              <a:t>Find data in </a:t>
            </a:r>
          </a:p>
          <a:p>
            <a:pPr algn="ctr"/>
            <a:r>
              <a:rPr lang="en-US" sz="1400" dirty="0" smtClean="0">
                <a:solidFill>
                  <a:srgbClr val="0070C0"/>
                </a:solidFill>
              </a:rPr>
              <a:t>L1 cache</a:t>
            </a:r>
            <a:endParaRPr lang="en-US" sz="1400" dirty="0">
              <a:solidFill>
                <a:srgbClr val="0070C0"/>
              </a:solidFill>
            </a:endParaRPr>
          </a:p>
        </p:txBody>
      </p:sp>
      <p:cxnSp>
        <p:nvCxnSpPr>
          <p:cNvPr id="29" name="Straight Arrow Connector 28"/>
          <p:cNvCxnSpPr/>
          <p:nvPr/>
        </p:nvCxnSpPr>
        <p:spPr>
          <a:xfrm flipV="1">
            <a:off x="2563994" y="3394677"/>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94920" y="3084152"/>
            <a:ext cx="1457325" cy="369332"/>
          </a:xfrm>
          <a:prstGeom prst="rect">
            <a:avLst/>
          </a:prstGeom>
          <a:solidFill>
            <a:schemeClr val="bg1"/>
          </a:solidFill>
        </p:spPr>
        <p:txBody>
          <a:bodyPr wrap="square" rtlCol="0">
            <a:spAutoFit/>
          </a:bodyPr>
          <a:lstStyle/>
          <a:p>
            <a:pPr algn="ctr"/>
            <a:r>
              <a:rPr lang="en-US" dirty="0" smtClean="0">
                <a:solidFill>
                  <a:srgbClr val="0070C0"/>
                </a:solidFill>
              </a:rPr>
              <a:t>Not Found</a:t>
            </a:r>
            <a:endParaRPr lang="en-US" dirty="0">
              <a:solidFill>
                <a:srgbClr val="0070C0"/>
              </a:solidFill>
            </a:endParaRPr>
          </a:p>
        </p:txBody>
      </p:sp>
      <p:sp>
        <p:nvSpPr>
          <p:cNvPr id="31" name="TextBox 30"/>
          <p:cNvSpPr txBox="1"/>
          <p:nvPr/>
        </p:nvSpPr>
        <p:spPr>
          <a:xfrm>
            <a:off x="3930951" y="5437721"/>
            <a:ext cx="1457325" cy="646331"/>
          </a:xfrm>
          <a:prstGeom prst="rect">
            <a:avLst/>
          </a:prstGeom>
          <a:solidFill>
            <a:schemeClr val="bg1"/>
          </a:solidFill>
        </p:spPr>
        <p:txBody>
          <a:bodyPr wrap="square" rtlCol="0">
            <a:spAutoFit/>
          </a:bodyPr>
          <a:lstStyle/>
          <a:p>
            <a:pPr algn="ctr"/>
            <a:r>
              <a:rPr lang="en-US" b="1" dirty="0" smtClean="0">
                <a:solidFill>
                  <a:srgbClr val="FF0000"/>
                </a:solidFill>
              </a:rPr>
              <a:t>L1 CACHE MISS</a:t>
            </a:r>
            <a:endParaRPr lang="en-US" b="1" dirty="0">
              <a:solidFill>
                <a:srgbClr val="FF0000"/>
              </a:solidFill>
            </a:endParaRPr>
          </a:p>
        </p:txBody>
      </p:sp>
      <p:sp>
        <p:nvSpPr>
          <p:cNvPr id="32" name="TextBox 31"/>
          <p:cNvSpPr txBox="1"/>
          <p:nvPr/>
        </p:nvSpPr>
        <p:spPr>
          <a:xfrm>
            <a:off x="5603160" y="2930264"/>
            <a:ext cx="1139586" cy="523220"/>
          </a:xfrm>
          <a:prstGeom prst="rect">
            <a:avLst/>
          </a:prstGeom>
          <a:solidFill>
            <a:schemeClr val="bg1"/>
          </a:solidFill>
        </p:spPr>
        <p:txBody>
          <a:bodyPr wrap="square" rtlCol="0">
            <a:spAutoFit/>
          </a:bodyPr>
          <a:lstStyle/>
          <a:p>
            <a:pPr algn="ctr"/>
            <a:r>
              <a:rPr lang="en-US" sz="1400" dirty="0" smtClean="0">
                <a:solidFill>
                  <a:srgbClr val="0070C0"/>
                </a:solidFill>
              </a:rPr>
              <a:t>Find data in </a:t>
            </a:r>
          </a:p>
          <a:p>
            <a:pPr algn="ctr"/>
            <a:r>
              <a:rPr lang="en-US" sz="1400" dirty="0" smtClean="0">
                <a:solidFill>
                  <a:srgbClr val="0070C0"/>
                </a:solidFill>
              </a:rPr>
              <a:t>L2 cache</a:t>
            </a:r>
            <a:endParaRPr lang="en-US" sz="1400" dirty="0">
              <a:solidFill>
                <a:srgbClr val="0070C0"/>
              </a:solidFill>
            </a:endParaRPr>
          </a:p>
        </p:txBody>
      </p:sp>
      <p:cxnSp>
        <p:nvCxnSpPr>
          <p:cNvPr id="33" name="Straight Arrow Connector 32"/>
          <p:cNvCxnSpPr/>
          <p:nvPr/>
        </p:nvCxnSpPr>
        <p:spPr>
          <a:xfrm flipV="1">
            <a:off x="5603160" y="3453484"/>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935429" y="3084152"/>
            <a:ext cx="1457325" cy="369332"/>
          </a:xfrm>
          <a:prstGeom prst="rect">
            <a:avLst/>
          </a:prstGeom>
          <a:solidFill>
            <a:schemeClr val="bg1"/>
          </a:solidFill>
        </p:spPr>
        <p:txBody>
          <a:bodyPr wrap="square" rtlCol="0">
            <a:spAutoFit/>
          </a:bodyPr>
          <a:lstStyle/>
          <a:p>
            <a:pPr algn="ctr"/>
            <a:r>
              <a:rPr lang="en-US" dirty="0" smtClean="0">
                <a:solidFill>
                  <a:srgbClr val="0070C0"/>
                </a:solidFill>
              </a:rPr>
              <a:t>Not Found</a:t>
            </a:r>
            <a:endParaRPr lang="en-US" dirty="0">
              <a:solidFill>
                <a:srgbClr val="0070C0"/>
              </a:solidFill>
            </a:endParaRPr>
          </a:p>
        </p:txBody>
      </p:sp>
      <p:sp>
        <p:nvSpPr>
          <p:cNvPr id="35" name="TextBox 34"/>
          <p:cNvSpPr txBox="1"/>
          <p:nvPr/>
        </p:nvSpPr>
        <p:spPr>
          <a:xfrm>
            <a:off x="8611008" y="2930264"/>
            <a:ext cx="1139586" cy="523220"/>
          </a:xfrm>
          <a:prstGeom prst="rect">
            <a:avLst/>
          </a:prstGeom>
          <a:solidFill>
            <a:schemeClr val="bg1"/>
          </a:solidFill>
        </p:spPr>
        <p:txBody>
          <a:bodyPr wrap="square" rtlCol="0">
            <a:spAutoFit/>
          </a:bodyPr>
          <a:lstStyle/>
          <a:p>
            <a:pPr algn="ctr"/>
            <a:r>
              <a:rPr lang="en-US" sz="1400" dirty="0" smtClean="0">
                <a:solidFill>
                  <a:srgbClr val="0070C0"/>
                </a:solidFill>
              </a:rPr>
              <a:t>Find data in </a:t>
            </a:r>
          </a:p>
          <a:p>
            <a:pPr algn="ctr"/>
            <a:r>
              <a:rPr lang="en-US" sz="1400" dirty="0" smtClean="0">
                <a:solidFill>
                  <a:srgbClr val="0070C0"/>
                </a:solidFill>
              </a:rPr>
              <a:t>memory</a:t>
            </a:r>
            <a:endParaRPr lang="en-US" sz="1400" dirty="0">
              <a:solidFill>
                <a:srgbClr val="0070C0"/>
              </a:solidFill>
            </a:endParaRPr>
          </a:p>
        </p:txBody>
      </p:sp>
      <p:cxnSp>
        <p:nvCxnSpPr>
          <p:cNvPr id="36" name="Straight Arrow Connector 35"/>
          <p:cNvCxnSpPr/>
          <p:nvPr/>
        </p:nvCxnSpPr>
        <p:spPr>
          <a:xfrm flipV="1">
            <a:off x="8611008" y="3453484"/>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853248" y="5416751"/>
            <a:ext cx="1457325" cy="646331"/>
          </a:xfrm>
          <a:prstGeom prst="rect">
            <a:avLst/>
          </a:prstGeom>
          <a:solidFill>
            <a:schemeClr val="bg1"/>
          </a:solidFill>
        </p:spPr>
        <p:txBody>
          <a:bodyPr wrap="square" rtlCol="0">
            <a:spAutoFit/>
          </a:bodyPr>
          <a:lstStyle/>
          <a:p>
            <a:pPr algn="ctr"/>
            <a:r>
              <a:rPr lang="en-US" b="1" dirty="0" smtClean="0">
                <a:solidFill>
                  <a:srgbClr val="FF0000"/>
                </a:solidFill>
              </a:rPr>
              <a:t>L2 CACHE MISS</a:t>
            </a:r>
            <a:endParaRPr lang="en-US" b="1" dirty="0">
              <a:solidFill>
                <a:srgbClr val="FF0000"/>
              </a:solidFill>
            </a:endParaRPr>
          </a:p>
        </p:txBody>
      </p:sp>
      <p:sp>
        <p:nvSpPr>
          <p:cNvPr id="40" name="TextBox 39"/>
          <p:cNvSpPr txBox="1"/>
          <p:nvPr/>
        </p:nvSpPr>
        <p:spPr>
          <a:xfrm>
            <a:off x="8656963" y="3900860"/>
            <a:ext cx="1148062"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cxnSp>
        <p:nvCxnSpPr>
          <p:cNvPr id="45" name="Straight Arrow Connector 44"/>
          <p:cNvCxnSpPr/>
          <p:nvPr/>
        </p:nvCxnSpPr>
        <p:spPr>
          <a:xfrm flipH="1">
            <a:off x="8665438" y="3891144"/>
            <a:ext cx="1146067" cy="66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584346" y="3819723"/>
            <a:ext cx="1148062"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cxnSp>
        <p:nvCxnSpPr>
          <p:cNvPr id="49" name="Straight Arrow Connector 48"/>
          <p:cNvCxnSpPr/>
          <p:nvPr/>
        </p:nvCxnSpPr>
        <p:spPr>
          <a:xfrm flipH="1">
            <a:off x="2623834" y="3816383"/>
            <a:ext cx="1146067" cy="66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609782" y="3900860"/>
            <a:ext cx="1148062"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cxnSp>
        <p:nvCxnSpPr>
          <p:cNvPr id="51" name="Straight Arrow Connector 50"/>
          <p:cNvCxnSpPr/>
          <p:nvPr/>
        </p:nvCxnSpPr>
        <p:spPr>
          <a:xfrm flipH="1">
            <a:off x="5657590" y="3891144"/>
            <a:ext cx="1106735" cy="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059270" y="3708901"/>
            <a:ext cx="1457325" cy="646331"/>
          </a:xfrm>
          <a:prstGeom prst="rect">
            <a:avLst/>
          </a:prstGeom>
          <a:solidFill>
            <a:schemeClr val="bg1"/>
          </a:solidFill>
        </p:spPr>
        <p:txBody>
          <a:bodyPr wrap="square" rtlCol="0">
            <a:spAutoFit/>
          </a:bodyPr>
          <a:lstStyle/>
          <a:p>
            <a:pPr algn="ctr"/>
            <a:r>
              <a:rPr lang="en-US" dirty="0" smtClean="0">
                <a:solidFill>
                  <a:srgbClr val="FF0000"/>
                </a:solidFill>
              </a:rPr>
              <a:t>Place 57 in</a:t>
            </a:r>
          </a:p>
          <a:p>
            <a:pPr algn="ctr"/>
            <a:r>
              <a:rPr lang="en-US" dirty="0" smtClean="0">
                <a:solidFill>
                  <a:srgbClr val="FF0000"/>
                </a:solidFill>
              </a:rPr>
              <a:t>L2 cache</a:t>
            </a:r>
            <a:endParaRPr lang="en-US" dirty="0">
              <a:solidFill>
                <a:srgbClr val="FF0000"/>
              </a:solidFill>
            </a:endParaRPr>
          </a:p>
        </p:txBody>
      </p:sp>
      <p:sp>
        <p:nvSpPr>
          <p:cNvPr id="54" name="TextBox 53"/>
          <p:cNvSpPr txBox="1"/>
          <p:nvPr/>
        </p:nvSpPr>
        <p:spPr>
          <a:xfrm>
            <a:off x="3986021" y="3708901"/>
            <a:ext cx="1457325" cy="646331"/>
          </a:xfrm>
          <a:prstGeom prst="rect">
            <a:avLst/>
          </a:prstGeom>
          <a:solidFill>
            <a:schemeClr val="bg1"/>
          </a:solidFill>
        </p:spPr>
        <p:txBody>
          <a:bodyPr wrap="square" rtlCol="0">
            <a:spAutoFit/>
          </a:bodyPr>
          <a:lstStyle/>
          <a:p>
            <a:pPr algn="ctr"/>
            <a:r>
              <a:rPr lang="en-US" dirty="0" smtClean="0">
                <a:solidFill>
                  <a:srgbClr val="FF0000"/>
                </a:solidFill>
              </a:rPr>
              <a:t>Place 57 in</a:t>
            </a:r>
          </a:p>
          <a:p>
            <a:pPr algn="ctr"/>
            <a:r>
              <a:rPr lang="en-US" dirty="0" smtClean="0">
                <a:solidFill>
                  <a:srgbClr val="FF0000"/>
                </a:solidFill>
              </a:rPr>
              <a:t>L1 cache</a:t>
            </a:r>
            <a:endParaRPr lang="en-US" dirty="0">
              <a:solidFill>
                <a:srgbClr val="FF0000"/>
              </a:solidFill>
            </a:endParaRPr>
          </a:p>
        </p:txBody>
      </p:sp>
    </p:spTree>
    <p:extLst>
      <p:ext uri="{BB962C8B-B14F-4D97-AF65-F5344CB8AC3E}">
        <p14:creationId xmlns:p14="http://schemas.microsoft.com/office/powerpoint/2010/main" val="34429390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1" grpId="0" animBg="1"/>
      <p:bldP spid="32" grpId="0" animBg="1"/>
      <p:bldP spid="34" grpId="0" animBg="1"/>
      <p:bldP spid="35" grpId="0" animBg="1"/>
      <p:bldP spid="37" grpId="0" animBg="1"/>
      <p:bldP spid="40" grpId="0" animBg="1"/>
      <p:bldP spid="48" grpId="0" animBg="1"/>
      <p:bldP spid="50" grpId="0" animBg="1"/>
      <p:bldP spid="53" grpId="0" animBg="1"/>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a:t>
            </a:r>
            <a:endParaRPr lang="en-US" dirty="0"/>
          </a:p>
        </p:txBody>
      </p:sp>
      <p:sp>
        <p:nvSpPr>
          <p:cNvPr id="4" name="Rectangle 3"/>
          <p:cNvSpPr/>
          <p:nvPr/>
        </p:nvSpPr>
        <p:spPr>
          <a:xfrm>
            <a:off x="598987" y="3084152"/>
            <a:ext cx="1924594" cy="1140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MOV AL, </a:t>
            </a:r>
            <a:r>
              <a:rPr lang="en-US" dirty="0">
                <a:solidFill>
                  <a:srgbClr val="FF0000"/>
                </a:solidFill>
              </a:rPr>
              <a:t>[08]</a:t>
            </a:r>
          </a:p>
        </p:txBody>
      </p:sp>
      <p:sp>
        <p:nvSpPr>
          <p:cNvPr id="5" name="Rectangle 4"/>
          <p:cNvSpPr/>
          <p:nvPr/>
        </p:nvSpPr>
        <p:spPr>
          <a:xfrm>
            <a:off x="3814082"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aphicFrame>
        <p:nvGraphicFramePr>
          <p:cNvPr id="8" name="Table 7"/>
          <p:cNvGraphicFramePr>
            <a:graphicFrameLocks noGrp="1"/>
          </p:cNvGraphicFramePr>
          <p:nvPr>
            <p:extLst/>
          </p:nvPr>
        </p:nvGraphicFramePr>
        <p:xfrm>
          <a:off x="10077450" y="1837507"/>
          <a:ext cx="1992630" cy="4389120"/>
        </p:xfrm>
        <a:graphic>
          <a:graphicData uri="http://schemas.openxmlformats.org/drawingml/2006/table">
            <a:tbl>
              <a:tblPr firstRow="1" bandRow="1">
                <a:tableStyleId>{D7AC3CCA-C797-4891-BE02-D94E43425B78}</a:tableStyleId>
              </a:tblPr>
              <a:tblGrid>
                <a:gridCol w="533400">
                  <a:extLst>
                    <a:ext uri="{9D8B030D-6E8A-4147-A177-3AD203B41FA5}">
                      <a16:colId xmlns="" xmlns:a16="http://schemas.microsoft.com/office/drawing/2014/main" val="1695656520"/>
                    </a:ext>
                  </a:extLst>
                </a:gridCol>
                <a:gridCol w="1459230">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47</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88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99</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21</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58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4157796138"/>
                  </a:ext>
                </a:extLst>
              </a:tr>
              <a:tr h="362494">
                <a:tc>
                  <a:txBody>
                    <a:bodyPr/>
                    <a:lstStyle/>
                    <a:p>
                      <a:r>
                        <a:rPr lang="en-US" b="1" dirty="0" smtClean="0">
                          <a:solidFill>
                            <a:srgbClr val="FF0000"/>
                          </a:solidFill>
                        </a:rPr>
                        <a:t>08</a:t>
                      </a:r>
                      <a:endParaRPr lang="en-US" b="1" dirty="0">
                        <a:solidFill>
                          <a:srgbClr val="FF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1" dirty="0" smtClean="0">
                          <a:solidFill>
                            <a:srgbClr val="FF0000"/>
                          </a:solidFill>
                        </a:rPr>
                        <a:t>57</a:t>
                      </a:r>
                      <a:endParaRPr lang="en-US" b="1" dirty="0">
                        <a:solidFill>
                          <a:srgbClr val="FF0000"/>
                        </a:solidFill>
                      </a:endParaRPr>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521264448"/>
                  </a:ext>
                </a:extLst>
              </a:tr>
              <a:tr h="362494">
                <a:tc>
                  <a:txBody>
                    <a:bodyPr/>
                    <a:lstStyle/>
                    <a:p>
                      <a:r>
                        <a:rPr lang="en-US" b="1" dirty="0" smtClean="0"/>
                        <a:t>09</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98</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903301412"/>
                  </a:ext>
                </a:extLst>
              </a:tr>
              <a:tr h="362494">
                <a:tc>
                  <a:txBody>
                    <a:bodyPr/>
                    <a:lstStyle/>
                    <a:p>
                      <a:r>
                        <a:rPr lang="en-US" b="1" dirty="0" smtClean="0"/>
                        <a:t>0A</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65</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841317120"/>
                  </a:ext>
                </a:extLst>
              </a:tr>
              <a:tr h="362494">
                <a:tc>
                  <a:txBody>
                    <a:bodyPr/>
                    <a:lstStyle/>
                    <a:p>
                      <a:r>
                        <a:rPr lang="en-US" b="1" dirty="0" smtClean="0"/>
                        <a:t>0B</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b="0" dirty="0" smtClean="0"/>
                        <a:t>22</a:t>
                      </a:r>
                      <a:endParaRPr lang="en-US" b="0"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641104444"/>
                  </a:ext>
                </a:extLst>
              </a:tr>
            </a:tbl>
          </a:graphicData>
        </a:graphic>
      </p:graphicFrame>
      <p:sp>
        <p:nvSpPr>
          <p:cNvPr id="11" name="TextBox 10"/>
          <p:cNvSpPr txBox="1"/>
          <p:nvPr/>
        </p:nvSpPr>
        <p:spPr>
          <a:xfrm>
            <a:off x="979987" y="4270192"/>
            <a:ext cx="1924594" cy="369332"/>
          </a:xfrm>
          <a:prstGeom prst="rect">
            <a:avLst/>
          </a:prstGeom>
          <a:noFill/>
        </p:spPr>
        <p:txBody>
          <a:bodyPr wrap="square" rtlCol="0">
            <a:spAutoFit/>
          </a:bodyPr>
          <a:lstStyle/>
          <a:p>
            <a:r>
              <a:rPr lang="en-US" dirty="0" smtClean="0"/>
              <a:t>Processor</a:t>
            </a:r>
            <a:endParaRPr lang="en-US" dirty="0"/>
          </a:p>
        </p:txBody>
      </p:sp>
      <p:sp>
        <p:nvSpPr>
          <p:cNvPr id="12" name="TextBox 11"/>
          <p:cNvSpPr txBox="1"/>
          <p:nvPr/>
        </p:nvSpPr>
        <p:spPr>
          <a:xfrm>
            <a:off x="4023995" y="5068389"/>
            <a:ext cx="1277678" cy="369332"/>
          </a:xfrm>
          <a:prstGeom prst="rect">
            <a:avLst/>
          </a:prstGeom>
          <a:noFill/>
        </p:spPr>
        <p:txBody>
          <a:bodyPr wrap="square" rtlCol="0">
            <a:spAutoFit/>
          </a:bodyPr>
          <a:lstStyle/>
          <a:p>
            <a:r>
              <a:rPr lang="en-US" dirty="0" smtClean="0"/>
              <a:t>L1 Cache</a:t>
            </a:r>
            <a:endParaRPr lang="en-US" dirty="0"/>
          </a:p>
        </p:txBody>
      </p:sp>
      <p:sp>
        <p:nvSpPr>
          <p:cNvPr id="13" name="TextBox 12"/>
          <p:cNvSpPr txBox="1"/>
          <p:nvPr/>
        </p:nvSpPr>
        <p:spPr>
          <a:xfrm>
            <a:off x="10770288" y="6326774"/>
            <a:ext cx="1061494" cy="369332"/>
          </a:xfrm>
          <a:prstGeom prst="rect">
            <a:avLst/>
          </a:prstGeom>
          <a:noFill/>
        </p:spPr>
        <p:txBody>
          <a:bodyPr wrap="square" rtlCol="0">
            <a:spAutoFit/>
          </a:bodyPr>
          <a:lstStyle/>
          <a:p>
            <a:r>
              <a:rPr lang="en-US" dirty="0" smtClean="0"/>
              <a:t>Memory</a:t>
            </a:r>
            <a:endParaRPr lang="en-US" dirty="0"/>
          </a:p>
        </p:txBody>
      </p:sp>
      <p:sp>
        <p:nvSpPr>
          <p:cNvPr id="26" name="Rectangle 25"/>
          <p:cNvSpPr/>
          <p:nvPr/>
        </p:nvSpPr>
        <p:spPr>
          <a:xfrm>
            <a:off x="6837589" y="2577737"/>
            <a:ext cx="1733006" cy="24906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p:cNvSpPr txBox="1"/>
          <p:nvPr/>
        </p:nvSpPr>
        <p:spPr>
          <a:xfrm>
            <a:off x="7047502" y="5068389"/>
            <a:ext cx="1277678" cy="369332"/>
          </a:xfrm>
          <a:prstGeom prst="rect">
            <a:avLst/>
          </a:prstGeom>
          <a:noFill/>
        </p:spPr>
        <p:txBody>
          <a:bodyPr wrap="square" rtlCol="0">
            <a:spAutoFit/>
          </a:bodyPr>
          <a:lstStyle/>
          <a:p>
            <a:r>
              <a:rPr lang="en-US" dirty="0" smtClean="0"/>
              <a:t>L2 Cache</a:t>
            </a:r>
            <a:endParaRPr lang="en-US" dirty="0"/>
          </a:p>
        </p:txBody>
      </p:sp>
      <p:sp>
        <p:nvSpPr>
          <p:cNvPr id="28" name="TextBox 27"/>
          <p:cNvSpPr txBox="1"/>
          <p:nvPr/>
        </p:nvSpPr>
        <p:spPr>
          <a:xfrm>
            <a:off x="2563994" y="2871457"/>
            <a:ext cx="1139586" cy="523220"/>
          </a:xfrm>
          <a:prstGeom prst="rect">
            <a:avLst/>
          </a:prstGeom>
          <a:solidFill>
            <a:schemeClr val="bg1"/>
          </a:solidFill>
        </p:spPr>
        <p:txBody>
          <a:bodyPr wrap="square" rtlCol="0">
            <a:spAutoFit/>
          </a:bodyPr>
          <a:lstStyle/>
          <a:p>
            <a:pPr algn="ctr"/>
            <a:r>
              <a:rPr lang="en-US" sz="1400" dirty="0" smtClean="0">
                <a:solidFill>
                  <a:srgbClr val="0070C0"/>
                </a:solidFill>
              </a:rPr>
              <a:t>Find data in </a:t>
            </a:r>
          </a:p>
          <a:p>
            <a:pPr algn="ctr"/>
            <a:r>
              <a:rPr lang="en-US" sz="1400" dirty="0" smtClean="0">
                <a:solidFill>
                  <a:srgbClr val="0070C0"/>
                </a:solidFill>
              </a:rPr>
              <a:t>L1 cache</a:t>
            </a:r>
            <a:endParaRPr lang="en-US" sz="1400" dirty="0">
              <a:solidFill>
                <a:srgbClr val="0070C0"/>
              </a:solidFill>
            </a:endParaRPr>
          </a:p>
        </p:txBody>
      </p:sp>
      <p:cxnSp>
        <p:nvCxnSpPr>
          <p:cNvPr id="29" name="Straight Arrow Connector 28"/>
          <p:cNvCxnSpPr/>
          <p:nvPr/>
        </p:nvCxnSpPr>
        <p:spPr>
          <a:xfrm flipV="1">
            <a:off x="2563994" y="3394677"/>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94920" y="3084152"/>
            <a:ext cx="1457325" cy="369332"/>
          </a:xfrm>
          <a:prstGeom prst="rect">
            <a:avLst/>
          </a:prstGeom>
          <a:solidFill>
            <a:schemeClr val="bg1"/>
          </a:solidFill>
        </p:spPr>
        <p:txBody>
          <a:bodyPr wrap="square" rtlCol="0">
            <a:spAutoFit/>
          </a:bodyPr>
          <a:lstStyle/>
          <a:p>
            <a:pPr algn="ctr"/>
            <a:r>
              <a:rPr lang="en-US" dirty="0" smtClean="0">
                <a:solidFill>
                  <a:srgbClr val="0070C0"/>
                </a:solidFill>
              </a:rPr>
              <a:t>Not Found</a:t>
            </a:r>
            <a:endParaRPr lang="en-US" dirty="0">
              <a:solidFill>
                <a:srgbClr val="0070C0"/>
              </a:solidFill>
            </a:endParaRPr>
          </a:p>
        </p:txBody>
      </p:sp>
      <p:sp>
        <p:nvSpPr>
          <p:cNvPr id="31" name="TextBox 30"/>
          <p:cNvSpPr txBox="1"/>
          <p:nvPr/>
        </p:nvSpPr>
        <p:spPr>
          <a:xfrm>
            <a:off x="3930951" y="5437721"/>
            <a:ext cx="1457325" cy="646331"/>
          </a:xfrm>
          <a:prstGeom prst="rect">
            <a:avLst/>
          </a:prstGeom>
          <a:solidFill>
            <a:schemeClr val="bg1"/>
          </a:solidFill>
        </p:spPr>
        <p:txBody>
          <a:bodyPr wrap="square" rtlCol="0">
            <a:spAutoFit/>
          </a:bodyPr>
          <a:lstStyle/>
          <a:p>
            <a:pPr algn="ctr"/>
            <a:r>
              <a:rPr lang="en-US" b="1" dirty="0" smtClean="0">
                <a:solidFill>
                  <a:srgbClr val="FF0000"/>
                </a:solidFill>
              </a:rPr>
              <a:t>L1 CACHE MISS</a:t>
            </a:r>
            <a:endParaRPr lang="en-US" b="1" dirty="0">
              <a:solidFill>
                <a:srgbClr val="FF0000"/>
              </a:solidFill>
            </a:endParaRPr>
          </a:p>
        </p:txBody>
      </p:sp>
      <p:sp>
        <p:nvSpPr>
          <p:cNvPr id="32" name="TextBox 31"/>
          <p:cNvSpPr txBox="1"/>
          <p:nvPr/>
        </p:nvSpPr>
        <p:spPr>
          <a:xfrm>
            <a:off x="5603160" y="2930264"/>
            <a:ext cx="1139586" cy="523220"/>
          </a:xfrm>
          <a:prstGeom prst="rect">
            <a:avLst/>
          </a:prstGeom>
          <a:solidFill>
            <a:schemeClr val="bg1"/>
          </a:solidFill>
        </p:spPr>
        <p:txBody>
          <a:bodyPr wrap="square" rtlCol="0">
            <a:spAutoFit/>
          </a:bodyPr>
          <a:lstStyle/>
          <a:p>
            <a:pPr algn="ctr"/>
            <a:r>
              <a:rPr lang="en-US" sz="1400" dirty="0" smtClean="0">
                <a:solidFill>
                  <a:srgbClr val="0070C0"/>
                </a:solidFill>
              </a:rPr>
              <a:t>Find data in </a:t>
            </a:r>
          </a:p>
          <a:p>
            <a:pPr algn="ctr"/>
            <a:r>
              <a:rPr lang="en-US" sz="1400" dirty="0" smtClean="0">
                <a:solidFill>
                  <a:srgbClr val="0070C0"/>
                </a:solidFill>
              </a:rPr>
              <a:t>L2 cache</a:t>
            </a:r>
            <a:endParaRPr lang="en-US" sz="1400" dirty="0">
              <a:solidFill>
                <a:srgbClr val="0070C0"/>
              </a:solidFill>
            </a:endParaRPr>
          </a:p>
        </p:txBody>
      </p:sp>
      <p:cxnSp>
        <p:nvCxnSpPr>
          <p:cNvPr id="33" name="Straight Arrow Connector 32"/>
          <p:cNvCxnSpPr/>
          <p:nvPr/>
        </p:nvCxnSpPr>
        <p:spPr>
          <a:xfrm flipV="1">
            <a:off x="5603160" y="3453484"/>
            <a:ext cx="1250088" cy="3036"/>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935429" y="3084152"/>
            <a:ext cx="1457325" cy="369332"/>
          </a:xfrm>
          <a:prstGeom prst="rect">
            <a:avLst/>
          </a:prstGeom>
          <a:solidFill>
            <a:schemeClr val="bg1"/>
          </a:solidFill>
        </p:spPr>
        <p:txBody>
          <a:bodyPr wrap="square" rtlCol="0">
            <a:spAutoFit/>
          </a:bodyPr>
          <a:lstStyle/>
          <a:p>
            <a:pPr algn="ctr"/>
            <a:r>
              <a:rPr lang="en-US" dirty="0" smtClean="0">
                <a:solidFill>
                  <a:srgbClr val="0070C0"/>
                </a:solidFill>
              </a:rPr>
              <a:t>Found</a:t>
            </a:r>
            <a:endParaRPr lang="en-US" dirty="0">
              <a:solidFill>
                <a:srgbClr val="0070C0"/>
              </a:solidFill>
            </a:endParaRPr>
          </a:p>
        </p:txBody>
      </p:sp>
      <p:sp>
        <p:nvSpPr>
          <p:cNvPr id="37" name="TextBox 36"/>
          <p:cNvSpPr txBox="1"/>
          <p:nvPr/>
        </p:nvSpPr>
        <p:spPr>
          <a:xfrm>
            <a:off x="6853248" y="5416751"/>
            <a:ext cx="1457325" cy="369332"/>
          </a:xfrm>
          <a:prstGeom prst="rect">
            <a:avLst/>
          </a:prstGeom>
          <a:solidFill>
            <a:schemeClr val="bg1"/>
          </a:solidFill>
        </p:spPr>
        <p:txBody>
          <a:bodyPr wrap="square" rtlCol="0">
            <a:spAutoFit/>
          </a:bodyPr>
          <a:lstStyle/>
          <a:p>
            <a:pPr algn="ctr"/>
            <a:r>
              <a:rPr lang="en-US" b="1" dirty="0" smtClean="0">
                <a:solidFill>
                  <a:srgbClr val="FF0000"/>
                </a:solidFill>
              </a:rPr>
              <a:t>L2 CACHE HIT</a:t>
            </a:r>
            <a:endParaRPr lang="en-US" b="1" dirty="0">
              <a:solidFill>
                <a:srgbClr val="FF0000"/>
              </a:solidFill>
            </a:endParaRPr>
          </a:p>
        </p:txBody>
      </p:sp>
      <p:sp>
        <p:nvSpPr>
          <p:cNvPr id="48" name="TextBox 47"/>
          <p:cNvSpPr txBox="1"/>
          <p:nvPr/>
        </p:nvSpPr>
        <p:spPr>
          <a:xfrm>
            <a:off x="2584346" y="3819723"/>
            <a:ext cx="1148062"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cxnSp>
        <p:nvCxnSpPr>
          <p:cNvPr id="49" name="Straight Arrow Connector 48"/>
          <p:cNvCxnSpPr/>
          <p:nvPr/>
        </p:nvCxnSpPr>
        <p:spPr>
          <a:xfrm flipH="1">
            <a:off x="2623834" y="3816383"/>
            <a:ext cx="1146067" cy="668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609782" y="3900860"/>
            <a:ext cx="1148062" cy="369332"/>
          </a:xfrm>
          <a:prstGeom prst="rect">
            <a:avLst/>
          </a:prstGeom>
          <a:solidFill>
            <a:schemeClr val="bg1"/>
          </a:solidFill>
        </p:spPr>
        <p:txBody>
          <a:bodyPr wrap="square" rtlCol="0">
            <a:spAutoFit/>
          </a:bodyPr>
          <a:lstStyle/>
          <a:p>
            <a:pPr algn="ctr"/>
            <a:r>
              <a:rPr lang="en-US" b="1" dirty="0" smtClean="0">
                <a:solidFill>
                  <a:srgbClr val="FF0000"/>
                </a:solidFill>
              </a:rPr>
              <a:t>57</a:t>
            </a:r>
            <a:endParaRPr lang="en-US" b="1" dirty="0">
              <a:solidFill>
                <a:srgbClr val="FF0000"/>
              </a:solidFill>
            </a:endParaRPr>
          </a:p>
        </p:txBody>
      </p:sp>
      <p:cxnSp>
        <p:nvCxnSpPr>
          <p:cNvPr id="51" name="Straight Arrow Connector 50"/>
          <p:cNvCxnSpPr/>
          <p:nvPr/>
        </p:nvCxnSpPr>
        <p:spPr>
          <a:xfrm flipH="1">
            <a:off x="5657590" y="3891144"/>
            <a:ext cx="1106735" cy="0"/>
          </a:xfrm>
          <a:prstGeom prst="straightConnector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059270" y="3708901"/>
            <a:ext cx="1457325" cy="646331"/>
          </a:xfrm>
          <a:prstGeom prst="rect">
            <a:avLst/>
          </a:prstGeom>
          <a:solidFill>
            <a:schemeClr val="bg1"/>
          </a:solidFill>
        </p:spPr>
        <p:txBody>
          <a:bodyPr wrap="square" rtlCol="0">
            <a:spAutoFit/>
          </a:bodyPr>
          <a:lstStyle/>
          <a:p>
            <a:pPr algn="ctr"/>
            <a:r>
              <a:rPr lang="en-US" dirty="0" smtClean="0">
                <a:solidFill>
                  <a:srgbClr val="FF0000"/>
                </a:solidFill>
              </a:rPr>
              <a:t>Data 57 in</a:t>
            </a:r>
          </a:p>
          <a:p>
            <a:pPr algn="ctr"/>
            <a:r>
              <a:rPr lang="en-US" dirty="0" smtClean="0">
                <a:solidFill>
                  <a:srgbClr val="FF0000"/>
                </a:solidFill>
              </a:rPr>
              <a:t>L2 cache</a:t>
            </a:r>
            <a:endParaRPr lang="en-US" dirty="0">
              <a:solidFill>
                <a:srgbClr val="FF0000"/>
              </a:solidFill>
            </a:endParaRPr>
          </a:p>
        </p:txBody>
      </p:sp>
      <p:sp>
        <p:nvSpPr>
          <p:cNvPr id="54" name="TextBox 53"/>
          <p:cNvSpPr txBox="1"/>
          <p:nvPr/>
        </p:nvSpPr>
        <p:spPr>
          <a:xfrm>
            <a:off x="3986021" y="3708901"/>
            <a:ext cx="1457325" cy="646331"/>
          </a:xfrm>
          <a:prstGeom prst="rect">
            <a:avLst/>
          </a:prstGeom>
          <a:solidFill>
            <a:schemeClr val="bg1"/>
          </a:solidFill>
        </p:spPr>
        <p:txBody>
          <a:bodyPr wrap="square" rtlCol="0">
            <a:spAutoFit/>
          </a:bodyPr>
          <a:lstStyle/>
          <a:p>
            <a:pPr algn="ctr"/>
            <a:r>
              <a:rPr lang="en-US" dirty="0" smtClean="0">
                <a:solidFill>
                  <a:srgbClr val="FF0000"/>
                </a:solidFill>
              </a:rPr>
              <a:t>Place 57 in</a:t>
            </a:r>
          </a:p>
          <a:p>
            <a:pPr algn="ctr"/>
            <a:r>
              <a:rPr lang="en-US" dirty="0" smtClean="0">
                <a:solidFill>
                  <a:srgbClr val="FF0000"/>
                </a:solidFill>
              </a:rPr>
              <a:t>L1 cache</a:t>
            </a:r>
            <a:endParaRPr lang="en-US" dirty="0">
              <a:solidFill>
                <a:srgbClr val="FF0000"/>
              </a:solidFill>
            </a:endParaRPr>
          </a:p>
        </p:txBody>
      </p:sp>
    </p:spTree>
    <p:extLst>
      <p:ext uri="{BB962C8B-B14F-4D97-AF65-F5344CB8AC3E}">
        <p14:creationId xmlns:p14="http://schemas.microsoft.com/office/powerpoint/2010/main" val="18960809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1" grpId="0" animBg="1"/>
      <p:bldP spid="32" grpId="0" animBg="1"/>
      <p:bldP spid="34" grpId="0" animBg="1"/>
      <p:bldP spid="37" grpId="0" animBg="1"/>
      <p:bldP spid="48" grpId="0" animBg="1"/>
      <p:bldP spid="50" grpId="0" animBg="1"/>
      <p:bldP spid="54"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Locality</a:t>
            </a:r>
            <a:endParaRPr lang="en-US" dirty="0"/>
          </a:p>
        </p:txBody>
      </p:sp>
      <p:sp>
        <p:nvSpPr>
          <p:cNvPr id="3" name="Content Placeholder 2"/>
          <p:cNvSpPr>
            <a:spLocks noGrp="1"/>
          </p:cNvSpPr>
          <p:nvPr>
            <p:ph idx="1"/>
          </p:nvPr>
        </p:nvSpPr>
        <p:spPr/>
        <p:txBody>
          <a:bodyPr>
            <a:normAutofit/>
          </a:bodyPr>
          <a:lstStyle/>
          <a:p>
            <a:pPr>
              <a:spcBef>
                <a:spcPts val="0"/>
              </a:spcBef>
            </a:pPr>
            <a:r>
              <a:rPr lang="en-US" b="1" dirty="0" smtClean="0">
                <a:solidFill>
                  <a:srgbClr val="0070C0"/>
                </a:solidFill>
              </a:rPr>
              <a:t>Temporal </a:t>
            </a:r>
            <a:r>
              <a:rPr lang="en-US" b="1" dirty="0">
                <a:solidFill>
                  <a:srgbClr val="0070C0"/>
                </a:solidFill>
              </a:rPr>
              <a:t>Locality:</a:t>
            </a:r>
            <a:r>
              <a:rPr lang="en-US" dirty="0">
                <a:solidFill>
                  <a:srgbClr val="0070C0"/>
                </a:solidFill>
              </a:rPr>
              <a:t> </a:t>
            </a:r>
          </a:p>
          <a:p>
            <a:pPr lvl="1">
              <a:spcBef>
                <a:spcPts val="0"/>
              </a:spcBef>
            </a:pPr>
            <a:r>
              <a:rPr lang="en-US" sz="2600" dirty="0"/>
              <a:t>Locality in time</a:t>
            </a:r>
          </a:p>
          <a:p>
            <a:pPr lvl="1">
              <a:spcBef>
                <a:spcPts val="0"/>
              </a:spcBef>
            </a:pPr>
            <a:r>
              <a:rPr lang="en-US" sz="2600" dirty="0"/>
              <a:t>If data used recently, likely to use it again soon</a:t>
            </a:r>
          </a:p>
          <a:p>
            <a:pPr lvl="1">
              <a:spcBef>
                <a:spcPts val="0"/>
              </a:spcBef>
            </a:pPr>
            <a:r>
              <a:rPr lang="en-US" sz="2600" b="1" dirty="0"/>
              <a:t>How to exploit:</a:t>
            </a:r>
            <a:r>
              <a:rPr lang="en-US" sz="2600" dirty="0"/>
              <a:t> keep recently accessed data in higher levels of memory </a:t>
            </a:r>
            <a:r>
              <a:rPr lang="en-US" sz="2600" dirty="0" smtClean="0"/>
              <a:t>hierarchy</a:t>
            </a:r>
            <a:endParaRPr lang="en-US" sz="2600" dirty="0"/>
          </a:p>
          <a:p>
            <a:pPr>
              <a:spcBef>
                <a:spcPts val="0"/>
              </a:spcBef>
            </a:pPr>
            <a:r>
              <a:rPr lang="en-US" b="1" dirty="0">
                <a:solidFill>
                  <a:srgbClr val="0070C0"/>
                </a:solidFill>
              </a:rPr>
              <a:t>Spatial Locality:</a:t>
            </a:r>
            <a:r>
              <a:rPr lang="en-US" dirty="0">
                <a:solidFill>
                  <a:srgbClr val="0070C0"/>
                </a:solidFill>
              </a:rPr>
              <a:t> </a:t>
            </a:r>
          </a:p>
          <a:p>
            <a:pPr lvl="1">
              <a:spcBef>
                <a:spcPts val="0"/>
              </a:spcBef>
            </a:pPr>
            <a:r>
              <a:rPr lang="en-US" sz="2600" dirty="0"/>
              <a:t>Locality in space</a:t>
            </a:r>
          </a:p>
          <a:p>
            <a:pPr lvl="1">
              <a:spcBef>
                <a:spcPts val="0"/>
              </a:spcBef>
            </a:pPr>
            <a:r>
              <a:rPr lang="en-US" sz="2600" dirty="0"/>
              <a:t>If data used recently, likely to use nearby data soon</a:t>
            </a:r>
          </a:p>
          <a:p>
            <a:pPr lvl="1">
              <a:spcBef>
                <a:spcPts val="0"/>
              </a:spcBef>
            </a:pPr>
            <a:r>
              <a:rPr lang="en-US" sz="2600" b="1" dirty="0"/>
              <a:t>How to exploit:</a:t>
            </a:r>
            <a:r>
              <a:rPr lang="en-US" sz="2600" dirty="0"/>
              <a:t> when access data, bring nearby data into higher levels of memory hierarchy </a:t>
            </a:r>
            <a:r>
              <a:rPr lang="en-US" sz="2600" dirty="0" smtClean="0"/>
              <a:t>too</a:t>
            </a:r>
            <a:endParaRPr lang="en-US" sz="2600" dirty="0"/>
          </a:p>
        </p:txBody>
      </p:sp>
    </p:spTree>
    <p:extLst>
      <p:ext uri="{BB962C8B-B14F-4D97-AF65-F5344CB8AC3E}">
        <p14:creationId xmlns:p14="http://schemas.microsoft.com/office/powerpoint/2010/main" val="10822189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Locality</a:t>
            </a:r>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sz="half" idx="4294967295"/>
              </p:nvPr>
            </p:nvSpPr>
            <p:spPr>
              <a:xfrm>
                <a:off x="1187767" y="1935163"/>
                <a:ext cx="9967913" cy="3378200"/>
              </a:xfrm>
            </p:spPr>
            <p:txBody>
              <a:bodyPr>
                <a:normAutofit/>
              </a:bodyPr>
              <a:lstStyle/>
              <a:p>
                <a14:m>
                  <m:oMath xmlns:m="http://schemas.openxmlformats.org/officeDocument/2006/math">
                    <m:r>
                      <a:rPr lang="en-US" b="0" i="1" smtClean="0">
                        <a:latin typeface="Cambria Math" panose="02040503050406030204" pitchFamily="18" charset="0"/>
                      </a:rPr>
                      <m:t>𝑓𝑜𝑟</m:t>
                    </m:r>
                    <m:r>
                      <a:rPr lang="en-US" b="0" i="1" smtClean="0">
                        <a:latin typeface="Cambria Math" panose="02040503050406030204" pitchFamily="18" charset="0"/>
                      </a:rPr>
                      <m:t> </m:t>
                    </m:r>
                    <m:d>
                      <m:dPr>
                        <m:ctrlPr>
                          <a:rPr lang="en-US" b="0" i="1" smtClean="0">
                            <a:latin typeface="Cambria Math"/>
                          </a:rPr>
                        </m:ctrlPr>
                      </m:dPr>
                      <m:e>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=0;</m:t>
                        </m:r>
                        <m:r>
                          <a:rPr lang="en-US" b="0" i="1" smtClean="0">
                            <a:latin typeface="Cambria Math" panose="02040503050406030204" pitchFamily="18" charset="0"/>
                          </a:rPr>
                          <m:t>𝑖</m:t>
                        </m:r>
                        <m:r>
                          <a:rPr lang="en-US" b="0" i="1" smtClean="0">
                            <a:latin typeface="Cambria Math" panose="02040503050406030204" pitchFamily="18" charset="0"/>
                          </a:rPr>
                          <m:t>&lt;10000;</m:t>
                        </m:r>
                        <m:r>
                          <a:rPr lang="en-US" b="0" i="1" smtClean="0">
                            <a:latin typeface="Cambria Math" panose="02040503050406030204" pitchFamily="18" charset="0"/>
                          </a:rPr>
                          <m:t>𝑖</m:t>
                        </m:r>
                        <m:r>
                          <a:rPr lang="en-US" b="0" i="1" smtClean="0">
                            <a:latin typeface="Cambria Math" panose="02040503050406030204" pitchFamily="18" charset="0"/>
                          </a:rPr>
                          <m:t>++</m:t>
                        </m:r>
                      </m:e>
                    </m:d>
                  </m:oMath>
                </a14:m>
                <a:endParaRPr lang="en-US" b="0" i="1" dirty="0" smtClean="0">
                  <a:latin typeface="Cambria Math" panose="02040503050406030204" pitchFamily="18" charset="0"/>
                </a:endParaRPr>
              </a:p>
              <a:p>
                <a:r>
                  <a:rPr lang="en-US" b="0" dirty="0" smtClean="0"/>
                  <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𝑎</m:t>
                    </m:r>
                  </m:oMath>
                </a14:m>
                <a:endParaRPr lang="en-US" dirty="0" smtClean="0"/>
              </a:p>
              <a:p>
                <a:endParaRPr lang="en-US" dirty="0"/>
              </a:p>
              <a:p>
                <a:pPr marL="0" indent="0">
                  <a:spcBef>
                    <a:spcPts val="0"/>
                  </a:spcBef>
                  <a:buNone/>
                </a:pPr>
                <a:r>
                  <a:rPr lang="en-US" b="1" dirty="0" smtClean="0">
                    <a:solidFill>
                      <a:srgbClr val="0070C0"/>
                    </a:solidFill>
                  </a:rPr>
                  <a:t> Temporal </a:t>
                </a:r>
                <a:r>
                  <a:rPr lang="en-US" b="1" dirty="0">
                    <a:solidFill>
                      <a:srgbClr val="0070C0"/>
                    </a:solidFill>
                  </a:rPr>
                  <a:t>Locality:</a:t>
                </a:r>
                <a:r>
                  <a:rPr lang="en-US" dirty="0">
                    <a:solidFill>
                      <a:srgbClr val="0070C0"/>
                    </a:solidFill>
                  </a:rPr>
                  <a:t> </a:t>
                </a:r>
                <a:endParaRPr lang="en-US" dirty="0" smtClean="0">
                  <a:solidFill>
                    <a:srgbClr val="0070C0"/>
                  </a:solidFill>
                </a:endParaRPr>
              </a:p>
              <a:p>
                <a:pPr marL="182880" lvl="2" indent="0">
                  <a:spcBef>
                    <a:spcPts val="0"/>
                  </a:spcBef>
                  <a:spcAft>
                    <a:spcPts val="200"/>
                  </a:spcAft>
                  <a:buSzPct val="100000"/>
                  <a:buNone/>
                </a:pPr>
                <a:r>
                  <a:rPr lang="en-US" sz="2200" i="1" dirty="0"/>
                  <a:t>If data used recently, likely to use it again </a:t>
                </a:r>
                <a:r>
                  <a:rPr lang="en-US" sz="2200" i="1" dirty="0" smtClean="0"/>
                  <a:t>soon </a:t>
                </a:r>
                <a:r>
                  <a:rPr lang="en-US" sz="2200" b="1" i="1" dirty="0" smtClean="0"/>
                  <a:t>“</a:t>
                </a:r>
                <a:r>
                  <a:rPr lang="en-US" sz="2200" i="1" dirty="0" smtClean="0"/>
                  <a:t>Variables</a:t>
                </a:r>
                <a:r>
                  <a:rPr lang="en-US" sz="2200" b="1" i="1" dirty="0" smtClean="0"/>
                  <a:t> </a:t>
                </a:r>
                <a:r>
                  <a:rPr lang="en-US" sz="2200" b="1" i="1" dirty="0" err="1" smtClean="0"/>
                  <a:t>i</a:t>
                </a:r>
                <a:r>
                  <a:rPr lang="en-US" sz="2200" b="1" i="1" dirty="0" smtClean="0"/>
                  <a:t> </a:t>
                </a:r>
                <a:r>
                  <a:rPr lang="en-US" sz="2200" i="1" dirty="0" smtClean="0"/>
                  <a:t>and</a:t>
                </a:r>
                <a:r>
                  <a:rPr lang="en-US" sz="2200" b="1" i="1" dirty="0" smtClean="0"/>
                  <a:t> a”</a:t>
                </a:r>
              </a:p>
              <a:p>
                <a:pPr marL="182880" lvl="2" indent="0">
                  <a:spcBef>
                    <a:spcPts val="0"/>
                  </a:spcBef>
                  <a:spcAft>
                    <a:spcPts val="200"/>
                  </a:spcAft>
                  <a:buSzPct val="100000"/>
                  <a:buNone/>
                </a:pPr>
                <a:endParaRPr lang="en-US" dirty="0">
                  <a:solidFill>
                    <a:srgbClr val="0070C0"/>
                  </a:solidFill>
                </a:endParaRPr>
              </a:p>
              <a:p>
                <a:pPr marL="0" indent="0">
                  <a:spcBef>
                    <a:spcPts val="0"/>
                  </a:spcBef>
                  <a:buNone/>
                </a:pPr>
                <a:r>
                  <a:rPr lang="en-US" b="1" dirty="0" smtClean="0">
                    <a:solidFill>
                      <a:srgbClr val="0070C0"/>
                    </a:solidFill>
                  </a:rPr>
                  <a:t> Spatial </a:t>
                </a:r>
                <a:r>
                  <a:rPr lang="en-US" b="1" dirty="0">
                    <a:solidFill>
                      <a:srgbClr val="0070C0"/>
                    </a:solidFill>
                  </a:rPr>
                  <a:t>Locality:</a:t>
                </a:r>
                <a:r>
                  <a:rPr lang="en-US" dirty="0">
                    <a:solidFill>
                      <a:srgbClr val="0070C0"/>
                    </a:solidFill>
                  </a:rPr>
                  <a:t> </a:t>
                </a:r>
              </a:p>
              <a:p>
                <a:pPr marL="182880" lvl="2" indent="0">
                  <a:spcBef>
                    <a:spcPts val="1200"/>
                  </a:spcBef>
                  <a:spcAft>
                    <a:spcPts val="200"/>
                  </a:spcAft>
                  <a:buSzPct val="100000"/>
                  <a:buNone/>
                </a:pPr>
                <a:r>
                  <a:rPr lang="en-US" sz="2200" i="1" dirty="0"/>
                  <a:t>If data used recently, likely to use nearby data </a:t>
                </a:r>
                <a:r>
                  <a:rPr lang="en-US" sz="2200" i="1" dirty="0" smtClean="0"/>
                  <a:t>soon “Array </a:t>
                </a:r>
                <a:r>
                  <a:rPr lang="en-US" sz="2200" b="1" i="1" dirty="0" smtClean="0"/>
                  <a:t>A</a:t>
                </a:r>
                <a:r>
                  <a:rPr lang="en-US" sz="2200" i="1" dirty="0" smtClean="0"/>
                  <a:t>”</a:t>
                </a:r>
                <a:endParaRPr lang="en-US" sz="2200" i="1" dirty="0"/>
              </a:p>
              <a:p>
                <a:endParaRPr lang="en-US" dirty="0"/>
              </a:p>
            </p:txBody>
          </p:sp>
        </mc:Choice>
        <mc:Fallback xmlns="">
          <p:sp>
            <p:nvSpPr>
              <p:cNvPr id="6" name="Content Placeholder 5"/>
              <p:cNvSpPr>
                <a:spLocks noGrp="1" noRot="1" noChangeAspect="1" noMove="1" noResize="1" noEditPoints="1" noAdjustHandles="1" noChangeArrowheads="1" noChangeShapeType="1" noTextEdit="1"/>
              </p:cNvSpPr>
              <p:nvPr>
                <p:ph sz="half" idx="4294967295"/>
              </p:nvPr>
            </p:nvSpPr>
            <p:spPr>
              <a:xfrm>
                <a:off x="1187767" y="1935163"/>
                <a:ext cx="9967913" cy="3378200"/>
              </a:xfrm>
              <a:blipFill>
                <a:blip r:embed="rId2"/>
                <a:stretch>
                  <a:fillRect l="-1590" t="-1802"/>
                </a:stretch>
              </a:blipFill>
            </p:spPr>
            <p:txBody>
              <a:bodyPr/>
              <a:lstStyle/>
              <a:p>
                <a:r>
                  <a:rPr lang="en-US">
                    <a:noFill/>
                  </a:rPr>
                  <a:t> </a:t>
                </a:r>
              </a:p>
            </p:txBody>
          </p:sp>
        </mc:Fallback>
      </mc:AlternateContent>
    </p:spTree>
    <p:extLst>
      <p:ext uri="{BB962C8B-B14F-4D97-AF65-F5344CB8AC3E}">
        <p14:creationId xmlns:p14="http://schemas.microsoft.com/office/powerpoint/2010/main" val="32798344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data is held in cache?</a:t>
            </a:r>
            <a:endParaRPr lang="en-US" dirty="0"/>
          </a:p>
        </p:txBody>
      </p:sp>
      <p:sp>
        <p:nvSpPr>
          <p:cNvPr id="4" name="Content Placeholder 3"/>
          <p:cNvSpPr>
            <a:spLocks noGrp="1"/>
          </p:cNvSpPr>
          <p:nvPr>
            <p:ph idx="1"/>
          </p:nvPr>
        </p:nvSpPr>
        <p:spPr/>
        <p:txBody>
          <a:bodyPr/>
          <a:lstStyle/>
          <a:p>
            <a:r>
              <a:rPr lang="en-US" dirty="0"/>
              <a:t>Ideally, cache anticipates needed data and puts it in cache</a:t>
            </a:r>
          </a:p>
          <a:p>
            <a:r>
              <a:rPr lang="en-US" dirty="0"/>
              <a:t>But impossible to predict future</a:t>
            </a:r>
          </a:p>
          <a:p>
            <a:r>
              <a:rPr lang="en-US" dirty="0"/>
              <a:t>Use past to predict future – temporal and spatial locality:</a:t>
            </a:r>
          </a:p>
          <a:p>
            <a:pPr lvl="1"/>
            <a:r>
              <a:rPr lang="en-US" b="1" dirty="0">
                <a:solidFill>
                  <a:srgbClr val="0070C0"/>
                </a:solidFill>
              </a:rPr>
              <a:t>Temporal locality:</a:t>
            </a:r>
            <a:r>
              <a:rPr lang="en-US" dirty="0"/>
              <a:t> copy newly accessed data into cache</a:t>
            </a:r>
          </a:p>
          <a:p>
            <a:pPr lvl="1"/>
            <a:r>
              <a:rPr lang="en-US" b="1" dirty="0">
                <a:solidFill>
                  <a:srgbClr val="0070C0"/>
                </a:solidFill>
              </a:rPr>
              <a:t>Spatial locality:</a:t>
            </a:r>
            <a:r>
              <a:rPr lang="en-US" dirty="0">
                <a:solidFill>
                  <a:srgbClr val="0070C0"/>
                </a:solidFill>
              </a:rPr>
              <a:t> </a:t>
            </a:r>
            <a:r>
              <a:rPr lang="en-US" dirty="0"/>
              <a:t>copy neighboring data into cache too</a:t>
            </a:r>
          </a:p>
          <a:p>
            <a:endParaRPr lang="en-US" dirty="0"/>
          </a:p>
        </p:txBody>
      </p:sp>
    </p:spTree>
    <p:extLst>
      <p:ext uri="{BB962C8B-B14F-4D97-AF65-F5344CB8AC3E}">
        <p14:creationId xmlns:p14="http://schemas.microsoft.com/office/powerpoint/2010/main" val="7652612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Performance Analysis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𝑀𝑖𝑠𝑠</m:t>
                      </m:r>
                      <m:r>
                        <a:rPr lang="en-US" b="0" i="1" smtClean="0">
                          <a:latin typeface="Cambria Math" panose="02040503050406030204" pitchFamily="18" charset="0"/>
                        </a:rPr>
                        <m:t> </m:t>
                      </m:r>
                      <m:r>
                        <a:rPr lang="en-US" b="0" i="1" smtClean="0">
                          <a:latin typeface="Cambria Math" panose="02040503050406030204" pitchFamily="18" charset="0"/>
                        </a:rPr>
                        <m:t>𝑅𝑎𝑡𝑒</m:t>
                      </m:r>
                      <m:r>
                        <a:rPr lang="en-US" i="1" smtClean="0">
                          <a:latin typeface="Cambria Math" panose="02040503050406030204" pitchFamily="18" charset="0"/>
                        </a:rPr>
                        <m:t>=</m:t>
                      </m:r>
                      <m:f>
                        <m:fPr>
                          <m:ctrlPr>
                            <a:rPr lang="en-US" i="1" smtClean="0">
                              <a:latin typeface="Cambria Math"/>
                            </a:rPr>
                          </m:ctrlPr>
                        </m:fPr>
                        <m:num>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𝑚𝑖𝑠𝑠𝑒𝑠</m:t>
                          </m:r>
                        </m:num>
                        <m:den>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𝑡𝑜𝑡𝑎𝑙</m:t>
                          </m:r>
                          <m:r>
                            <a:rPr lang="en-US" b="0" i="1" smtClean="0">
                              <a:latin typeface="Cambria Math" panose="02040503050406030204" pitchFamily="18" charset="0"/>
                            </a:rPr>
                            <m:t> </m:t>
                          </m:r>
                          <m:r>
                            <a:rPr lang="en-US" b="0" i="1" smtClean="0">
                              <a:latin typeface="Cambria Math" panose="02040503050406030204" pitchFamily="18" charset="0"/>
                            </a:rPr>
                            <m:t>𝑚𝑒𝑚𝑜𝑟𝑦</m:t>
                          </m:r>
                          <m:r>
                            <a:rPr lang="en-US" b="0" i="1" smtClean="0">
                              <a:latin typeface="Cambria Math" panose="02040503050406030204" pitchFamily="18" charset="0"/>
                            </a:rPr>
                            <m:t> </m:t>
                          </m:r>
                          <m:r>
                            <a:rPr lang="en-US" b="0" i="1" smtClean="0">
                              <a:latin typeface="Cambria Math" panose="02040503050406030204" pitchFamily="18" charset="0"/>
                            </a:rPr>
                            <m:t>𝐴𝑐𝑐𝑒𝑠𝑠𝑒𝑠</m:t>
                          </m:r>
                        </m:den>
                      </m:f>
                      <m:r>
                        <a:rPr lang="en-US" b="0" i="1" smtClean="0">
                          <a:latin typeface="Cambria Math" panose="02040503050406030204" pitchFamily="18" charset="0"/>
                        </a:rPr>
                        <m:t>=1 −</m:t>
                      </m:r>
                      <m:r>
                        <a:rPr lang="en-US" b="0" i="1" smtClean="0">
                          <a:latin typeface="Cambria Math" panose="02040503050406030204" pitchFamily="18" charset="0"/>
                        </a:rPr>
                        <m:t>𝐻𝑖𝑡</m:t>
                      </m:r>
                      <m:r>
                        <a:rPr lang="en-US" b="0" i="1" smtClean="0">
                          <a:latin typeface="Cambria Math" panose="02040503050406030204" pitchFamily="18" charset="0"/>
                        </a:rPr>
                        <m:t> </m:t>
                      </m:r>
                      <m:r>
                        <a:rPr lang="en-US" b="0" i="1" smtClean="0">
                          <a:latin typeface="Cambria Math" panose="02040503050406030204" pitchFamily="18" charset="0"/>
                        </a:rPr>
                        <m:t>𝑅𝑎𝑡𝑒</m:t>
                      </m:r>
                    </m:oMath>
                  </m:oMathPara>
                </a14:m>
                <a:endParaRPr lang="en-US" i="1" dirty="0" smtClean="0">
                  <a:latin typeface="Cambria Math" panose="02040503050406030204" pitchFamily="18" charset="0"/>
                </a:endParaRPr>
              </a:p>
              <a:p>
                <a:pPr marL="0" indent="0">
                  <a:buNone/>
                </a:pPr>
                <a:endParaRPr lang="en-US"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 </m:t>
                      </m:r>
                      <m:r>
                        <a:rPr lang="en-US" b="0" i="1" smtClean="0">
                          <a:latin typeface="Cambria Math" panose="02040503050406030204" pitchFamily="18" charset="0"/>
                        </a:rPr>
                        <m:t>𝐻𝑖𝑡</m:t>
                      </m:r>
                      <m:r>
                        <a:rPr lang="en-US" b="0" i="1" smtClean="0">
                          <a:latin typeface="Cambria Math" panose="02040503050406030204" pitchFamily="18" charset="0"/>
                        </a:rPr>
                        <m:t> </m:t>
                      </m:r>
                      <m:r>
                        <a:rPr lang="en-US" i="1">
                          <a:latin typeface="Cambria Math" panose="02040503050406030204" pitchFamily="18" charset="0"/>
                        </a:rPr>
                        <m:t>𝑅𝑎𝑡𝑒</m:t>
                      </m:r>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b="0" i="1" smtClean="0">
                              <a:latin typeface="Cambria Math" panose="02040503050406030204" pitchFamily="18" charset="0"/>
                            </a:rPr>
                            <m:t>h𝑖𝑡𝑠</m:t>
                          </m:r>
                        </m:num>
                        <m:den>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𝑡𝑜𝑡𝑎𝑙</m:t>
                          </m:r>
                          <m:r>
                            <a:rPr lang="en-US" i="1">
                              <a:latin typeface="Cambria Math" panose="02040503050406030204" pitchFamily="18" charset="0"/>
                            </a:rPr>
                            <m:t> </m:t>
                          </m:r>
                          <m:r>
                            <a:rPr lang="en-US" i="1">
                              <a:latin typeface="Cambria Math" panose="02040503050406030204" pitchFamily="18" charset="0"/>
                            </a:rPr>
                            <m:t>𝑚𝑒𝑚𝑜𝑟𝑦</m:t>
                          </m:r>
                          <m:r>
                            <a:rPr lang="en-US" i="1">
                              <a:latin typeface="Cambria Math" panose="02040503050406030204" pitchFamily="18" charset="0"/>
                            </a:rPr>
                            <m:t> </m:t>
                          </m:r>
                          <m:r>
                            <a:rPr lang="en-US" i="1">
                              <a:latin typeface="Cambria Math" panose="02040503050406030204" pitchFamily="18" charset="0"/>
                            </a:rPr>
                            <m:t>𝐴𝑐𝑐𝑒𝑠𝑠𝑒𝑠</m:t>
                          </m:r>
                        </m:den>
                      </m:f>
                      <m:r>
                        <a:rPr lang="en-US" i="1">
                          <a:latin typeface="Cambria Math" panose="02040503050406030204" pitchFamily="18" charset="0"/>
                        </a:rPr>
                        <m:t>=1 −</m:t>
                      </m:r>
                      <m:r>
                        <a:rPr lang="en-US" b="0" i="1" smtClean="0">
                          <a:latin typeface="Cambria Math" panose="02040503050406030204" pitchFamily="18" charset="0"/>
                        </a:rPr>
                        <m:t>𝑀𝑖𝑠𝑠</m:t>
                      </m:r>
                      <m:r>
                        <a:rPr lang="en-US" i="1">
                          <a:latin typeface="Cambria Math" panose="02040503050406030204" pitchFamily="18" charset="0"/>
                        </a:rPr>
                        <m:t> </m:t>
                      </m:r>
                      <m:r>
                        <a:rPr lang="en-US" i="1">
                          <a:latin typeface="Cambria Math" panose="02040503050406030204" pitchFamily="18" charset="0"/>
                        </a:rPr>
                        <m:t>𝑅𝑎𝑡𝑒</m:t>
                      </m:r>
                    </m:oMath>
                  </m:oMathPara>
                </a14:m>
                <a:endParaRPr lang="en-US" dirty="0"/>
              </a:p>
              <a:p>
                <a:pPr marL="0" indent="0">
                  <a:buNone/>
                </a:pPr>
                <a:endParaRPr lang="en-US" dirty="0"/>
              </a:p>
              <a:p>
                <a:pPr marL="0" indent="0">
                  <a:buNone/>
                </a:pPr>
                <a:endParaRPr lang="en-US" dirty="0" smtClean="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496258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Performance Analysis</a:t>
            </a:r>
            <a:endParaRPr lang="en-US" dirty="0"/>
          </a:p>
        </p:txBody>
      </p:sp>
      <p:sp>
        <p:nvSpPr>
          <p:cNvPr id="4" name="Content Placeholder 3"/>
          <p:cNvSpPr>
            <a:spLocks noGrp="1"/>
          </p:cNvSpPr>
          <p:nvPr>
            <p:ph sz="half" idx="1"/>
          </p:nvPr>
        </p:nvSpPr>
        <p:spPr>
          <a:xfrm>
            <a:off x="1097278" y="1845734"/>
            <a:ext cx="10058401" cy="1747211"/>
          </a:xfrm>
        </p:spPr>
        <p:txBody>
          <a:bodyPr>
            <a:normAutofit/>
          </a:bodyPr>
          <a:lstStyle/>
          <a:p>
            <a:pPr marL="0" indent="0">
              <a:buNone/>
            </a:pPr>
            <a:r>
              <a:rPr lang="en-US" b="1" u="sng" dirty="0" smtClean="0"/>
              <a:t>Example</a:t>
            </a:r>
            <a:endParaRPr lang="en-US" b="1" u="sng" dirty="0"/>
          </a:p>
          <a:p>
            <a:pPr marL="0" indent="0">
              <a:buNone/>
            </a:pPr>
            <a:r>
              <a:rPr lang="en-US" sz="1800" b="1" dirty="0" smtClean="0"/>
              <a:t>Suppose a program has 2000 data access instructions (load or stores), and 1250 of these requested data values are found in the cache. The other 750 data values are supplied to the processor by main memory or disk memory. What are the miss and hit rates for the cache?</a:t>
            </a:r>
          </a:p>
        </p:txBody>
      </p:sp>
      <mc:AlternateContent xmlns:mc="http://schemas.openxmlformats.org/markup-compatibility/2006" xmlns:a14="http://schemas.microsoft.com/office/drawing/2010/main">
        <mc:Choice Requires="a14">
          <p:sp>
            <p:nvSpPr>
              <p:cNvPr id="3" name="Content Placeholder 2"/>
              <p:cNvSpPr>
                <a:spLocks noGrp="1"/>
              </p:cNvSpPr>
              <p:nvPr>
                <p:ph sz="half" idx="2"/>
              </p:nvPr>
            </p:nvSpPr>
            <p:spPr>
              <a:xfrm>
                <a:off x="1097277" y="3306618"/>
                <a:ext cx="10058401" cy="2608659"/>
              </a:xfrm>
            </p:spPr>
            <p:txBody>
              <a:bodyPr>
                <a:noAutofit/>
              </a:bodyPr>
              <a:lstStyle/>
              <a:p>
                <a:pPr marL="0" indent="0">
                  <a:buNone/>
                </a:pPr>
                <a14:m>
                  <m:oMathPara xmlns:m="http://schemas.openxmlformats.org/officeDocument/2006/math">
                    <m:oMathParaPr>
                      <m:jc m:val="left"/>
                    </m:oMathParaPr>
                    <m:oMath xmlns:m="http://schemas.openxmlformats.org/officeDocument/2006/math">
                      <m:r>
                        <a:rPr lang="en-US" sz="1200" i="1">
                          <a:latin typeface="Cambria Math" panose="02040503050406030204" pitchFamily="18" charset="0"/>
                        </a:rPr>
                        <m:t>𝑀𝑖𝑠𝑠</m:t>
                      </m:r>
                      <m:r>
                        <a:rPr lang="en-US" sz="1200" i="1">
                          <a:latin typeface="Cambria Math" panose="02040503050406030204" pitchFamily="18" charset="0"/>
                        </a:rPr>
                        <m:t> </m:t>
                      </m:r>
                      <m:r>
                        <a:rPr lang="en-US" sz="1200" i="1">
                          <a:latin typeface="Cambria Math" panose="02040503050406030204" pitchFamily="18" charset="0"/>
                        </a:rPr>
                        <m:t>𝑅𝑎𝑡𝑒</m:t>
                      </m:r>
                      <m:r>
                        <a:rPr lang="en-US" sz="1200" i="1">
                          <a:latin typeface="Cambria Math" panose="02040503050406030204" pitchFamily="18" charset="0"/>
                        </a:rPr>
                        <m:t>=</m:t>
                      </m:r>
                      <m:f>
                        <m:fPr>
                          <m:ctrlPr>
                            <a:rPr lang="en-US" sz="1200" i="1">
                              <a:latin typeface="Cambria Math"/>
                            </a:rPr>
                          </m:ctrlPr>
                        </m:fPr>
                        <m:num>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𝑚𝑖𝑠𝑠𝑒𝑠</m:t>
                          </m:r>
                        </m:num>
                        <m:den>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𝑡𝑜𝑡𝑎𝑙</m:t>
                          </m:r>
                          <m:r>
                            <a:rPr lang="en-US" sz="1200" i="1">
                              <a:latin typeface="Cambria Math" panose="02040503050406030204" pitchFamily="18" charset="0"/>
                            </a:rPr>
                            <m:t> </m:t>
                          </m:r>
                          <m:r>
                            <a:rPr lang="en-US" sz="1200" i="1">
                              <a:latin typeface="Cambria Math" panose="02040503050406030204" pitchFamily="18" charset="0"/>
                            </a:rPr>
                            <m:t>𝑚𝑒𝑚𝑜𝑟𝑦</m:t>
                          </m:r>
                          <m:r>
                            <a:rPr lang="en-US" sz="1200" i="1">
                              <a:latin typeface="Cambria Math" panose="02040503050406030204" pitchFamily="18" charset="0"/>
                            </a:rPr>
                            <m:t> </m:t>
                          </m:r>
                          <m:r>
                            <a:rPr lang="en-US" sz="1200" i="1">
                              <a:latin typeface="Cambria Math" panose="02040503050406030204" pitchFamily="18" charset="0"/>
                            </a:rPr>
                            <m:t>𝐴𝑐𝑐𝑒𝑠𝑠𝑒𝑠</m:t>
                          </m:r>
                        </m:den>
                      </m:f>
                      <m:r>
                        <a:rPr lang="en-US" sz="1200" i="1">
                          <a:latin typeface="Cambria Math" panose="02040503050406030204" pitchFamily="18" charset="0"/>
                        </a:rPr>
                        <m:t>=1 −</m:t>
                      </m:r>
                      <m:r>
                        <a:rPr lang="en-US" sz="1200" i="1">
                          <a:latin typeface="Cambria Math" panose="02040503050406030204" pitchFamily="18" charset="0"/>
                        </a:rPr>
                        <m:t>𝐻𝑖𝑡</m:t>
                      </m:r>
                      <m:r>
                        <a:rPr lang="en-US" sz="1200" i="1">
                          <a:latin typeface="Cambria Math" panose="02040503050406030204" pitchFamily="18" charset="0"/>
                        </a:rPr>
                        <m:t> </m:t>
                      </m:r>
                      <m:r>
                        <a:rPr lang="en-US" sz="1200" i="1">
                          <a:latin typeface="Cambria Math" panose="02040503050406030204" pitchFamily="18" charset="0"/>
                        </a:rPr>
                        <m:t>𝑅𝑎𝑡𝑒</m:t>
                      </m:r>
                    </m:oMath>
                  </m:oMathPara>
                </a14:m>
                <a:endParaRPr lang="en-US" sz="1200" i="1" dirty="0">
                  <a:latin typeface="Cambria Math" panose="02040503050406030204" pitchFamily="18" charset="0"/>
                </a:endParaRPr>
              </a:p>
              <a:p>
                <a:pPr marL="0" indent="0">
                  <a:buNone/>
                </a:pPr>
                <a:endParaRPr lang="en-US" sz="12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1200" i="1">
                          <a:latin typeface="Cambria Math" panose="02040503050406030204" pitchFamily="18" charset="0"/>
                        </a:rPr>
                        <m:t> </m:t>
                      </m:r>
                      <m:r>
                        <a:rPr lang="en-US" sz="1200" i="1">
                          <a:latin typeface="Cambria Math" panose="02040503050406030204" pitchFamily="18" charset="0"/>
                        </a:rPr>
                        <m:t>𝐻𝑖𝑡</m:t>
                      </m:r>
                      <m:r>
                        <a:rPr lang="en-US" sz="1200" i="1">
                          <a:latin typeface="Cambria Math" panose="02040503050406030204" pitchFamily="18" charset="0"/>
                        </a:rPr>
                        <m:t> </m:t>
                      </m:r>
                      <m:r>
                        <a:rPr lang="en-US" sz="1200" i="1">
                          <a:latin typeface="Cambria Math" panose="02040503050406030204" pitchFamily="18" charset="0"/>
                        </a:rPr>
                        <m:t>𝑅𝑎𝑡𝑒</m:t>
                      </m:r>
                      <m:r>
                        <a:rPr lang="en-US" sz="1200" i="1">
                          <a:latin typeface="Cambria Math" panose="02040503050406030204" pitchFamily="18" charset="0"/>
                        </a:rPr>
                        <m:t>=</m:t>
                      </m:r>
                      <m:f>
                        <m:fPr>
                          <m:ctrlPr>
                            <a:rPr lang="en-US" sz="1200" i="1">
                              <a:latin typeface="Cambria Math"/>
                            </a:rPr>
                          </m:ctrlPr>
                        </m:fPr>
                        <m:num>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h𝑖𝑡𝑠</m:t>
                          </m:r>
                        </m:num>
                        <m:den>
                          <m:r>
                            <a:rPr lang="en-US" sz="1200" i="1">
                              <a:latin typeface="Cambria Math" panose="02040503050406030204" pitchFamily="18" charset="0"/>
                            </a:rPr>
                            <m:t>𝑁𝑢𝑚𝑏𝑒𝑟</m:t>
                          </m:r>
                          <m:r>
                            <a:rPr lang="en-US" sz="1200" i="1">
                              <a:latin typeface="Cambria Math" panose="02040503050406030204" pitchFamily="18" charset="0"/>
                            </a:rPr>
                            <m:t> </m:t>
                          </m:r>
                          <m:r>
                            <a:rPr lang="en-US" sz="1200" i="1">
                              <a:latin typeface="Cambria Math" panose="02040503050406030204" pitchFamily="18" charset="0"/>
                            </a:rPr>
                            <m:t>𝑜𝑓</m:t>
                          </m:r>
                          <m:r>
                            <a:rPr lang="en-US" sz="1200" i="1">
                              <a:latin typeface="Cambria Math" panose="02040503050406030204" pitchFamily="18" charset="0"/>
                            </a:rPr>
                            <m:t> </m:t>
                          </m:r>
                          <m:r>
                            <a:rPr lang="en-US" sz="1200" i="1">
                              <a:latin typeface="Cambria Math" panose="02040503050406030204" pitchFamily="18" charset="0"/>
                            </a:rPr>
                            <m:t>𝑡𝑜𝑡𝑎𝑙</m:t>
                          </m:r>
                          <m:r>
                            <a:rPr lang="en-US" sz="1200" i="1">
                              <a:latin typeface="Cambria Math" panose="02040503050406030204" pitchFamily="18" charset="0"/>
                            </a:rPr>
                            <m:t> </m:t>
                          </m:r>
                          <m:r>
                            <a:rPr lang="en-US" sz="1200" i="1">
                              <a:latin typeface="Cambria Math" panose="02040503050406030204" pitchFamily="18" charset="0"/>
                            </a:rPr>
                            <m:t>𝑚𝑒𝑚𝑜𝑟𝑦</m:t>
                          </m:r>
                          <m:r>
                            <a:rPr lang="en-US" sz="1200" i="1">
                              <a:latin typeface="Cambria Math" panose="02040503050406030204" pitchFamily="18" charset="0"/>
                            </a:rPr>
                            <m:t> </m:t>
                          </m:r>
                          <m:r>
                            <a:rPr lang="en-US" sz="1200" i="1">
                              <a:latin typeface="Cambria Math" panose="02040503050406030204" pitchFamily="18" charset="0"/>
                            </a:rPr>
                            <m:t>𝐴𝑐𝑐𝑒𝑠𝑠𝑒𝑠</m:t>
                          </m:r>
                        </m:den>
                      </m:f>
                      <m:r>
                        <a:rPr lang="en-US" sz="1200" i="1">
                          <a:latin typeface="Cambria Math" panose="02040503050406030204" pitchFamily="18" charset="0"/>
                        </a:rPr>
                        <m:t>=1 −</m:t>
                      </m:r>
                      <m:r>
                        <a:rPr lang="en-US" sz="1200" i="1">
                          <a:latin typeface="Cambria Math" panose="02040503050406030204" pitchFamily="18" charset="0"/>
                        </a:rPr>
                        <m:t>𝑀𝑖𝑠𝑠</m:t>
                      </m:r>
                      <m:r>
                        <a:rPr lang="en-US" sz="1200" i="1">
                          <a:latin typeface="Cambria Math" panose="02040503050406030204" pitchFamily="18" charset="0"/>
                        </a:rPr>
                        <m:t> </m:t>
                      </m:r>
                      <m:r>
                        <a:rPr lang="en-US" sz="1200" i="1">
                          <a:latin typeface="Cambria Math" panose="02040503050406030204" pitchFamily="18" charset="0"/>
                        </a:rPr>
                        <m:t>𝑅𝑎𝑡𝑒</m:t>
                      </m:r>
                    </m:oMath>
                  </m:oMathPara>
                </a14:m>
                <a:endParaRPr lang="en-US" sz="1200" i="1" dirty="0" smtClean="0">
                  <a:latin typeface="Cambria Math" panose="02040503050406030204" pitchFamily="18" charset="0"/>
                </a:endParaRPr>
              </a:p>
              <a:p>
                <a:pPr marL="0" indent="0">
                  <a:buNone/>
                </a:pPr>
                <a:r>
                  <a:rPr lang="en-US" b="1" u="sng" dirty="0" smtClean="0"/>
                  <a:t>Solution</a:t>
                </a:r>
                <a:endParaRPr lang="en-US" i="1" dirty="0" smtClean="0">
                  <a:latin typeface="Cambria Math" panose="02040503050406030204" pitchFamily="18" charset="0"/>
                </a:endParaRPr>
              </a:p>
              <a:p>
                <a:pPr marL="0" indent="0" algn="r">
                  <a:buNone/>
                </a:pPr>
                <a14:m>
                  <m:oMathPara xmlns:m="http://schemas.openxmlformats.org/officeDocument/2006/math">
                    <m:oMathParaPr>
                      <m:jc m:val="left"/>
                    </m:oMathParaPr>
                    <m:oMath xmlns:m="http://schemas.openxmlformats.org/officeDocument/2006/math">
                      <m:r>
                        <a:rPr lang="en-US" sz="1400" b="1" i="1" smtClean="0">
                          <a:latin typeface="Cambria Math" panose="02040503050406030204" pitchFamily="18" charset="0"/>
                        </a:rPr>
                        <m:t>𝑴𝒊𝒔𝒔</m:t>
                      </m:r>
                      <m:r>
                        <a:rPr lang="en-US" sz="1400" b="1" i="1" smtClean="0">
                          <a:latin typeface="Cambria Math" panose="02040503050406030204" pitchFamily="18" charset="0"/>
                        </a:rPr>
                        <m:t> </m:t>
                      </m:r>
                      <m:r>
                        <a:rPr lang="en-US" sz="1400" b="1" i="1" smtClean="0">
                          <a:latin typeface="Cambria Math" panose="02040503050406030204" pitchFamily="18" charset="0"/>
                        </a:rPr>
                        <m:t>𝑹𝒂𝒕𝒆</m:t>
                      </m:r>
                      <m:r>
                        <a:rPr lang="en-US" sz="1400" b="1" i="1" smtClean="0">
                          <a:latin typeface="Cambria Math" panose="02040503050406030204" pitchFamily="18" charset="0"/>
                        </a:rPr>
                        <m:t>=</m:t>
                      </m:r>
                      <m:f>
                        <m:fPr>
                          <m:ctrlPr>
                            <a:rPr lang="en-US" sz="1400" b="1" i="1">
                              <a:latin typeface="Cambria Math"/>
                            </a:rPr>
                          </m:ctrlPr>
                        </m:fPr>
                        <m:num>
                          <m:r>
                            <a:rPr lang="en-US" sz="1400" b="1" i="1">
                              <a:latin typeface="Cambria Math" panose="02040503050406030204" pitchFamily="18" charset="0"/>
                            </a:rPr>
                            <m:t>𝑵𝒖𝒎𝒃𝒆𝒓</m:t>
                          </m:r>
                          <m:r>
                            <a:rPr lang="en-US" sz="1400" b="1" i="1">
                              <a:latin typeface="Cambria Math" panose="02040503050406030204" pitchFamily="18" charset="0"/>
                            </a:rPr>
                            <m:t> </m:t>
                          </m:r>
                          <m:r>
                            <a:rPr lang="en-US" sz="1400" b="1" i="1">
                              <a:latin typeface="Cambria Math" panose="02040503050406030204" pitchFamily="18" charset="0"/>
                            </a:rPr>
                            <m:t>𝒐𝒇</m:t>
                          </m:r>
                          <m:r>
                            <a:rPr lang="en-US" sz="1400" b="1" i="1">
                              <a:latin typeface="Cambria Math" panose="02040503050406030204" pitchFamily="18" charset="0"/>
                            </a:rPr>
                            <m:t> </m:t>
                          </m:r>
                          <m:r>
                            <a:rPr lang="en-US" sz="1400" b="1" i="1">
                              <a:latin typeface="Cambria Math" panose="02040503050406030204" pitchFamily="18" charset="0"/>
                            </a:rPr>
                            <m:t>𝒎𝒊𝒔𝒔𝒆𝒔</m:t>
                          </m:r>
                        </m:num>
                        <m:den>
                          <m:r>
                            <a:rPr lang="en-US" sz="1400" b="1" i="1">
                              <a:latin typeface="Cambria Math" panose="02040503050406030204" pitchFamily="18" charset="0"/>
                            </a:rPr>
                            <m:t>𝑵𝒖𝒎𝒃𝒆𝒓</m:t>
                          </m:r>
                          <m:r>
                            <a:rPr lang="en-US" sz="1400" b="1" i="1">
                              <a:latin typeface="Cambria Math" panose="02040503050406030204" pitchFamily="18" charset="0"/>
                            </a:rPr>
                            <m:t> </m:t>
                          </m:r>
                          <m:r>
                            <a:rPr lang="en-US" sz="1400" b="1" i="1">
                              <a:latin typeface="Cambria Math" panose="02040503050406030204" pitchFamily="18" charset="0"/>
                            </a:rPr>
                            <m:t>𝒐𝒇</m:t>
                          </m:r>
                          <m:r>
                            <a:rPr lang="en-US" sz="1400" b="1" i="1">
                              <a:latin typeface="Cambria Math" panose="02040503050406030204" pitchFamily="18" charset="0"/>
                            </a:rPr>
                            <m:t> </m:t>
                          </m:r>
                          <m:r>
                            <a:rPr lang="en-US" sz="1400" b="1" i="1">
                              <a:latin typeface="Cambria Math" panose="02040503050406030204" pitchFamily="18" charset="0"/>
                            </a:rPr>
                            <m:t>𝒕𝒐𝒕𝒂𝒍</m:t>
                          </m:r>
                          <m:r>
                            <a:rPr lang="en-US" sz="1400" b="1" i="1">
                              <a:latin typeface="Cambria Math" panose="02040503050406030204" pitchFamily="18" charset="0"/>
                            </a:rPr>
                            <m:t> </m:t>
                          </m:r>
                          <m:r>
                            <a:rPr lang="en-US" sz="1400" b="1" i="1">
                              <a:latin typeface="Cambria Math" panose="02040503050406030204" pitchFamily="18" charset="0"/>
                            </a:rPr>
                            <m:t>𝒎𝒆𝒎𝒐𝒓𝒚</m:t>
                          </m:r>
                          <m:r>
                            <a:rPr lang="en-US" sz="1400" b="1" i="1">
                              <a:latin typeface="Cambria Math" panose="02040503050406030204" pitchFamily="18" charset="0"/>
                            </a:rPr>
                            <m:t> </m:t>
                          </m:r>
                          <m:r>
                            <a:rPr lang="en-US" sz="1400" b="1" i="1">
                              <a:latin typeface="Cambria Math" panose="02040503050406030204" pitchFamily="18" charset="0"/>
                            </a:rPr>
                            <m:t>𝑨𝒄𝒄𝒆𝒔𝒔𝒆𝒔</m:t>
                          </m:r>
                        </m:den>
                      </m:f>
                      <m:r>
                        <a:rPr lang="en-US" sz="1400" b="1" i="1">
                          <a:latin typeface="Cambria Math" panose="02040503050406030204" pitchFamily="18" charset="0"/>
                        </a:rPr>
                        <m:t>=</m:t>
                      </m:r>
                      <m:r>
                        <a:rPr lang="en-US" sz="1400" b="1" i="1" smtClean="0">
                          <a:latin typeface="Cambria Math" panose="02040503050406030204" pitchFamily="18" charset="0"/>
                        </a:rPr>
                        <m:t> </m:t>
                      </m:r>
                      <m:f>
                        <m:fPr>
                          <m:ctrlPr>
                            <a:rPr lang="en-US" sz="1400" b="1" i="1" smtClean="0">
                              <a:latin typeface="Cambria Math"/>
                            </a:rPr>
                          </m:ctrlPr>
                        </m:fPr>
                        <m:num>
                          <m:r>
                            <a:rPr lang="en-US" sz="1400" b="1" i="1" smtClean="0">
                              <a:latin typeface="Cambria Math" panose="02040503050406030204" pitchFamily="18" charset="0"/>
                            </a:rPr>
                            <m:t>𝟕𝟓𝟎</m:t>
                          </m:r>
                          <m:r>
                            <a:rPr lang="en-US" sz="1400" b="1" i="1" smtClean="0">
                              <a:latin typeface="Cambria Math" panose="02040503050406030204" pitchFamily="18" charset="0"/>
                            </a:rPr>
                            <m:t> </m:t>
                          </m:r>
                        </m:num>
                        <m:den>
                          <m:r>
                            <a:rPr lang="en-US" sz="1400" b="1" i="1" smtClean="0">
                              <a:latin typeface="Cambria Math" panose="02040503050406030204" pitchFamily="18" charset="0"/>
                            </a:rPr>
                            <m:t>𝟐𝟎𝟎𝟎</m:t>
                          </m:r>
                        </m:den>
                      </m:f>
                      <m:r>
                        <a:rPr lang="en-US" sz="1400" b="1" i="1" smtClean="0">
                          <a:latin typeface="Cambria Math" panose="02040503050406030204" pitchFamily="18" charset="0"/>
                        </a:rPr>
                        <m:t>=</m:t>
                      </m:r>
                      <m:r>
                        <a:rPr lang="en-US" sz="1400" b="1" i="1" smtClean="0">
                          <a:latin typeface="Cambria Math" panose="02040503050406030204" pitchFamily="18" charset="0"/>
                        </a:rPr>
                        <m:t>𝟎</m:t>
                      </m:r>
                      <m:r>
                        <a:rPr lang="en-US" sz="1400" b="1" i="1" smtClean="0">
                          <a:latin typeface="Cambria Math" panose="02040503050406030204" pitchFamily="18" charset="0"/>
                        </a:rPr>
                        <m:t>.</m:t>
                      </m:r>
                      <m:r>
                        <a:rPr lang="en-US" sz="1400" b="1" i="1" smtClean="0">
                          <a:latin typeface="Cambria Math" panose="02040503050406030204" pitchFamily="18" charset="0"/>
                        </a:rPr>
                        <m:t>𝟑𝟕𝟓</m:t>
                      </m:r>
                      <m:r>
                        <a:rPr lang="en-US" sz="1400" b="1" i="1" smtClean="0">
                          <a:latin typeface="Cambria Math" panose="02040503050406030204" pitchFamily="18" charset="0"/>
                        </a:rPr>
                        <m:t>=</m:t>
                      </m:r>
                      <m:r>
                        <a:rPr lang="en-US" sz="1400" b="1" i="1" smtClean="0">
                          <a:latin typeface="Cambria Math" panose="02040503050406030204" pitchFamily="18" charset="0"/>
                        </a:rPr>
                        <m:t>𝟑𝟕</m:t>
                      </m:r>
                      <m:r>
                        <a:rPr lang="en-US" sz="1400" b="1" i="1" smtClean="0">
                          <a:latin typeface="Cambria Math" panose="02040503050406030204" pitchFamily="18" charset="0"/>
                        </a:rPr>
                        <m:t>.</m:t>
                      </m:r>
                      <m:r>
                        <a:rPr lang="en-US" sz="1400" b="1" i="1" smtClean="0">
                          <a:latin typeface="Cambria Math" panose="02040503050406030204" pitchFamily="18" charset="0"/>
                        </a:rPr>
                        <m:t>𝟓</m:t>
                      </m:r>
                      <m:r>
                        <a:rPr lang="en-US" sz="1400" b="1" i="1" smtClean="0">
                          <a:latin typeface="Cambria Math" panose="02040503050406030204" pitchFamily="18" charset="0"/>
                        </a:rPr>
                        <m:t>%</m:t>
                      </m:r>
                    </m:oMath>
                  </m:oMathPara>
                </a14:m>
                <a:endParaRPr lang="en-US" sz="1400" b="1" i="1" dirty="0" smtClean="0">
                  <a:latin typeface="Cambria Math" panose="02040503050406030204" pitchFamily="18" charset="0"/>
                </a:endParaRPr>
              </a:p>
              <a:p>
                <a:pPr marL="0" indent="0" algn="r">
                  <a:buNone/>
                </a:pPr>
                <a:endParaRPr lang="en-US" sz="1400" b="1" i="1" dirty="0">
                  <a:latin typeface="Cambria Math" panose="02040503050406030204" pitchFamily="18" charset="0"/>
                </a:endParaRPr>
              </a:p>
              <a:p>
                <a:pPr marL="0" indent="0" algn="r">
                  <a:buNone/>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𝑯𝒊𝒕</m:t>
                      </m:r>
                      <m:r>
                        <a:rPr lang="en-US" sz="1400" b="1" i="1">
                          <a:latin typeface="Cambria Math" panose="02040503050406030204" pitchFamily="18" charset="0"/>
                        </a:rPr>
                        <m:t> </m:t>
                      </m:r>
                      <m:r>
                        <a:rPr lang="en-US" sz="1400" b="1" i="1">
                          <a:latin typeface="Cambria Math" panose="02040503050406030204" pitchFamily="18" charset="0"/>
                        </a:rPr>
                        <m:t>𝑹𝒂𝒕𝒆</m:t>
                      </m:r>
                      <m:r>
                        <a:rPr lang="en-US" sz="1400" b="1" i="1">
                          <a:latin typeface="Cambria Math" panose="02040503050406030204" pitchFamily="18" charset="0"/>
                        </a:rPr>
                        <m:t>=</m:t>
                      </m:r>
                      <m:r>
                        <a:rPr lang="en-US" sz="1400" b="1" i="1">
                          <a:latin typeface="Cambria Math" panose="02040503050406030204" pitchFamily="18" charset="0"/>
                        </a:rPr>
                        <m:t>𝟏</m:t>
                      </m:r>
                      <m:r>
                        <a:rPr lang="en-US" sz="1400" b="1" i="1">
                          <a:latin typeface="Cambria Math" panose="02040503050406030204" pitchFamily="18" charset="0"/>
                        </a:rPr>
                        <m:t> −</m:t>
                      </m:r>
                      <m:r>
                        <a:rPr lang="en-US" sz="1400" b="1" i="1">
                          <a:latin typeface="Cambria Math" panose="02040503050406030204" pitchFamily="18" charset="0"/>
                        </a:rPr>
                        <m:t>𝑴𝒊𝒔𝒔</m:t>
                      </m:r>
                      <m:r>
                        <a:rPr lang="en-US" sz="1400" b="1" i="1">
                          <a:latin typeface="Cambria Math" panose="02040503050406030204" pitchFamily="18" charset="0"/>
                        </a:rPr>
                        <m:t> </m:t>
                      </m:r>
                      <m:r>
                        <a:rPr lang="en-US" sz="1400" b="1" i="1">
                          <a:latin typeface="Cambria Math" panose="02040503050406030204" pitchFamily="18" charset="0"/>
                        </a:rPr>
                        <m:t>𝑹𝒂𝒕𝒆</m:t>
                      </m:r>
                      <m:r>
                        <a:rPr lang="en-US" sz="1400" b="1" i="1" smtClean="0">
                          <a:latin typeface="Cambria Math" panose="02040503050406030204" pitchFamily="18" charset="0"/>
                        </a:rPr>
                        <m:t>=</m:t>
                      </m:r>
                      <m:r>
                        <a:rPr lang="en-US" sz="1400" b="1" i="1" smtClean="0">
                          <a:latin typeface="Cambria Math" panose="02040503050406030204" pitchFamily="18" charset="0"/>
                        </a:rPr>
                        <m:t>𝟏</m:t>
                      </m:r>
                      <m:r>
                        <a:rPr lang="en-US" sz="1400" b="1" i="1" smtClean="0">
                          <a:latin typeface="Cambria Math" panose="02040503050406030204" pitchFamily="18" charset="0"/>
                        </a:rPr>
                        <m:t>−</m:t>
                      </m:r>
                      <m:r>
                        <a:rPr lang="en-US" sz="1400" b="1" i="1" smtClean="0">
                          <a:latin typeface="Cambria Math" panose="02040503050406030204" pitchFamily="18" charset="0"/>
                        </a:rPr>
                        <m:t>𝟎</m:t>
                      </m:r>
                      <m:r>
                        <a:rPr lang="en-US" sz="1400" b="1" i="1" smtClean="0">
                          <a:latin typeface="Cambria Math" panose="02040503050406030204" pitchFamily="18" charset="0"/>
                        </a:rPr>
                        <m:t>.</m:t>
                      </m:r>
                      <m:r>
                        <a:rPr lang="en-US" sz="1400" b="1" i="1" smtClean="0">
                          <a:latin typeface="Cambria Math" panose="02040503050406030204" pitchFamily="18" charset="0"/>
                        </a:rPr>
                        <m:t>𝟑𝟕𝟓</m:t>
                      </m:r>
                      <m:r>
                        <a:rPr lang="en-US" sz="1400" b="1" i="1" smtClean="0">
                          <a:latin typeface="Cambria Math" panose="02040503050406030204" pitchFamily="18" charset="0"/>
                        </a:rPr>
                        <m:t>=</m:t>
                      </m:r>
                      <m:r>
                        <a:rPr lang="en-US" sz="1400" b="1" i="1" smtClean="0">
                          <a:latin typeface="Cambria Math" panose="02040503050406030204" pitchFamily="18" charset="0"/>
                        </a:rPr>
                        <m:t>𝟔𝟐</m:t>
                      </m:r>
                      <m:r>
                        <a:rPr lang="en-US" sz="1400" b="1" i="1" smtClean="0">
                          <a:latin typeface="Cambria Math" panose="02040503050406030204" pitchFamily="18" charset="0"/>
                        </a:rPr>
                        <m:t>.</m:t>
                      </m:r>
                      <m:r>
                        <a:rPr lang="en-US" sz="1400" b="1" i="1" smtClean="0">
                          <a:latin typeface="Cambria Math" panose="02040503050406030204" pitchFamily="18" charset="0"/>
                        </a:rPr>
                        <m:t>𝟓</m:t>
                      </m:r>
                      <m:r>
                        <a:rPr lang="en-US" sz="1400" b="1" i="1" smtClean="0">
                          <a:latin typeface="Cambria Math" panose="02040503050406030204" pitchFamily="18" charset="0"/>
                        </a:rPr>
                        <m:t>%</m:t>
                      </m:r>
                    </m:oMath>
                  </m:oMathPara>
                </a14:m>
                <a:endParaRPr lang="en-US" sz="1400" b="1" dirty="0"/>
              </a:p>
            </p:txBody>
          </p:sp>
        </mc:Choice>
        <mc:Fallback xmlns="">
          <p:sp>
            <p:nvSpPr>
              <p:cNvPr id="3" name="Content Placeholder 2"/>
              <p:cNvSpPr>
                <a:spLocks noGrp="1" noRot="1" noChangeAspect="1" noMove="1" noResize="1" noEditPoints="1" noAdjustHandles="1" noChangeArrowheads="1" noChangeShapeType="1" noTextEdit="1"/>
              </p:cNvSpPr>
              <p:nvPr>
                <p:ph sz="half" idx="2"/>
              </p:nvPr>
            </p:nvSpPr>
            <p:spPr>
              <a:xfrm>
                <a:off x="1097277" y="3306618"/>
                <a:ext cx="10058401" cy="2608659"/>
              </a:xfrm>
              <a:blipFill>
                <a:blip r:embed="rId2"/>
                <a:stretch>
                  <a:fillRect l="-1515"/>
                </a:stretch>
              </a:blipFill>
            </p:spPr>
            <p:txBody>
              <a:bodyPr/>
              <a:lstStyle/>
              <a:p>
                <a:r>
                  <a:rPr lang="en-US">
                    <a:noFill/>
                  </a:rPr>
                  <a:t> </a:t>
                </a:r>
              </a:p>
            </p:txBody>
          </p:sp>
        </mc:Fallback>
      </mc:AlternateContent>
    </p:spTree>
    <p:extLst>
      <p:ext uri="{BB962C8B-B14F-4D97-AF65-F5344CB8AC3E}">
        <p14:creationId xmlns:p14="http://schemas.microsoft.com/office/powerpoint/2010/main" val="9298105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Terminologies </a:t>
            </a:r>
            <a:endParaRPr lang="en-US" dirty="0"/>
          </a:p>
        </p:txBody>
      </p:sp>
      <p:sp>
        <p:nvSpPr>
          <p:cNvPr id="3" name="Content Placeholder 2"/>
          <p:cNvSpPr>
            <a:spLocks noGrp="1"/>
          </p:cNvSpPr>
          <p:nvPr>
            <p:ph idx="1"/>
          </p:nvPr>
        </p:nvSpPr>
        <p:spPr>
          <a:xfrm>
            <a:off x="1097280" y="1845734"/>
            <a:ext cx="10058400" cy="1534775"/>
          </a:xfrm>
        </p:spPr>
        <p:txBody>
          <a:bodyPr>
            <a:normAutofit lnSpcReduction="10000"/>
          </a:bodyPr>
          <a:lstStyle/>
          <a:p>
            <a:pPr>
              <a:buFont typeface="Arial" panose="020B0604020202020204" pitchFamily="34" charset="0"/>
              <a:buChar char="•"/>
            </a:pPr>
            <a:r>
              <a:rPr lang="en-US" dirty="0" smtClean="0"/>
              <a:t>Cache Capacity C = Total number of bytes that can be stored in the cache</a:t>
            </a:r>
          </a:p>
          <a:p>
            <a:pPr>
              <a:buFont typeface="Arial" panose="020B0604020202020204" pitchFamily="34" charset="0"/>
              <a:buChar char="•"/>
            </a:pPr>
            <a:r>
              <a:rPr lang="en-US" dirty="0" smtClean="0"/>
              <a:t>Data is transferred between memory and cache in blocks of fixed size called cache lines or cache blocks. </a:t>
            </a:r>
          </a:p>
          <a:p>
            <a:pPr marL="0" indent="0">
              <a:buNone/>
            </a:pPr>
            <a:r>
              <a:rPr lang="en-US" dirty="0" smtClean="0"/>
              <a:t>	b = Block size</a:t>
            </a:r>
          </a:p>
        </p:txBody>
      </p:sp>
      <p:graphicFrame>
        <p:nvGraphicFramePr>
          <p:cNvPr id="6" name="Table 5"/>
          <p:cNvGraphicFramePr>
            <a:graphicFrameLocks noGrp="1"/>
          </p:cNvGraphicFramePr>
          <p:nvPr>
            <p:extLst>
              <p:ext uri="{D42A27DB-BD31-4B8C-83A1-F6EECF244321}">
                <p14:modId xmlns:p14="http://schemas.microsoft.com/office/powerpoint/2010/main" val="1867237668"/>
              </p:ext>
            </p:extLst>
          </p:nvPr>
        </p:nvGraphicFramePr>
        <p:xfrm>
          <a:off x="6105237" y="3305848"/>
          <a:ext cx="3657600" cy="2966720"/>
        </p:xfrm>
        <a:graphic>
          <a:graphicData uri="http://schemas.openxmlformats.org/drawingml/2006/table">
            <a:tbl>
              <a:tblPr firstRow="1" bandRow="1">
                <a:tableStyleId>{5940675A-B579-460E-94D1-54222C63F5DA}</a:tableStyleId>
              </a:tblPr>
              <a:tblGrid>
                <a:gridCol w="1154545">
                  <a:extLst>
                    <a:ext uri="{9D8B030D-6E8A-4147-A177-3AD203B41FA5}">
                      <a16:colId xmlns="" xmlns:a16="http://schemas.microsoft.com/office/drawing/2014/main" val="4284518099"/>
                    </a:ext>
                  </a:extLst>
                </a:gridCol>
                <a:gridCol w="2503055">
                  <a:extLst>
                    <a:ext uri="{9D8B030D-6E8A-4147-A177-3AD203B41FA5}">
                      <a16:colId xmlns="" xmlns:a16="http://schemas.microsoft.com/office/drawing/2014/main" val="1827225863"/>
                    </a:ext>
                  </a:extLst>
                </a:gridCol>
              </a:tblGrid>
              <a:tr h="370840">
                <a:tc>
                  <a:txBody>
                    <a:bodyPr/>
                    <a:lstStyle/>
                    <a:p>
                      <a:r>
                        <a:rPr lang="en-US" dirty="0" smtClean="0"/>
                        <a:t>Block 0</a:t>
                      </a:r>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308416522"/>
                  </a:ext>
                </a:extLst>
              </a:tr>
              <a:tr h="370840">
                <a:tc>
                  <a:txBody>
                    <a:bodyPr/>
                    <a:lstStyle/>
                    <a:p>
                      <a:r>
                        <a:rPr lang="en-US" dirty="0" smtClean="0"/>
                        <a:t>Block 1</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160513756"/>
                  </a:ext>
                </a:extLst>
              </a:tr>
              <a:tr h="370840">
                <a:tc>
                  <a:txBody>
                    <a:bodyPr/>
                    <a:lstStyle/>
                    <a:p>
                      <a:r>
                        <a:rPr lang="en-US" dirty="0" smtClean="0"/>
                        <a:t>Block 2</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972352974"/>
                  </a:ext>
                </a:extLst>
              </a:tr>
              <a:tr h="370840">
                <a:tc>
                  <a:txBody>
                    <a:bodyPr/>
                    <a:lstStyle/>
                    <a:p>
                      <a:r>
                        <a:rPr lang="en-US" dirty="0" smtClean="0"/>
                        <a:t>Block 3</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845244502"/>
                  </a:ext>
                </a:extLst>
              </a:tr>
              <a:tr h="370840">
                <a:tc>
                  <a:txBody>
                    <a:bodyPr/>
                    <a:lstStyle/>
                    <a:p>
                      <a:r>
                        <a:rPr lang="en-US" dirty="0" smtClean="0"/>
                        <a:t>Block 4</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52150235"/>
                  </a:ext>
                </a:extLst>
              </a:tr>
              <a:tr h="370840">
                <a:tc>
                  <a:txBody>
                    <a:bodyPr/>
                    <a:lstStyle/>
                    <a:p>
                      <a:r>
                        <a:rPr lang="en-US" dirty="0" smtClean="0"/>
                        <a:t>Block 5</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390464272"/>
                  </a:ext>
                </a:extLst>
              </a:tr>
              <a:tr h="370840">
                <a:tc>
                  <a:txBody>
                    <a:bodyPr/>
                    <a:lstStyle/>
                    <a:p>
                      <a:r>
                        <a:rPr lang="en-US" dirty="0" smtClean="0"/>
                        <a:t>Block 6</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2798721212"/>
                  </a:ext>
                </a:extLst>
              </a:tr>
              <a:tr h="370840">
                <a:tc>
                  <a:txBody>
                    <a:bodyPr/>
                    <a:lstStyle/>
                    <a:p>
                      <a:r>
                        <a:rPr lang="en-US" dirty="0" smtClean="0"/>
                        <a:t>Block 7</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 xmlns:a16="http://schemas.microsoft.com/office/drawing/2014/main" val="1040862708"/>
                  </a:ext>
                </a:extLst>
              </a:tr>
            </a:tbl>
          </a:graphicData>
        </a:graphic>
      </p:graphicFrame>
      <p:sp>
        <p:nvSpPr>
          <p:cNvPr id="7" name="TextBox 6"/>
          <p:cNvSpPr txBox="1"/>
          <p:nvPr/>
        </p:nvSpPr>
        <p:spPr>
          <a:xfrm>
            <a:off x="8060286" y="6355817"/>
            <a:ext cx="1277678" cy="400110"/>
          </a:xfrm>
          <a:prstGeom prst="rect">
            <a:avLst/>
          </a:prstGeom>
          <a:noFill/>
        </p:spPr>
        <p:txBody>
          <a:bodyPr wrap="square" rtlCol="0">
            <a:spAutoFit/>
          </a:bodyPr>
          <a:lstStyle/>
          <a:p>
            <a:r>
              <a:rPr lang="en-US" sz="2000" b="1" dirty="0" smtClean="0"/>
              <a:t>Cache</a:t>
            </a:r>
            <a:endParaRPr lang="en-US" sz="2000" b="1" dirty="0"/>
          </a:p>
        </p:txBody>
      </p:sp>
      <p:cxnSp>
        <p:nvCxnSpPr>
          <p:cNvPr id="14" name="Straight Arrow Connector 13"/>
          <p:cNvCxnSpPr/>
          <p:nvPr/>
        </p:nvCxnSpPr>
        <p:spPr>
          <a:xfrm flipH="1">
            <a:off x="7200900" y="3114675"/>
            <a:ext cx="683981"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9105900" y="3114675"/>
            <a:ext cx="656937"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884881" y="2936516"/>
            <a:ext cx="1628487" cy="369332"/>
          </a:xfrm>
          <a:prstGeom prst="rect">
            <a:avLst/>
          </a:prstGeom>
          <a:noFill/>
        </p:spPr>
        <p:txBody>
          <a:bodyPr wrap="square" rtlCol="0">
            <a:spAutoFit/>
          </a:bodyPr>
          <a:lstStyle/>
          <a:p>
            <a:r>
              <a:rPr lang="en-US" dirty="0" smtClean="0"/>
              <a:t>Cache Line</a:t>
            </a:r>
            <a:endParaRPr lang="en-US" dirty="0"/>
          </a:p>
        </p:txBody>
      </p:sp>
    </p:spTree>
    <p:extLst>
      <p:ext uri="{BB962C8B-B14F-4D97-AF65-F5344CB8AC3E}">
        <p14:creationId xmlns:p14="http://schemas.microsoft.com/office/powerpoint/2010/main" val="11072568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Terminologies </a:t>
            </a:r>
            <a:endParaRPr lang="en-US" dirty="0"/>
          </a:p>
        </p:txBody>
      </p:sp>
      <p:sp>
        <p:nvSpPr>
          <p:cNvPr id="3" name="Content Placeholder 2"/>
          <p:cNvSpPr>
            <a:spLocks noGrp="1"/>
          </p:cNvSpPr>
          <p:nvPr>
            <p:ph idx="1"/>
          </p:nvPr>
        </p:nvSpPr>
        <p:spPr/>
        <p:txBody>
          <a:bodyPr/>
          <a:lstStyle/>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069244804"/>
              </p:ext>
            </p:extLst>
          </p:nvPr>
        </p:nvGraphicFramePr>
        <p:xfrm>
          <a:off x="1885950" y="3832393"/>
          <a:ext cx="6143625" cy="741680"/>
        </p:xfrm>
        <a:graphic>
          <a:graphicData uri="http://schemas.openxmlformats.org/drawingml/2006/table">
            <a:tbl>
              <a:tblPr firstRow="1" bandRow="1">
                <a:tableStyleId>{5940675A-B579-460E-94D1-54222C63F5DA}</a:tableStyleId>
              </a:tblPr>
              <a:tblGrid>
                <a:gridCol w="1695450">
                  <a:extLst>
                    <a:ext uri="{9D8B030D-6E8A-4147-A177-3AD203B41FA5}">
                      <a16:colId xmlns="" xmlns:a16="http://schemas.microsoft.com/office/drawing/2014/main" val="4284518099"/>
                    </a:ext>
                  </a:extLst>
                </a:gridCol>
                <a:gridCol w="1162050">
                  <a:extLst>
                    <a:ext uri="{9D8B030D-6E8A-4147-A177-3AD203B41FA5}">
                      <a16:colId xmlns="" xmlns:a16="http://schemas.microsoft.com/office/drawing/2014/main" val="1827225863"/>
                    </a:ext>
                  </a:extLst>
                </a:gridCol>
                <a:gridCol w="1257300">
                  <a:extLst>
                    <a:ext uri="{9D8B030D-6E8A-4147-A177-3AD203B41FA5}">
                      <a16:colId xmlns="" xmlns:a16="http://schemas.microsoft.com/office/drawing/2014/main" val="2625427107"/>
                    </a:ext>
                  </a:extLst>
                </a:gridCol>
                <a:gridCol w="1133475">
                  <a:extLst>
                    <a:ext uri="{9D8B030D-6E8A-4147-A177-3AD203B41FA5}">
                      <a16:colId xmlns="" xmlns:a16="http://schemas.microsoft.com/office/drawing/2014/main" val="3488845602"/>
                    </a:ext>
                  </a:extLst>
                </a:gridCol>
                <a:gridCol w="895350">
                  <a:extLst>
                    <a:ext uri="{9D8B030D-6E8A-4147-A177-3AD203B41FA5}">
                      <a16:colId xmlns="" xmlns:a16="http://schemas.microsoft.com/office/drawing/2014/main" val="1588356002"/>
                    </a:ext>
                  </a:extLst>
                </a:gridCol>
              </a:tblGrid>
              <a:tr h="370840">
                <a:tc>
                  <a:txBody>
                    <a:bodyPr/>
                    <a:lstStyle/>
                    <a:p>
                      <a:r>
                        <a:rPr lang="en-US" dirty="0" smtClean="0"/>
                        <a:t>Block 0 = 4B</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3308416522"/>
                  </a:ext>
                </a:extLst>
              </a:tr>
              <a:tr h="370840">
                <a:tc>
                  <a:txBody>
                    <a:bodyPr/>
                    <a:lstStyle/>
                    <a:p>
                      <a:r>
                        <a:rPr lang="en-US" dirty="0" smtClean="0"/>
                        <a:t>Block 1 = 4B</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1160513756"/>
                  </a:ext>
                </a:extLst>
              </a:tr>
            </a:tbl>
          </a:graphicData>
        </a:graphic>
      </p:graphicFrame>
      <p:sp>
        <p:nvSpPr>
          <p:cNvPr id="7" name="TextBox 6"/>
          <p:cNvSpPr txBox="1"/>
          <p:nvPr/>
        </p:nvSpPr>
        <p:spPr>
          <a:xfrm>
            <a:off x="3286125" y="2276475"/>
            <a:ext cx="1885950" cy="646331"/>
          </a:xfrm>
          <a:prstGeom prst="rect">
            <a:avLst/>
          </a:prstGeom>
          <a:noFill/>
        </p:spPr>
        <p:txBody>
          <a:bodyPr wrap="square" rtlCol="0">
            <a:spAutoFit/>
          </a:bodyPr>
          <a:lstStyle/>
          <a:p>
            <a:r>
              <a:rPr lang="en-US" b="1" dirty="0"/>
              <a:t>b</a:t>
            </a:r>
            <a:r>
              <a:rPr lang="en-US" b="1" dirty="0" smtClean="0"/>
              <a:t> = 32 bits = 4B</a:t>
            </a:r>
          </a:p>
          <a:p>
            <a:r>
              <a:rPr lang="en-US" b="1" dirty="0" smtClean="0"/>
              <a:t>C = 64 bits = 8B</a:t>
            </a:r>
            <a:endParaRPr lang="en-US" b="1" dirty="0"/>
          </a:p>
        </p:txBody>
      </p:sp>
      <p:sp>
        <p:nvSpPr>
          <p:cNvPr id="8" name="TextBox 7"/>
          <p:cNvSpPr txBox="1"/>
          <p:nvPr/>
        </p:nvSpPr>
        <p:spPr>
          <a:xfrm>
            <a:off x="5172075" y="4610358"/>
            <a:ext cx="1847850" cy="381000"/>
          </a:xfrm>
          <a:prstGeom prst="rect">
            <a:avLst/>
          </a:prstGeom>
          <a:noFill/>
        </p:spPr>
        <p:txBody>
          <a:bodyPr wrap="square" rtlCol="0">
            <a:spAutoFit/>
          </a:bodyPr>
          <a:lstStyle/>
          <a:p>
            <a:r>
              <a:rPr lang="en-US" b="1" dirty="0" smtClean="0"/>
              <a:t>Cache</a:t>
            </a:r>
            <a:endParaRPr lang="en-US" b="1" dirty="0"/>
          </a:p>
        </p:txBody>
      </p:sp>
      <p:cxnSp>
        <p:nvCxnSpPr>
          <p:cNvPr id="10" name="Straight Arrow Connector 9"/>
          <p:cNvCxnSpPr/>
          <p:nvPr/>
        </p:nvCxnSpPr>
        <p:spPr>
          <a:xfrm flipH="1">
            <a:off x="3509818" y="3682870"/>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286500" y="3682870"/>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065481" y="3504711"/>
            <a:ext cx="1628487" cy="369332"/>
          </a:xfrm>
          <a:prstGeom prst="rect">
            <a:avLst/>
          </a:prstGeom>
          <a:noFill/>
        </p:spPr>
        <p:txBody>
          <a:bodyPr wrap="square" rtlCol="0">
            <a:spAutoFit/>
          </a:bodyPr>
          <a:lstStyle/>
          <a:p>
            <a:r>
              <a:rPr lang="en-US" dirty="0" smtClean="0"/>
              <a:t>Cache Line</a:t>
            </a:r>
            <a:endParaRPr lang="en-US" dirty="0"/>
          </a:p>
        </p:txBody>
      </p:sp>
    </p:spTree>
    <p:extLst>
      <p:ext uri="{BB962C8B-B14F-4D97-AF65-F5344CB8AC3E}">
        <p14:creationId xmlns:p14="http://schemas.microsoft.com/office/powerpoint/2010/main" val="1569082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Block Size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127469651"/>
              </p:ext>
            </p:extLst>
          </p:nvPr>
        </p:nvGraphicFramePr>
        <p:xfrm>
          <a:off x="8591550" y="286603"/>
          <a:ext cx="2830831" cy="5852160"/>
        </p:xfrm>
        <a:graphic>
          <a:graphicData uri="http://schemas.openxmlformats.org/drawingml/2006/table">
            <a:tbl>
              <a:tblPr firstRow="1" bandRow="1">
                <a:tableStyleId>{D7AC3CCA-C797-4891-BE02-D94E43425B78}</a:tableStyleId>
              </a:tblPr>
              <a:tblGrid>
                <a:gridCol w="1104900">
                  <a:extLst>
                    <a:ext uri="{9D8B030D-6E8A-4147-A177-3AD203B41FA5}">
                      <a16:colId xmlns="" xmlns:a16="http://schemas.microsoft.com/office/drawing/2014/main" val="1964442144"/>
                    </a:ext>
                  </a:extLst>
                </a:gridCol>
                <a:gridCol w="574834">
                  <a:extLst>
                    <a:ext uri="{9D8B030D-6E8A-4147-A177-3AD203B41FA5}">
                      <a16:colId xmlns="" xmlns:a16="http://schemas.microsoft.com/office/drawing/2014/main" val="1695656520"/>
                    </a:ext>
                  </a:extLst>
                </a:gridCol>
                <a:gridCol w="1151097">
                  <a:extLst>
                    <a:ext uri="{9D8B030D-6E8A-4147-A177-3AD203B41FA5}">
                      <a16:colId xmlns="" xmlns:a16="http://schemas.microsoft.com/office/drawing/2014/main" val="2165372536"/>
                    </a:ext>
                  </a:extLst>
                </a:gridCol>
              </a:tblGrid>
              <a:tr h="362494">
                <a:tc rowSpan="4">
                  <a:txBody>
                    <a:bodyPr/>
                    <a:lstStyle/>
                    <a:p>
                      <a:r>
                        <a:rPr lang="en-US" b="1" dirty="0" smtClean="0"/>
                        <a:t>Block 0</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47</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39446888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25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430735079"/>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02</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129467674"/>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03</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6</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3462162992"/>
                  </a:ext>
                </a:extLst>
              </a:tr>
              <a:tr h="362494">
                <a:tc rowSpan="4">
                  <a:txBody>
                    <a:bodyPr/>
                    <a:lstStyle/>
                    <a:p>
                      <a:r>
                        <a:rPr lang="en-US" b="1" dirty="0" smtClean="0"/>
                        <a:t>Block 1</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04</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88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296900417"/>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05</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99</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84784533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06</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21</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3218713041"/>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07</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58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157796138"/>
                  </a:ext>
                </a:extLst>
              </a:tr>
              <a:tr h="362494">
                <a:tc rowSpan="4">
                  <a:txBody>
                    <a:bodyPr/>
                    <a:lstStyle/>
                    <a:p>
                      <a:r>
                        <a:rPr lang="en-US" b="1" dirty="0" smtClean="0">
                          <a:solidFill>
                            <a:schemeClr val="tx1"/>
                          </a:solidFill>
                        </a:rPr>
                        <a:t>Block 2</a:t>
                      </a:r>
                      <a:endParaRPr lang="en-US"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solidFill>
                            <a:schemeClr val="tx1"/>
                          </a:solidFill>
                        </a:rPr>
                        <a:t>08</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solidFill>
                            <a:schemeClr val="tx1"/>
                          </a:solidFill>
                        </a:rPr>
                        <a:t>57</a:t>
                      </a:r>
                      <a:endParaRPr lang="en-US" b="0" dirty="0">
                        <a:solidFill>
                          <a:schemeClr val="tx1"/>
                        </a:solidFill>
                      </a:endParaRP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52126444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09</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98</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90330141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0A</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65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84131712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0B</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22</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1641104444"/>
                  </a:ext>
                </a:extLst>
              </a:tr>
              <a:tr h="362494">
                <a:tc rowSpan="4">
                  <a:txBody>
                    <a:bodyPr/>
                    <a:lstStyle/>
                    <a:p>
                      <a:r>
                        <a:rPr lang="en-US" b="1" dirty="0" smtClean="0"/>
                        <a:t>Block 3</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0C</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66</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6183165"/>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0D</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126493807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55</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1505519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1</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229255318"/>
                  </a:ext>
                </a:extLst>
              </a:tr>
            </a:tbl>
          </a:graphicData>
        </a:graphic>
      </p:graphicFrame>
      <p:sp>
        <p:nvSpPr>
          <p:cNvPr id="6" name="TextBox 5"/>
          <p:cNvSpPr txBox="1"/>
          <p:nvPr/>
        </p:nvSpPr>
        <p:spPr>
          <a:xfrm>
            <a:off x="9944100" y="6056637"/>
            <a:ext cx="1847850" cy="381000"/>
          </a:xfrm>
          <a:prstGeom prst="rect">
            <a:avLst/>
          </a:prstGeom>
          <a:noFill/>
        </p:spPr>
        <p:txBody>
          <a:bodyPr wrap="square" rtlCol="0">
            <a:spAutoFit/>
          </a:bodyPr>
          <a:lstStyle/>
          <a:p>
            <a:r>
              <a:rPr lang="en-US" b="1" dirty="0" smtClean="0"/>
              <a:t>Memory</a:t>
            </a:r>
            <a:endParaRPr lang="en-US" b="1" dirty="0"/>
          </a:p>
        </p:txBody>
      </p:sp>
      <p:graphicFrame>
        <p:nvGraphicFramePr>
          <p:cNvPr id="7" name="Table 6"/>
          <p:cNvGraphicFramePr>
            <a:graphicFrameLocks noGrp="1"/>
          </p:cNvGraphicFramePr>
          <p:nvPr>
            <p:extLst>
              <p:ext uri="{D42A27DB-BD31-4B8C-83A1-F6EECF244321}">
                <p14:modId xmlns:p14="http://schemas.microsoft.com/office/powerpoint/2010/main" val="4081893190"/>
              </p:ext>
            </p:extLst>
          </p:nvPr>
        </p:nvGraphicFramePr>
        <p:xfrm>
          <a:off x="419100" y="3195441"/>
          <a:ext cx="6143625" cy="741680"/>
        </p:xfrm>
        <a:graphic>
          <a:graphicData uri="http://schemas.openxmlformats.org/drawingml/2006/table">
            <a:tbl>
              <a:tblPr firstRow="1" bandRow="1">
                <a:tableStyleId>{5940675A-B579-460E-94D1-54222C63F5DA}</a:tableStyleId>
              </a:tblPr>
              <a:tblGrid>
                <a:gridCol w="1695450">
                  <a:extLst>
                    <a:ext uri="{9D8B030D-6E8A-4147-A177-3AD203B41FA5}">
                      <a16:colId xmlns="" xmlns:a16="http://schemas.microsoft.com/office/drawing/2014/main" val="4284518099"/>
                    </a:ext>
                  </a:extLst>
                </a:gridCol>
                <a:gridCol w="1162050">
                  <a:extLst>
                    <a:ext uri="{9D8B030D-6E8A-4147-A177-3AD203B41FA5}">
                      <a16:colId xmlns="" xmlns:a16="http://schemas.microsoft.com/office/drawing/2014/main" val="1827225863"/>
                    </a:ext>
                  </a:extLst>
                </a:gridCol>
                <a:gridCol w="1257300">
                  <a:extLst>
                    <a:ext uri="{9D8B030D-6E8A-4147-A177-3AD203B41FA5}">
                      <a16:colId xmlns="" xmlns:a16="http://schemas.microsoft.com/office/drawing/2014/main" val="2625427107"/>
                    </a:ext>
                  </a:extLst>
                </a:gridCol>
                <a:gridCol w="1133475">
                  <a:extLst>
                    <a:ext uri="{9D8B030D-6E8A-4147-A177-3AD203B41FA5}">
                      <a16:colId xmlns="" xmlns:a16="http://schemas.microsoft.com/office/drawing/2014/main" val="3488845602"/>
                    </a:ext>
                  </a:extLst>
                </a:gridCol>
                <a:gridCol w="895350">
                  <a:extLst>
                    <a:ext uri="{9D8B030D-6E8A-4147-A177-3AD203B41FA5}">
                      <a16:colId xmlns="" xmlns:a16="http://schemas.microsoft.com/office/drawing/2014/main" val="1588356002"/>
                    </a:ext>
                  </a:extLst>
                </a:gridCol>
              </a:tblGrid>
              <a:tr h="370840">
                <a:tc>
                  <a:txBody>
                    <a:bodyPr/>
                    <a:lstStyle/>
                    <a:p>
                      <a:r>
                        <a:rPr lang="en-US" dirty="0" smtClean="0"/>
                        <a:t>Block 0 = 4B</a:t>
                      </a:r>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3308416522"/>
                  </a:ext>
                </a:extLst>
              </a:tr>
              <a:tr h="370840">
                <a:tc>
                  <a:txBody>
                    <a:bodyPr/>
                    <a:lstStyle/>
                    <a:p>
                      <a:r>
                        <a:rPr lang="en-US" dirty="0" smtClean="0"/>
                        <a:t>Block 1 = 4B</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1160513756"/>
                  </a:ext>
                </a:extLst>
              </a:tr>
            </a:tbl>
          </a:graphicData>
        </a:graphic>
      </p:graphicFrame>
      <p:sp>
        <p:nvSpPr>
          <p:cNvPr id="8" name="TextBox 7"/>
          <p:cNvSpPr txBox="1"/>
          <p:nvPr/>
        </p:nvSpPr>
        <p:spPr>
          <a:xfrm>
            <a:off x="1962150" y="2219325"/>
            <a:ext cx="1885950" cy="646331"/>
          </a:xfrm>
          <a:prstGeom prst="rect">
            <a:avLst/>
          </a:prstGeom>
          <a:noFill/>
        </p:spPr>
        <p:txBody>
          <a:bodyPr wrap="square" rtlCol="0">
            <a:spAutoFit/>
          </a:bodyPr>
          <a:lstStyle/>
          <a:p>
            <a:r>
              <a:rPr lang="en-US" b="1" dirty="0" smtClean="0"/>
              <a:t>b = 32 bits = 4B</a:t>
            </a:r>
          </a:p>
          <a:p>
            <a:r>
              <a:rPr lang="en-US" b="1" dirty="0" smtClean="0"/>
              <a:t>C = 64 bits = 8B</a:t>
            </a:r>
            <a:endParaRPr lang="en-US" b="1" dirty="0"/>
          </a:p>
        </p:txBody>
      </p:sp>
      <p:sp>
        <p:nvSpPr>
          <p:cNvPr id="9" name="TextBox 8"/>
          <p:cNvSpPr txBox="1"/>
          <p:nvPr/>
        </p:nvSpPr>
        <p:spPr>
          <a:xfrm>
            <a:off x="3667125" y="4154799"/>
            <a:ext cx="1847850" cy="381000"/>
          </a:xfrm>
          <a:prstGeom prst="rect">
            <a:avLst/>
          </a:prstGeom>
          <a:noFill/>
        </p:spPr>
        <p:txBody>
          <a:bodyPr wrap="square" rtlCol="0">
            <a:spAutoFit/>
          </a:bodyPr>
          <a:lstStyle/>
          <a:p>
            <a:r>
              <a:rPr lang="en-US" b="1" dirty="0" smtClean="0"/>
              <a:t>Cache</a:t>
            </a:r>
            <a:endParaRPr lang="en-US" b="1" dirty="0"/>
          </a:p>
        </p:txBody>
      </p:sp>
      <p:cxnSp>
        <p:nvCxnSpPr>
          <p:cNvPr id="10" name="Straight Arrow Connector 9"/>
          <p:cNvCxnSpPr/>
          <p:nvPr/>
        </p:nvCxnSpPr>
        <p:spPr>
          <a:xfrm flipH="1">
            <a:off x="2042968" y="3040240"/>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819650" y="3040240"/>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98631" y="2862081"/>
            <a:ext cx="1628487" cy="369332"/>
          </a:xfrm>
          <a:prstGeom prst="rect">
            <a:avLst/>
          </a:prstGeom>
          <a:noFill/>
        </p:spPr>
        <p:txBody>
          <a:bodyPr wrap="square" rtlCol="0">
            <a:spAutoFit/>
          </a:bodyPr>
          <a:lstStyle/>
          <a:p>
            <a:r>
              <a:rPr lang="en-US" dirty="0" smtClean="0"/>
              <a:t>Cache Line</a:t>
            </a:r>
            <a:endParaRPr lang="en-US" dirty="0"/>
          </a:p>
        </p:txBody>
      </p:sp>
      <p:sp>
        <p:nvSpPr>
          <p:cNvPr id="13" name="TextBox 12"/>
          <p:cNvSpPr txBox="1"/>
          <p:nvPr/>
        </p:nvSpPr>
        <p:spPr>
          <a:xfrm>
            <a:off x="114300" y="5629275"/>
            <a:ext cx="8162925" cy="646331"/>
          </a:xfrm>
          <a:prstGeom prst="rect">
            <a:avLst/>
          </a:prstGeom>
          <a:noFill/>
        </p:spPr>
        <p:txBody>
          <a:bodyPr wrap="square" rtlCol="0">
            <a:spAutoFit/>
          </a:bodyPr>
          <a:lstStyle/>
          <a:p>
            <a:r>
              <a:rPr lang="en-US" dirty="0" smtClean="0"/>
              <a:t>One block of cache can hold 4Bytes so memory is also logically </a:t>
            </a:r>
          </a:p>
          <a:p>
            <a:r>
              <a:rPr lang="en-US" dirty="0" smtClean="0"/>
              <a:t>divided into equal chunks of 4 bytes and all 4 bytes are brought in the cache at once.</a:t>
            </a:r>
            <a:endParaRPr lang="en-US" dirty="0"/>
          </a:p>
        </p:txBody>
      </p:sp>
    </p:spTree>
    <p:extLst>
      <p:ext uri="{BB962C8B-B14F-4D97-AF65-F5344CB8AC3E}">
        <p14:creationId xmlns:p14="http://schemas.microsoft.com/office/powerpoint/2010/main" val="28828079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Size</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225452890"/>
              </p:ext>
            </p:extLst>
          </p:nvPr>
        </p:nvGraphicFramePr>
        <p:xfrm>
          <a:off x="219075" y="3376416"/>
          <a:ext cx="6143625" cy="741680"/>
        </p:xfrm>
        <a:graphic>
          <a:graphicData uri="http://schemas.openxmlformats.org/drawingml/2006/table">
            <a:tbl>
              <a:tblPr firstRow="1" bandRow="1">
                <a:tableStyleId>{5940675A-B579-460E-94D1-54222C63F5DA}</a:tableStyleId>
              </a:tblPr>
              <a:tblGrid>
                <a:gridCol w="1695450">
                  <a:extLst>
                    <a:ext uri="{9D8B030D-6E8A-4147-A177-3AD203B41FA5}">
                      <a16:colId xmlns="" xmlns:a16="http://schemas.microsoft.com/office/drawing/2014/main" val="4284518099"/>
                    </a:ext>
                  </a:extLst>
                </a:gridCol>
                <a:gridCol w="1162050">
                  <a:extLst>
                    <a:ext uri="{9D8B030D-6E8A-4147-A177-3AD203B41FA5}">
                      <a16:colId xmlns="" xmlns:a16="http://schemas.microsoft.com/office/drawing/2014/main" val="1827225863"/>
                    </a:ext>
                  </a:extLst>
                </a:gridCol>
                <a:gridCol w="1257300">
                  <a:extLst>
                    <a:ext uri="{9D8B030D-6E8A-4147-A177-3AD203B41FA5}">
                      <a16:colId xmlns="" xmlns:a16="http://schemas.microsoft.com/office/drawing/2014/main" val="2625427107"/>
                    </a:ext>
                  </a:extLst>
                </a:gridCol>
                <a:gridCol w="1133475">
                  <a:extLst>
                    <a:ext uri="{9D8B030D-6E8A-4147-A177-3AD203B41FA5}">
                      <a16:colId xmlns="" xmlns:a16="http://schemas.microsoft.com/office/drawing/2014/main" val="3488845602"/>
                    </a:ext>
                  </a:extLst>
                </a:gridCol>
                <a:gridCol w="895350">
                  <a:extLst>
                    <a:ext uri="{9D8B030D-6E8A-4147-A177-3AD203B41FA5}">
                      <a16:colId xmlns="" xmlns:a16="http://schemas.microsoft.com/office/drawing/2014/main" val="1588356002"/>
                    </a:ext>
                  </a:extLst>
                </a:gridCol>
              </a:tblGrid>
              <a:tr h="370840">
                <a:tc>
                  <a:txBody>
                    <a:bodyPr/>
                    <a:lstStyle/>
                    <a:p>
                      <a:r>
                        <a:rPr lang="en-US" dirty="0" smtClean="0"/>
                        <a:t>Block 0 = 4B</a:t>
                      </a:r>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solidFill>
                            <a:schemeClr val="tx1"/>
                          </a:solidFill>
                        </a:rPr>
                        <a:t>57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smtClean="0"/>
                        <a:t>98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smtClean="0"/>
                        <a:t>65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smtClean="0"/>
                        <a:t>22</a:t>
                      </a:r>
                      <a:endParaRPr lang="en-US"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3308416522"/>
                  </a:ext>
                </a:extLst>
              </a:tr>
              <a:tr h="370840">
                <a:tc>
                  <a:txBody>
                    <a:bodyPr/>
                    <a:lstStyle/>
                    <a:p>
                      <a:r>
                        <a:rPr lang="en-US" dirty="0" smtClean="0"/>
                        <a:t>Block 1 = 4B</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1160513756"/>
                  </a:ext>
                </a:extLst>
              </a:tr>
            </a:tbl>
          </a:graphicData>
        </a:graphic>
      </p:graphicFrame>
      <p:sp>
        <p:nvSpPr>
          <p:cNvPr id="4" name="TextBox 3"/>
          <p:cNvSpPr txBox="1"/>
          <p:nvPr/>
        </p:nvSpPr>
        <p:spPr>
          <a:xfrm>
            <a:off x="1762125" y="2396725"/>
            <a:ext cx="1885950" cy="646331"/>
          </a:xfrm>
          <a:prstGeom prst="rect">
            <a:avLst/>
          </a:prstGeom>
          <a:noFill/>
        </p:spPr>
        <p:txBody>
          <a:bodyPr wrap="square" rtlCol="0">
            <a:spAutoFit/>
          </a:bodyPr>
          <a:lstStyle/>
          <a:p>
            <a:r>
              <a:rPr lang="en-US" b="1" dirty="0"/>
              <a:t>b</a:t>
            </a:r>
            <a:r>
              <a:rPr lang="en-US" b="1" dirty="0" smtClean="0"/>
              <a:t> = 32 bits = 4B</a:t>
            </a:r>
          </a:p>
          <a:p>
            <a:r>
              <a:rPr lang="en-US" b="1" dirty="0" smtClean="0"/>
              <a:t>C = 64 bits = 8B</a:t>
            </a:r>
            <a:endParaRPr lang="en-US" b="1" dirty="0"/>
          </a:p>
        </p:txBody>
      </p:sp>
      <p:sp>
        <p:nvSpPr>
          <p:cNvPr id="5" name="TextBox 4"/>
          <p:cNvSpPr txBox="1"/>
          <p:nvPr/>
        </p:nvSpPr>
        <p:spPr>
          <a:xfrm>
            <a:off x="3467100" y="4335774"/>
            <a:ext cx="1847850" cy="381000"/>
          </a:xfrm>
          <a:prstGeom prst="rect">
            <a:avLst/>
          </a:prstGeom>
          <a:noFill/>
        </p:spPr>
        <p:txBody>
          <a:bodyPr wrap="square" rtlCol="0">
            <a:spAutoFit/>
          </a:bodyPr>
          <a:lstStyle/>
          <a:p>
            <a:r>
              <a:rPr lang="en-US" b="1" dirty="0" smtClean="0"/>
              <a:t>Cache</a:t>
            </a:r>
            <a:endParaRPr lang="en-US" b="1" dirty="0"/>
          </a:p>
        </p:txBody>
      </p:sp>
      <p:cxnSp>
        <p:nvCxnSpPr>
          <p:cNvPr id="6" name="Straight Arrow Connector 5"/>
          <p:cNvCxnSpPr/>
          <p:nvPr/>
        </p:nvCxnSpPr>
        <p:spPr>
          <a:xfrm flipH="1">
            <a:off x="1842943" y="3221215"/>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619625" y="3221215"/>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398606" y="3043056"/>
            <a:ext cx="1628487" cy="369332"/>
          </a:xfrm>
          <a:prstGeom prst="rect">
            <a:avLst/>
          </a:prstGeom>
          <a:noFill/>
        </p:spPr>
        <p:txBody>
          <a:bodyPr wrap="square" rtlCol="0">
            <a:spAutoFit/>
          </a:bodyPr>
          <a:lstStyle/>
          <a:p>
            <a:r>
              <a:rPr lang="en-US" dirty="0" smtClean="0"/>
              <a:t>Cache Line</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149743755"/>
              </p:ext>
            </p:extLst>
          </p:nvPr>
        </p:nvGraphicFramePr>
        <p:xfrm>
          <a:off x="8591550" y="286603"/>
          <a:ext cx="2830831" cy="5852160"/>
        </p:xfrm>
        <a:graphic>
          <a:graphicData uri="http://schemas.openxmlformats.org/drawingml/2006/table">
            <a:tbl>
              <a:tblPr firstRow="1" bandRow="1">
                <a:tableStyleId>{D7AC3CCA-C797-4891-BE02-D94E43425B78}</a:tableStyleId>
              </a:tblPr>
              <a:tblGrid>
                <a:gridCol w="1104900">
                  <a:extLst>
                    <a:ext uri="{9D8B030D-6E8A-4147-A177-3AD203B41FA5}">
                      <a16:colId xmlns="" xmlns:a16="http://schemas.microsoft.com/office/drawing/2014/main" val="1964442144"/>
                    </a:ext>
                  </a:extLst>
                </a:gridCol>
                <a:gridCol w="574834">
                  <a:extLst>
                    <a:ext uri="{9D8B030D-6E8A-4147-A177-3AD203B41FA5}">
                      <a16:colId xmlns="" xmlns:a16="http://schemas.microsoft.com/office/drawing/2014/main" val="1695656520"/>
                    </a:ext>
                  </a:extLst>
                </a:gridCol>
                <a:gridCol w="1151097">
                  <a:extLst>
                    <a:ext uri="{9D8B030D-6E8A-4147-A177-3AD203B41FA5}">
                      <a16:colId xmlns="" xmlns:a16="http://schemas.microsoft.com/office/drawing/2014/main" val="2165372536"/>
                    </a:ext>
                  </a:extLst>
                </a:gridCol>
              </a:tblGrid>
              <a:tr h="362494">
                <a:tc rowSpan="4">
                  <a:txBody>
                    <a:bodyPr/>
                    <a:lstStyle/>
                    <a:p>
                      <a:r>
                        <a:rPr lang="en-US" b="1" dirty="0" smtClean="0"/>
                        <a:t>Block 0</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47</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39446888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25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430735079"/>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02</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129467674"/>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03</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6</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3462162992"/>
                  </a:ext>
                </a:extLst>
              </a:tr>
              <a:tr h="362494">
                <a:tc rowSpan="4">
                  <a:txBody>
                    <a:bodyPr/>
                    <a:lstStyle/>
                    <a:p>
                      <a:r>
                        <a:rPr lang="en-US" b="1" dirty="0" smtClean="0"/>
                        <a:t>Block 1</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04</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88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296900417"/>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05</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99</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84784533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06</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21</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3218713041"/>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07</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58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157796138"/>
                  </a:ext>
                </a:extLst>
              </a:tr>
              <a:tr h="362494">
                <a:tc rowSpan="4">
                  <a:txBody>
                    <a:bodyPr/>
                    <a:lstStyle/>
                    <a:p>
                      <a:r>
                        <a:rPr lang="en-US" b="1" dirty="0" smtClean="0">
                          <a:solidFill>
                            <a:schemeClr val="tx1"/>
                          </a:solidFill>
                        </a:rPr>
                        <a:t>Block 2</a:t>
                      </a:r>
                      <a:endParaRPr lang="en-US"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solidFill>
                            <a:schemeClr val="tx1"/>
                          </a:solidFill>
                        </a:rPr>
                        <a:t>08</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solidFill>
                            <a:schemeClr val="tx1"/>
                          </a:solidFill>
                        </a:rPr>
                        <a:t>57</a:t>
                      </a:r>
                      <a:endParaRPr lang="en-US" b="0" dirty="0">
                        <a:solidFill>
                          <a:schemeClr val="tx1"/>
                        </a:solidFill>
                      </a:endParaRP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52126444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09</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98</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90330141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0A</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65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84131712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0B</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22</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1641104444"/>
                  </a:ext>
                </a:extLst>
              </a:tr>
              <a:tr h="362494">
                <a:tc rowSpan="4">
                  <a:txBody>
                    <a:bodyPr/>
                    <a:lstStyle/>
                    <a:p>
                      <a:r>
                        <a:rPr lang="en-US" b="1" dirty="0" smtClean="0"/>
                        <a:t>Block 3</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0C</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66</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6183165"/>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0D</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126493807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55</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1505519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1</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229255318"/>
                  </a:ext>
                </a:extLst>
              </a:tr>
            </a:tbl>
          </a:graphicData>
        </a:graphic>
      </p:graphicFrame>
      <p:sp>
        <p:nvSpPr>
          <p:cNvPr id="10" name="TextBox 9"/>
          <p:cNvSpPr txBox="1"/>
          <p:nvPr/>
        </p:nvSpPr>
        <p:spPr>
          <a:xfrm>
            <a:off x="219075" y="5156987"/>
            <a:ext cx="7429500" cy="1200329"/>
          </a:xfrm>
          <a:prstGeom prst="rect">
            <a:avLst/>
          </a:prstGeom>
          <a:noFill/>
        </p:spPr>
        <p:txBody>
          <a:bodyPr wrap="square" rtlCol="0">
            <a:spAutoFit/>
          </a:bodyPr>
          <a:lstStyle/>
          <a:p>
            <a:r>
              <a:rPr lang="en-US" b="1" dirty="0" smtClean="0"/>
              <a:t>MOV AL, [09]</a:t>
            </a:r>
          </a:p>
          <a:p>
            <a:r>
              <a:rPr lang="en-US" dirty="0" smtClean="0"/>
              <a:t>Instead of bringing only [09] will bring the whole block in the cache</a:t>
            </a:r>
          </a:p>
          <a:p>
            <a:r>
              <a:rPr lang="en-US" b="1" dirty="0" smtClean="0"/>
              <a:t>Block size = </a:t>
            </a:r>
            <a:r>
              <a:rPr lang="en-US" dirty="0" smtClean="0"/>
              <a:t>4B so will bring 4Bytes and as the address [09] is in </a:t>
            </a:r>
            <a:r>
              <a:rPr lang="en-US" b="1" dirty="0" smtClean="0"/>
              <a:t>“Block 2” </a:t>
            </a:r>
            <a:r>
              <a:rPr lang="en-US" dirty="0" smtClean="0"/>
              <a:t>and it maps to the </a:t>
            </a:r>
            <a:r>
              <a:rPr lang="en-US" b="1" dirty="0" smtClean="0"/>
              <a:t>“yellow colored” </a:t>
            </a:r>
            <a:r>
              <a:rPr lang="en-US" dirty="0" smtClean="0"/>
              <a:t>block of the cache… </a:t>
            </a:r>
            <a:r>
              <a:rPr lang="en-US" b="1" dirty="0" smtClean="0"/>
              <a:t>(Spatial Locality)</a:t>
            </a:r>
            <a:r>
              <a:rPr lang="en-US" dirty="0" smtClean="0"/>
              <a:t> </a:t>
            </a:r>
            <a:endParaRPr lang="en-US" dirty="0"/>
          </a:p>
        </p:txBody>
      </p:sp>
      <p:sp>
        <p:nvSpPr>
          <p:cNvPr id="12" name="Left Bracket 11"/>
          <p:cNvSpPr/>
          <p:nvPr/>
        </p:nvSpPr>
        <p:spPr>
          <a:xfrm>
            <a:off x="8410575" y="3227722"/>
            <a:ext cx="95250" cy="1417460"/>
          </a:xfrm>
          <a:prstGeom prst="leftBracket">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p:cNvCxnSpPr>
            <a:stCxn id="12" idx="1"/>
          </p:cNvCxnSpPr>
          <p:nvPr/>
        </p:nvCxnSpPr>
        <p:spPr>
          <a:xfrm flipH="1" flipV="1">
            <a:off x="6362700" y="3552825"/>
            <a:ext cx="2047875" cy="3836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179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Offset Bits</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647602627"/>
              </p:ext>
            </p:extLst>
          </p:nvPr>
        </p:nvGraphicFramePr>
        <p:xfrm>
          <a:off x="219075" y="3376416"/>
          <a:ext cx="6143625" cy="1112520"/>
        </p:xfrm>
        <a:graphic>
          <a:graphicData uri="http://schemas.openxmlformats.org/drawingml/2006/table">
            <a:tbl>
              <a:tblPr firstRow="1" bandRow="1">
                <a:tableStyleId>{5940675A-B579-460E-94D1-54222C63F5DA}</a:tableStyleId>
              </a:tblPr>
              <a:tblGrid>
                <a:gridCol w="1695450">
                  <a:extLst>
                    <a:ext uri="{9D8B030D-6E8A-4147-A177-3AD203B41FA5}">
                      <a16:colId xmlns="" xmlns:a16="http://schemas.microsoft.com/office/drawing/2014/main" val="4284518099"/>
                    </a:ext>
                  </a:extLst>
                </a:gridCol>
                <a:gridCol w="1162050">
                  <a:extLst>
                    <a:ext uri="{9D8B030D-6E8A-4147-A177-3AD203B41FA5}">
                      <a16:colId xmlns="" xmlns:a16="http://schemas.microsoft.com/office/drawing/2014/main" val="1827225863"/>
                    </a:ext>
                  </a:extLst>
                </a:gridCol>
                <a:gridCol w="1257300">
                  <a:extLst>
                    <a:ext uri="{9D8B030D-6E8A-4147-A177-3AD203B41FA5}">
                      <a16:colId xmlns="" xmlns:a16="http://schemas.microsoft.com/office/drawing/2014/main" val="2625427107"/>
                    </a:ext>
                  </a:extLst>
                </a:gridCol>
                <a:gridCol w="1133475">
                  <a:extLst>
                    <a:ext uri="{9D8B030D-6E8A-4147-A177-3AD203B41FA5}">
                      <a16:colId xmlns="" xmlns:a16="http://schemas.microsoft.com/office/drawing/2014/main" val="3488845602"/>
                    </a:ext>
                  </a:extLst>
                </a:gridCol>
                <a:gridCol w="895350">
                  <a:extLst>
                    <a:ext uri="{9D8B030D-6E8A-4147-A177-3AD203B41FA5}">
                      <a16:colId xmlns="" xmlns:a16="http://schemas.microsoft.com/office/drawing/2014/main" val="1588356002"/>
                    </a:ext>
                  </a:extLst>
                </a:gridCol>
              </a:tblGrid>
              <a:tr h="370840">
                <a:tc>
                  <a:txBody>
                    <a:bodyPr/>
                    <a:lstStyle/>
                    <a:p>
                      <a:r>
                        <a:rPr lang="en-US" b="1" dirty="0" smtClean="0"/>
                        <a:t>Offset</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solidFill>
                            <a:schemeClr val="tx1"/>
                          </a:solidFill>
                        </a:rPr>
                        <a:t>00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dirty="0" smtClean="0"/>
                        <a:t>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dirty="0" smtClean="0"/>
                        <a:t>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dirty="0" smtClean="0"/>
                        <a:t>11</a:t>
                      </a:r>
                      <a:endParaRPr lang="en-US" dirty="0"/>
                    </a:p>
                  </a:txBody>
                  <a:tcPr>
                    <a:lnL w="12700" cap="flat" cmpd="sng" algn="ctr">
                      <a:solidFill>
                        <a:schemeClr val="tx1"/>
                      </a:solidFill>
                      <a:prstDash val="solid"/>
                      <a:round/>
                      <a:headEnd type="none" w="med" len="med"/>
                      <a:tailEnd type="none" w="med" len="med"/>
                    </a:lnL>
                    <a:noFill/>
                  </a:tcPr>
                </a:tc>
                <a:extLst>
                  <a:ext uri="{0D108BD9-81ED-4DB2-BD59-A6C34878D82A}">
                    <a16:rowId xmlns="" xmlns:a16="http://schemas.microsoft.com/office/drawing/2014/main" val="2770381397"/>
                  </a:ext>
                </a:extLst>
              </a:tr>
              <a:tr h="370840">
                <a:tc>
                  <a:txBody>
                    <a:bodyPr/>
                    <a:lstStyle/>
                    <a:p>
                      <a:r>
                        <a:rPr lang="en-US" dirty="0" smtClean="0"/>
                        <a:t>Block 0 = 4B</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solidFill>
                            <a:schemeClr val="tx1"/>
                          </a:solidFill>
                        </a:rPr>
                        <a:t>57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smtClean="0"/>
                        <a:t>98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smtClean="0"/>
                        <a:t>65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00"/>
                    </a:solidFill>
                  </a:tcPr>
                </a:tc>
                <a:tc>
                  <a:txBody>
                    <a:bodyPr/>
                    <a:lstStyle/>
                    <a:p>
                      <a:r>
                        <a:rPr lang="en-US" dirty="0" smtClean="0"/>
                        <a:t>22</a:t>
                      </a:r>
                      <a:endParaRPr lang="en-US"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3308416522"/>
                  </a:ext>
                </a:extLst>
              </a:tr>
              <a:tr h="370840">
                <a:tc>
                  <a:txBody>
                    <a:bodyPr/>
                    <a:lstStyle/>
                    <a:p>
                      <a:r>
                        <a:rPr lang="en-US" dirty="0" smtClean="0"/>
                        <a:t>Block 1 = 4B</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1160513756"/>
                  </a:ext>
                </a:extLst>
              </a:tr>
            </a:tbl>
          </a:graphicData>
        </a:graphic>
      </p:graphicFrame>
      <mc:AlternateContent xmlns:mc="http://schemas.openxmlformats.org/markup-compatibility/2006" xmlns:a14="http://schemas.microsoft.com/office/drawing/2010/main">
        <mc:Choice Requires="a14">
          <p:sp>
            <p:nvSpPr>
              <p:cNvPr id="4" name="TextBox 3"/>
              <p:cNvSpPr txBox="1"/>
              <p:nvPr/>
            </p:nvSpPr>
            <p:spPr>
              <a:xfrm>
                <a:off x="1842943" y="1854206"/>
                <a:ext cx="4195907" cy="1200329"/>
              </a:xfrm>
              <a:prstGeom prst="rect">
                <a:avLst/>
              </a:prstGeom>
              <a:noFill/>
            </p:spPr>
            <p:txBody>
              <a:bodyPr wrap="square" rtlCol="0">
                <a:spAutoFit/>
              </a:bodyPr>
              <a:lstStyle/>
              <a:p>
                <a:r>
                  <a:rPr lang="en-US" b="1" dirty="0" smtClean="0"/>
                  <a:t>B = 32 bits = 4B</a:t>
                </a:r>
              </a:p>
              <a:p>
                <a:r>
                  <a:rPr lang="en-US" b="1" dirty="0" smtClean="0"/>
                  <a:t>C = 64 bits = 8B</a:t>
                </a: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𝑶𝒇𝒇𝒔𝒆𝒕</m:t>
                      </m:r>
                      <m:r>
                        <a:rPr lang="en-US" b="1" i="1" smtClean="0">
                          <a:latin typeface="Cambria Math" panose="02040503050406030204" pitchFamily="18" charset="0"/>
                        </a:rPr>
                        <m:t> </m:t>
                      </m:r>
                      <m:r>
                        <a:rPr lang="en-US" b="1" i="1" smtClean="0">
                          <a:latin typeface="Cambria Math" panose="02040503050406030204" pitchFamily="18" charset="0"/>
                        </a:rPr>
                        <m:t>𝒃𝒊𝒕𝒔</m:t>
                      </m:r>
                      <m:r>
                        <a:rPr lang="en-US" b="1" i="1" smtClean="0">
                          <a:latin typeface="Cambria Math" panose="02040503050406030204" pitchFamily="18" charset="0"/>
                        </a:rPr>
                        <m:t>= </m:t>
                      </m:r>
                      <m:func>
                        <m:funcPr>
                          <m:ctrlPr>
                            <a:rPr lang="en-US" b="1" i="1" smtClean="0">
                              <a:latin typeface="Cambria Math"/>
                            </a:rPr>
                          </m:ctrlPr>
                        </m:funcPr>
                        <m:fName>
                          <m:sSub>
                            <m:sSubPr>
                              <m:ctrlPr>
                                <a:rPr lang="en-US" b="1" i="1" smtClean="0">
                                  <a:latin typeface="Cambria Math"/>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1" i="1" smtClean="0">
                              <a:latin typeface="Cambria Math" panose="02040503050406030204" pitchFamily="18" charset="0"/>
                            </a:rPr>
                            <m:t>𝒃</m:t>
                          </m:r>
                          <m:r>
                            <a:rPr lang="en-US" b="1" i="1" smtClean="0">
                              <a:latin typeface="Cambria Math" panose="02040503050406030204" pitchFamily="18" charset="0"/>
                            </a:rPr>
                            <m:t>= </m:t>
                          </m:r>
                          <m:func>
                            <m:funcPr>
                              <m:ctrlPr>
                                <a:rPr lang="en-US" b="1" i="1" smtClean="0">
                                  <a:latin typeface="Cambria Math"/>
                                </a:rPr>
                              </m:ctrlPr>
                            </m:funcPr>
                            <m:fName>
                              <m:sSub>
                                <m:sSubPr>
                                  <m:ctrlPr>
                                    <a:rPr lang="en-US" b="1" i="1" smtClean="0">
                                      <a:latin typeface="Cambria Math"/>
                                    </a:rPr>
                                  </m:ctrlPr>
                                </m:sSubPr>
                                <m:e>
                                  <m:r>
                                    <m:rPr>
                                      <m:sty m:val="p"/>
                                    </m:rPr>
                                    <a:rPr lang="en-US" b="0" i="0" smtClean="0">
                                      <a:latin typeface="Cambria Math" panose="02040503050406030204" pitchFamily="18" charset="0"/>
                                    </a:rPr>
                                    <m:t>log</m:t>
                                  </m:r>
                                </m:e>
                                <m:sub>
                                  <m:r>
                                    <a:rPr lang="en-US" b="1" i="1" smtClean="0">
                                      <a:latin typeface="Cambria Math" panose="02040503050406030204" pitchFamily="18" charset="0"/>
                                    </a:rPr>
                                    <m:t>𝟐</m:t>
                                  </m:r>
                                </m:sub>
                              </m:sSub>
                            </m:fName>
                            <m:e>
                              <m:r>
                                <a:rPr lang="en-US" b="1" i="1" smtClean="0">
                                  <a:latin typeface="Cambria Math" panose="02040503050406030204" pitchFamily="18" charset="0"/>
                                </a:rPr>
                                <m:t>𝟒</m:t>
                              </m:r>
                            </m:e>
                          </m:func>
                        </m:e>
                      </m:func>
                      <m:r>
                        <a:rPr lang="en-US" b="1" i="1" smtClean="0">
                          <a:latin typeface="Cambria Math" panose="02040503050406030204" pitchFamily="18" charset="0"/>
                        </a:rPr>
                        <m:t>=</m:t>
                      </m:r>
                      <m:r>
                        <a:rPr lang="en-US" b="1" i="1" smtClean="0">
                          <a:latin typeface="Cambria Math" panose="02040503050406030204" pitchFamily="18" charset="0"/>
                        </a:rPr>
                        <m:t>𝟐</m:t>
                      </m:r>
                    </m:oMath>
                  </m:oMathPara>
                </a14:m>
                <a:endParaRPr lang="en-US"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 </m:t>
                      </m:r>
                    </m:oMath>
                  </m:oMathPara>
                </a14:m>
                <a:endParaRPr lang="en-US" b="1" dirty="0"/>
              </a:p>
            </p:txBody>
          </p:sp>
        </mc:Choice>
        <mc:Fallback xmlns="">
          <p:sp>
            <p:nvSpPr>
              <p:cNvPr id="4" name="TextBox 3"/>
              <p:cNvSpPr txBox="1">
                <a:spLocks noRot="1" noChangeAspect="1" noMove="1" noResize="1" noEditPoints="1" noAdjustHandles="1" noChangeArrowheads="1" noChangeShapeType="1" noTextEdit="1"/>
              </p:cNvSpPr>
              <p:nvPr/>
            </p:nvSpPr>
            <p:spPr>
              <a:xfrm>
                <a:off x="1842943" y="1854206"/>
                <a:ext cx="4195907" cy="1200329"/>
              </a:xfrm>
              <a:prstGeom prst="rect">
                <a:avLst/>
              </a:prstGeom>
              <a:blipFill>
                <a:blip r:embed="rId2"/>
                <a:stretch>
                  <a:fillRect l="-1161" t="-2538"/>
                </a:stretch>
              </a:blipFill>
            </p:spPr>
            <p:txBody>
              <a:bodyPr/>
              <a:lstStyle/>
              <a:p>
                <a:r>
                  <a:rPr lang="en-US">
                    <a:noFill/>
                  </a:rPr>
                  <a:t> </a:t>
                </a:r>
              </a:p>
            </p:txBody>
          </p:sp>
        </mc:Fallback>
      </mc:AlternateContent>
      <p:sp>
        <p:nvSpPr>
          <p:cNvPr id="5" name="TextBox 4"/>
          <p:cNvSpPr txBox="1"/>
          <p:nvPr/>
        </p:nvSpPr>
        <p:spPr>
          <a:xfrm>
            <a:off x="3856572" y="4488936"/>
            <a:ext cx="1847850" cy="381000"/>
          </a:xfrm>
          <a:prstGeom prst="rect">
            <a:avLst/>
          </a:prstGeom>
          <a:noFill/>
        </p:spPr>
        <p:txBody>
          <a:bodyPr wrap="square" rtlCol="0">
            <a:spAutoFit/>
          </a:bodyPr>
          <a:lstStyle/>
          <a:p>
            <a:r>
              <a:rPr lang="en-US" b="1" dirty="0" smtClean="0"/>
              <a:t>Cache</a:t>
            </a:r>
            <a:endParaRPr lang="en-US" b="1" dirty="0"/>
          </a:p>
        </p:txBody>
      </p:sp>
      <p:cxnSp>
        <p:nvCxnSpPr>
          <p:cNvPr id="6" name="Straight Arrow Connector 5"/>
          <p:cNvCxnSpPr/>
          <p:nvPr/>
        </p:nvCxnSpPr>
        <p:spPr>
          <a:xfrm flipH="1">
            <a:off x="1842943" y="3221215"/>
            <a:ext cx="1555664"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619625" y="3221215"/>
            <a:ext cx="1743075" cy="65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398606" y="3043056"/>
            <a:ext cx="1628487" cy="369332"/>
          </a:xfrm>
          <a:prstGeom prst="rect">
            <a:avLst/>
          </a:prstGeom>
          <a:noFill/>
        </p:spPr>
        <p:txBody>
          <a:bodyPr wrap="square" rtlCol="0">
            <a:spAutoFit/>
          </a:bodyPr>
          <a:lstStyle/>
          <a:p>
            <a:r>
              <a:rPr lang="en-US" dirty="0" smtClean="0"/>
              <a:t>Cache Line</a:t>
            </a:r>
            <a:endParaRPr lang="en-US" dirty="0"/>
          </a:p>
        </p:txBody>
      </p:sp>
      <p:graphicFrame>
        <p:nvGraphicFramePr>
          <p:cNvPr id="9" name="Table 8"/>
          <p:cNvGraphicFramePr>
            <a:graphicFrameLocks noGrp="1"/>
          </p:cNvGraphicFramePr>
          <p:nvPr>
            <p:extLst/>
          </p:nvPr>
        </p:nvGraphicFramePr>
        <p:xfrm>
          <a:off x="8591550" y="286603"/>
          <a:ext cx="2830831" cy="5852160"/>
        </p:xfrm>
        <a:graphic>
          <a:graphicData uri="http://schemas.openxmlformats.org/drawingml/2006/table">
            <a:tbl>
              <a:tblPr firstRow="1" bandRow="1">
                <a:tableStyleId>{D7AC3CCA-C797-4891-BE02-D94E43425B78}</a:tableStyleId>
              </a:tblPr>
              <a:tblGrid>
                <a:gridCol w="1104900">
                  <a:extLst>
                    <a:ext uri="{9D8B030D-6E8A-4147-A177-3AD203B41FA5}">
                      <a16:colId xmlns="" xmlns:a16="http://schemas.microsoft.com/office/drawing/2014/main" val="1964442144"/>
                    </a:ext>
                  </a:extLst>
                </a:gridCol>
                <a:gridCol w="574834">
                  <a:extLst>
                    <a:ext uri="{9D8B030D-6E8A-4147-A177-3AD203B41FA5}">
                      <a16:colId xmlns="" xmlns:a16="http://schemas.microsoft.com/office/drawing/2014/main" val="1695656520"/>
                    </a:ext>
                  </a:extLst>
                </a:gridCol>
                <a:gridCol w="1151097">
                  <a:extLst>
                    <a:ext uri="{9D8B030D-6E8A-4147-A177-3AD203B41FA5}">
                      <a16:colId xmlns="" xmlns:a16="http://schemas.microsoft.com/office/drawing/2014/main" val="2165372536"/>
                    </a:ext>
                  </a:extLst>
                </a:gridCol>
              </a:tblGrid>
              <a:tr h="362494">
                <a:tc rowSpan="4">
                  <a:txBody>
                    <a:bodyPr/>
                    <a:lstStyle/>
                    <a:p>
                      <a:r>
                        <a:rPr lang="en-US" b="1" dirty="0" smtClean="0"/>
                        <a:t>Block 0</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47</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39446888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25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430735079"/>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02</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129467674"/>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03</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6</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3462162992"/>
                  </a:ext>
                </a:extLst>
              </a:tr>
              <a:tr h="362494">
                <a:tc rowSpan="4">
                  <a:txBody>
                    <a:bodyPr/>
                    <a:lstStyle/>
                    <a:p>
                      <a:r>
                        <a:rPr lang="en-US" b="1" dirty="0" smtClean="0"/>
                        <a:t>Block 1</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04</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88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296900417"/>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05</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99</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84784533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06</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21</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3218713041"/>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07</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58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157796138"/>
                  </a:ext>
                </a:extLst>
              </a:tr>
              <a:tr h="362494">
                <a:tc rowSpan="4">
                  <a:txBody>
                    <a:bodyPr/>
                    <a:lstStyle/>
                    <a:p>
                      <a:r>
                        <a:rPr lang="en-US" b="1" dirty="0" smtClean="0">
                          <a:solidFill>
                            <a:schemeClr val="tx1"/>
                          </a:solidFill>
                        </a:rPr>
                        <a:t>Block 2</a:t>
                      </a:r>
                      <a:endParaRPr lang="en-US" b="1"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solidFill>
                            <a:schemeClr val="tx1"/>
                          </a:solidFill>
                        </a:rPr>
                        <a:t>08</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solidFill>
                            <a:schemeClr val="tx1"/>
                          </a:solidFill>
                        </a:rPr>
                        <a:t>57</a:t>
                      </a:r>
                      <a:endParaRPr lang="en-US" b="0" dirty="0">
                        <a:solidFill>
                          <a:schemeClr val="tx1"/>
                        </a:solidFill>
                      </a:endParaRPr>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521264448"/>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09</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98</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903301412"/>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0A</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65</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284131712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1" dirty="0" smtClean="0"/>
                        <a:t>0B</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00"/>
                    </a:solidFill>
                  </a:tcPr>
                </a:tc>
                <a:tc>
                  <a:txBody>
                    <a:bodyPr/>
                    <a:lstStyle/>
                    <a:p>
                      <a:r>
                        <a:rPr lang="en-US" b="0" dirty="0" smtClean="0"/>
                        <a:t>22</a:t>
                      </a:r>
                      <a:endParaRPr lang="en-US" b="0" dirty="0"/>
                    </a:p>
                  </a:txBody>
                  <a:tcPr>
                    <a:lnL w="12700" cap="flat" cmpd="sng" algn="ctr">
                      <a:solidFill>
                        <a:schemeClr val="tx1"/>
                      </a:solidFill>
                      <a:prstDash val="solid"/>
                      <a:round/>
                      <a:headEnd type="none" w="med" len="med"/>
                      <a:tailEnd type="none" w="med" len="med"/>
                    </a:lnL>
                    <a:solidFill>
                      <a:srgbClr val="FFFF00"/>
                    </a:solidFill>
                  </a:tcPr>
                </a:tc>
                <a:extLst>
                  <a:ext uri="{0D108BD9-81ED-4DB2-BD59-A6C34878D82A}">
                    <a16:rowId xmlns="" xmlns:a16="http://schemas.microsoft.com/office/drawing/2014/main" val="1641104444"/>
                  </a:ext>
                </a:extLst>
              </a:tr>
              <a:tr h="362494">
                <a:tc rowSpan="4">
                  <a:txBody>
                    <a:bodyPr/>
                    <a:lstStyle/>
                    <a:p>
                      <a:r>
                        <a:rPr lang="en-US" b="1" dirty="0" smtClean="0"/>
                        <a:t>Block 3</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0C</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66</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6183165"/>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0D</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8</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126493807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55</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215055190"/>
                  </a:ext>
                </a:extLst>
              </a:tr>
              <a:tr h="362494">
                <a:tc vMerge="1">
                  <a:txBody>
                    <a:bodyPr/>
                    <a:lstStyle/>
                    <a:p>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1" dirty="0" smtClean="0"/>
                        <a:t>0F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r>
                        <a:rPr lang="en-US" b="0" dirty="0" smtClean="0"/>
                        <a:t>1</a:t>
                      </a:r>
                      <a:endParaRPr lang="en-US" b="0" dirty="0"/>
                    </a:p>
                  </a:txBody>
                  <a:tcP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 xmlns:a16="http://schemas.microsoft.com/office/drawing/2014/main" val="4229255318"/>
                  </a:ext>
                </a:extLst>
              </a:tr>
            </a:tbl>
          </a:graphicData>
        </a:graphic>
      </p:graphicFrame>
      <p:sp>
        <p:nvSpPr>
          <p:cNvPr id="10" name="TextBox 9"/>
          <p:cNvSpPr txBox="1"/>
          <p:nvPr/>
        </p:nvSpPr>
        <p:spPr>
          <a:xfrm>
            <a:off x="219075" y="5156987"/>
            <a:ext cx="7429500" cy="1200329"/>
          </a:xfrm>
          <a:prstGeom prst="rect">
            <a:avLst/>
          </a:prstGeom>
          <a:noFill/>
        </p:spPr>
        <p:txBody>
          <a:bodyPr wrap="square" rtlCol="0">
            <a:spAutoFit/>
          </a:bodyPr>
          <a:lstStyle/>
          <a:p>
            <a:r>
              <a:rPr lang="en-US" b="1" dirty="0" smtClean="0"/>
              <a:t>MOV AL, [09]</a:t>
            </a:r>
          </a:p>
          <a:p>
            <a:r>
              <a:rPr lang="en-US" dirty="0" smtClean="0"/>
              <a:t>Offset bits are used to identify the data</a:t>
            </a:r>
          </a:p>
          <a:p>
            <a:r>
              <a:rPr lang="en-US" dirty="0" smtClean="0"/>
              <a:t>[09] is at offset “</a:t>
            </a:r>
            <a:r>
              <a:rPr lang="en-US" b="1" dirty="0" smtClean="0"/>
              <a:t>01b or 1”</a:t>
            </a:r>
          </a:p>
          <a:p>
            <a:r>
              <a:rPr lang="en-US" dirty="0" smtClean="0"/>
              <a:t>[0A] is at offset “</a:t>
            </a:r>
            <a:r>
              <a:rPr lang="en-US" b="1" dirty="0" smtClean="0"/>
              <a:t>10b or 2” </a:t>
            </a:r>
            <a:r>
              <a:rPr lang="en-US" dirty="0" smtClean="0"/>
              <a:t>and so on</a:t>
            </a:r>
          </a:p>
        </p:txBody>
      </p:sp>
      <p:sp>
        <p:nvSpPr>
          <p:cNvPr id="12" name="Left Bracket 11"/>
          <p:cNvSpPr/>
          <p:nvPr/>
        </p:nvSpPr>
        <p:spPr>
          <a:xfrm>
            <a:off x="8410575" y="3227722"/>
            <a:ext cx="95250" cy="1417460"/>
          </a:xfrm>
          <a:prstGeom prst="leftBracket">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p:cNvCxnSpPr>
            <a:stCxn id="12" idx="1"/>
            <a:endCxn id="3" idx="3"/>
          </p:cNvCxnSpPr>
          <p:nvPr/>
        </p:nvCxnSpPr>
        <p:spPr>
          <a:xfrm flipH="1" flipV="1">
            <a:off x="6362700" y="3932676"/>
            <a:ext cx="2047875" cy="37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3530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Terminology</a:t>
            </a:r>
            <a:endParaRPr lang="en-US" dirty="0"/>
          </a:p>
        </p:txBody>
      </p:sp>
      <p:sp>
        <p:nvSpPr>
          <p:cNvPr id="3" name="Content Placeholder 2"/>
          <p:cNvSpPr>
            <a:spLocks noGrp="1"/>
          </p:cNvSpPr>
          <p:nvPr>
            <p:ph idx="1"/>
          </p:nvPr>
        </p:nvSpPr>
        <p:spPr/>
        <p:txBody>
          <a:bodyPr/>
          <a:lstStyle/>
          <a:p>
            <a:r>
              <a:rPr lang="en-US" b="1" dirty="0">
                <a:solidFill>
                  <a:srgbClr val="0070C0"/>
                </a:solidFill>
              </a:rPr>
              <a:t>Capacity (</a:t>
            </a:r>
            <a:r>
              <a:rPr lang="en-US" b="1" i="1" dirty="0">
                <a:solidFill>
                  <a:srgbClr val="0070C0"/>
                </a:solidFill>
              </a:rPr>
              <a:t>C</a:t>
            </a:r>
            <a:r>
              <a:rPr lang="en-US" b="1" dirty="0">
                <a:solidFill>
                  <a:srgbClr val="0070C0"/>
                </a:solidFill>
              </a:rPr>
              <a:t>): </a:t>
            </a:r>
          </a:p>
          <a:p>
            <a:pPr lvl="1"/>
            <a:r>
              <a:rPr lang="en-US" dirty="0"/>
              <a:t>number of data bytes in cache</a:t>
            </a:r>
          </a:p>
          <a:p>
            <a:r>
              <a:rPr lang="en-US" b="1" dirty="0">
                <a:solidFill>
                  <a:srgbClr val="0070C0"/>
                </a:solidFill>
              </a:rPr>
              <a:t>Block size (</a:t>
            </a:r>
            <a:r>
              <a:rPr lang="en-US" b="1" i="1" dirty="0">
                <a:solidFill>
                  <a:srgbClr val="0070C0"/>
                </a:solidFill>
              </a:rPr>
              <a:t>b</a:t>
            </a:r>
            <a:r>
              <a:rPr lang="en-US" b="1" dirty="0">
                <a:solidFill>
                  <a:srgbClr val="0070C0"/>
                </a:solidFill>
              </a:rPr>
              <a:t>): </a:t>
            </a:r>
          </a:p>
          <a:p>
            <a:pPr lvl="1"/>
            <a:r>
              <a:rPr lang="en-US" dirty="0"/>
              <a:t>bytes of data brought into cache at once</a:t>
            </a:r>
          </a:p>
          <a:p>
            <a:r>
              <a:rPr lang="en-US" b="1" dirty="0">
                <a:solidFill>
                  <a:srgbClr val="0070C0"/>
                </a:solidFill>
              </a:rPr>
              <a:t>Number of blocks (</a:t>
            </a:r>
            <a:r>
              <a:rPr lang="en-US" b="1" i="1" dirty="0">
                <a:solidFill>
                  <a:srgbClr val="0070C0"/>
                </a:solidFill>
              </a:rPr>
              <a:t>B = C/b</a:t>
            </a:r>
            <a:r>
              <a:rPr lang="en-US" b="1" dirty="0">
                <a:solidFill>
                  <a:srgbClr val="0070C0"/>
                </a:solidFill>
              </a:rPr>
              <a:t>): </a:t>
            </a:r>
          </a:p>
          <a:p>
            <a:pPr lvl="1"/>
            <a:r>
              <a:rPr lang="en-US" dirty="0"/>
              <a:t>number of blocks in cache: </a:t>
            </a:r>
            <a:r>
              <a:rPr lang="en-US" i="1" dirty="0"/>
              <a:t>B</a:t>
            </a:r>
            <a:r>
              <a:rPr lang="en-US" dirty="0"/>
              <a:t> = </a:t>
            </a:r>
            <a:r>
              <a:rPr lang="en-US" i="1" dirty="0"/>
              <a:t>C</a:t>
            </a:r>
            <a:r>
              <a:rPr lang="en-US" dirty="0"/>
              <a:t>/</a:t>
            </a:r>
            <a:r>
              <a:rPr lang="en-US" i="1" dirty="0"/>
              <a:t>b</a:t>
            </a:r>
          </a:p>
          <a:p>
            <a:r>
              <a:rPr lang="en-US" b="1" dirty="0">
                <a:solidFill>
                  <a:srgbClr val="0070C0"/>
                </a:solidFill>
              </a:rPr>
              <a:t>Degree of associativity (</a:t>
            </a:r>
            <a:r>
              <a:rPr lang="en-US" b="1" i="1" dirty="0">
                <a:solidFill>
                  <a:srgbClr val="0070C0"/>
                </a:solidFill>
              </a:rPr>
              <a:t>N</a:t>
            </a:r>
            <a:r>
              <a:rPr lang="en-US" b="1" dirty="0">
                <a:solidFill>
                  <a:srgbClr val="0070C0"/>
                </a:solidFill>
              </a:rPr>
              <a:t>): </a:t>
            </a:r>
          </a:p>
          <a:p>
            <a:pPr lvl="1"/>
            <a:r>
              <a:rPr lang="en-US" dirty="0"/>
              <a:t>number of blocks in a set</a:t>
            </a:r>
          </a:p>
          <a:p>
            <a:r>
              <a:rPr lang="en-US" b="1" dirty="0">
                <a:solidFill>
                  <a:srgbClr val="0070C0"/>
                </a:solidFill>
              </a:rPr>
              <a:t>Number of sets (</a:t>
            </a:r>
            <a:r>
              <a:rPr lang="en-US" b="1" i="1" dirty="0">
                <a:solidFill>
                  <a:srgbClr val="0070C0"/>
                </a:solidFill>
              </a:rPr>
              <a:t>S = B/N</a:t>
            </a:r>
            <a:r>
              <a:rPr lang="en-US" b="1" dirty="0">
                <a:solidFill>
                  <a:srgbClr val="0070C0"/>
                </a:solidFill>
              </a:rPr>
              <a:t>): </a:t>
            </a:r>
          </a:p>
          <a:p>
            <a:pPr lvl="1"/>
            <a:r>
              <a:rPr lang="en-US" dirty="0"/>
              <a:t>each memory address maps to exactly one cache set </a:t>
            </a:r>
          </a:p>
        </p:txBody>
      </p:sp>
    </p:spTree>
    <p:extLst>
      <p:ext uri="{BB962C8B-B14F-4D97-AF65-F5344CB8AC3E}">
        <p14:creationId xmlns:p14="http://schemas.microsoft.com/office/powerpoint/2010/main" val="2020566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Rectangle 15"/>
          <p:cNvSpPr/>
          <p:nvPr/>
        </p:nvSpPr>
        <p:spPr>
          <a:xfrm>
            <a:off x="9032590" y="1840301"/>
            <a:ext cx="3001818" cy="437952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ectangle 9"/>
          <p:cNvSpPr/>
          <p:nvPr/>
        </p:nvSpPr>
        <p:spPr>
          <a:xfrm>
            <a:off x="3250622" y="1840301"/>
            <a:ext cx="5578764" cy="437952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8" name="Rectangle 7"/>
          <p:cNvSpPr/>
          <p:nvPr/>
        </p:nvSpPr>
        <p:spPr>
          <a:xfrm>
            <a:off x="110259" y="1840345"/>
            <a:ext cx="3001818" cy="43794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smtClean="0"/>
              <a:t>Cache Types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033956329"/>
              </p:ext>
            </p:extLst>
          </p:nvPr>
        </p:nvGraphicFramePr>
        <p:xfrm>
          <a:off x="221095" y="2366049"/>
          <a:ext cx="2650836" cy="2926080"/>
        </p:xfrm>
        <a:graphic>
          <a:graphicData uri="http://schemas.openxmlformats.org/drawingml/2006/table">
            <a:tbl>
              <a:tblPr firstRow="1" bandRow="1">
                <a:tableStyleId>{D7AC3CCA-C797-4891-BE02-D94E43425B78}</a:tableStyleId>
              </a:tblPr>
              <a:tblGrid>
                <a:gridCol w="932873">
                  <a:extLst>
                    <a:ext uri="{9D8B030D-6E8A-4147-A177-3AD203B41FA5}">
                      <a16:colId xmlns="" xmlns:a16="http://schemas.microsoft.com/office/drawing/2014/main" val="315337734"/>
                    </a:ext>
                  </a:extLst>
                </a:gridCol>
                <a:gridCol w="1717963">
                  <a:extLst>
                    <a:ext uri="{9D8B030D-6E8A-4147-A177-3AD203B41FA5}">
                      <a16:colId xmlns="" xmlns:a16="http://schemas.microsoft.com/office/drawing/2014/main" val="506152577"/>
                    </a:ext>
                  </a:extLst>
                </a:gridCol>
              </a:tblGrid>
              <a:tr h="276033">
                <a:tc>
                  <a:txBody>
                    <a:bodyPr/>
                    <a:lstStyle/>
                    <a:p>
                      <a:r>
                        <a:rPr lang="en-US" b="0" dirty="0" smtClean="0"/>
                        <a:t>Set # 0</a:t>
                      </a:r>
                      <a:endParaRPr lang="en-US" b="0" dirty="0"/>
                    </a:p>
                  </a:txBody>
                  <a:tcPr/>
                </a:tc>
                <a:tc>
                  <a:txBody>
                    <a:bodyPr/>
                    <a:lstStyle/>
                    <a:p>
                      <a:endParaRPr lang="en-US" dirty="0"/>
                    </a:p>
                  </a:txBody>
                  <a:tcPr/>
                </a:tc>
                <a:extLst>
                  <a:ext uri="{0D108BD9-81ED-4DB2-BD59-A6C34878D82A}">
                    <a16:rowId xmlns="" xmlns:a16="http://schemas.microsoft.com/office/drawing/2014/main" val="3922182105"/>
                  </a:ext>
                </a:extLst>
              </a:tr>
              <a:tr h="276033">
                <a:tc>
                  <a:txBody>
                    <a:bodyPr/>
                    <a:lstStyle/>
                    <a:p>
                      <a:r>
                        <a:rPr lang="en-US" dirty="0" smtClean="0"/>
                        <a:t>Set # 1</a:t>
                      </a:r>
                      <a:endParaRPr lang="en-US" dirty="0"/>
                    </a:p>
                  </a:txBody>
                  <a:tcPr/>
                </a:tc>
                <a:tc>
                  <a:txBody>
                    <a:bodyPr/>
                    <a:lstStyle/>
                    <a:p>
                      <a:endParaRPr lang="en-US"/>
                    </a:p>
                  </a:txBody>
                  <a:tcPr/>
                </a:tc>
                <a:extLst>
                  <a:ext uri="{0D108BD9-81ED-4DB2-BD59-A6C34878D82A}">
                    <a16:rowId xmlns="" xmlns:a16="http://schemas.microsoft.com/office/drawing/2014/main" val="575521968"/>
                  </a:ext>
                </a:extLst>
              </a:tr>
              <a:tr h="276033">
                <a:tc>
                  <a:txBody>
                    <a:bodyPr/>
                    <a:lstStyle/>
                    <a:p>
                      <a:r>
                        <a:rPr lang="en-US" dirty="0" smtClean="0"/>
                        <a:t>Set # 2</a:t>
                      </a:r>
                      <a:endParaRPr lang="en-US" dirty="0"/>
                    </a:p>
                  </a:txBody>
                  <a:tcPr/>
                </a:tc>
                <a:tc>
                  <a:txBody>
                    <a:bodyPr/>
                    <a:lstStyle/>
                    <a:p>
                      <a:endParaRPr lang="en-US"/>
                    </a:p>
                  </a:txBody>
                  <a:tcPr/>
                </a:tc>
                <a:extLst>
                  <a:ext uri="{0D108BD9-81ED-4DB2-BD59-A6C34878D82A}">
                    <a16:rowId xmlns="" xmlns:a16="http://schemas.microsoft.com/office/drawing/2014/main" val="3728613582"/>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3</a:t>
                      </a:r>
                    </a:p>
                  </a:txBody>
                  <a:tcPr/>
                </a:tc>
                <a:tc>
                  <a:txBody>
                    <a:bodyPr/>
                    <a:lstStyle/>
                    <a:p>
                      <a:endParaRPr lang="en-US"/>
                    </a:p>
                  </a:txBody>
                  <a:tcPr/>
                </a:tc>
                <a:extLst>
                  <a:ext uri="{0D108BD9-81ED-4DB2-BD59-A6C34878D82A}">
                    <a16:rowId xmlns="" xmlns:a16="http://schemas.microsoft.com/office/drawing/2014/main" val="2373166044"/>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4</a:t>
                      </a:r>
                    </a:p>
                  </a:txBody>
                  <a:tcPr/>
                </a:tc>
                <a:tc>
                  <a:txBody>
                    <a:bodyPr/>
                    <a:lstStyle/>
                    <a:p>
                      <a:endParaRPr lang="en-US"/>
                    </a:p>
                  </a:txBody>
                  <a:tcPr/>
                </a:tc>
                <a:extLst>
                  <a:ext uri="{0D108BD9-81ED-4DB2-BD59-A6C34878D82A}">
                    <a16:rowId xmlns="" xmlns:a16="http://schemas.microsoft.com/office/drawing/2014/main" val="3488399509"/>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5</a:t>
                      </a:r>
                    </a:p>
                  </a:txBody>
                  <a:tcPr/>
                </a:tc>
                <a:tc>
                  <a:txBody>
                    <a:bodyPr/>
                    <a:lstStyle/>
                    <a:p>
                      <a:endParaRPr lang="en-US"/>
                    </a:p>
                  </a:txBody>
                  <a:tcPr/>
                </a:tc>
                <a:extLst>
                  <a:ext uri="{0D108BD9-81ED-4DB2-BD59-A6C34878D82A}">
                    <a16:rowId xmlns="" xmlns:a16="http://schemas.microsoft.com/office/drawing/2014/main" val="2912534776"/>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6</a:t>
                      </a:r>
                    </a:p>
                  </a:txBody>
                  <a:tcPr/>
                </a:tc>
                <a:tc>
                  <a:txBody>
                    <a:bodyPr/>
                    <a:lstStyle/>
                    <a:p>
                      <a:endParaRPr lang="en-US"/>
                    </a:p>
                  </a:txBody>
                  <a:tcPr/>
                </a:tc>
                <a:extLst>
                  <a:ext uri="{0D108BD9-81ED-4DB2-BD59-A6C34878D82A}">
                    <a16:rowId xmlns="" xmlns:a16="http://schemas.microsoft.com/office/drawing/2014/main" val="1538249937"/>
                  </a:ext>
                </a:extLst>
              </a:tr>
              <a:tr h="2760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7</a:t>
                      </a:r>
                    </a:p>
                  </a:txBody>
                  <a:tcPr/>
                </a:tc>
                <a:tc>
                  <a:txBody>
                    <a:bodyPr/>
                    <a:lstStyle/>
                    <a:p>
                      <a:endParaRPr lang="en-US" dirty="0"/>
                    </a:p>
                  </a:txBody>
                  <a:tcPr/>
                </a:tc>
                <a:extLst>
                  <a:ext uri="{0D108BD9-81ED-4DB2-BD59-A6C34878D82A}">
                    <a16:rowId xmlns="" xmlns:a16="http://schemas.microsoft.com/office/drawing/2014/main" val="15462124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92401035"/>
              </p:ext>
            </p:extLst>
          </p:nvPr>
        </p:nvGraphicFramePr>
        <p:xfrm>
          <a:off x="3282949" y="2366049"/>
          <a:ext cx="2650836" cy="2926080"/>
        </p:xfrm>
        <a:graphic>
          <a:graphicData uri="http://schemas.openxmlformats.org/drawingml/2006/table">
            <a:tbl>
              <a:tblPr firstRow="1" bandRow="1">
                <a:tableStyleId>{D7AC3CCA-C797-4891-BE02-D94E43425B78}</a:tableStyleId>
              </a:tblPr>
              <a:tblGrid>
                <a:gridCol w="932873">
                  <a:extLst>
                    <a:ext uri="{9D8B030D-6E8A-4147-A177-3AD203B41FA5}">
                      <a16:colId xmlns="" xmlns:a16="http://schemas.microsoft.com/office/drawing/2014/main" val="315337734"/>
                    </a:ext>
                  </a:extLst>
                </a:gridCol>
                <a:gridCol w="1717963">
                  <a:extLst>
                    <a:ext uri="{9D8B030D-6E8A-4147-A177-3AD203B41FA5}">
                      <a16:colId xmlns="" xmlns:a16="http://schemas.microsoft.com/office/drawing/2014/main" val="506152577"/>
                    </a:ext>
                  </a:extLst>
                </a:gridCol>
              </a:tblGrid>
              <a:tr h="321060">
                <a:tc rowSpan="2">
                  <a:txBody>
                    <a:bodyPr/>
                    <a:lstStyle/>
                    <a:p>
                      <a:endParaRPr lang="en-US" b="0" dirty="0" smtClean="0"/>
                    </a:p>
                    <a:p>
                      <a:r>
                        <a:rPr lang="en-US" b="0" dirty="0" smtClean="0"/>
                        <a:t>Set # 0</a:t>
                      </a:r>
                      <a:endParaRPr lang="en-US" b="0" dirty="0"/>
                    </a:p>
                  </a:txBody>
                  <a:tcPr/>
                </a:tc>
                <a:tc>
                  <a:txBody>
                    <a:bodyPr/>
                    <a:lstStyle/>
                    <a:p>
                      <a:endParaRPr lang="en-US" dirty="0"/>
                    </a:p>
                  </a:txBody>
                  <a:tcPr/>
                </a:tc>
                <a:extLst>
                  <a:ext uri="{0D108BD9-81ED-4DB2-BD59-A6C34878D82A}">
                    <a16:rowId xmlns="" xmlns:a16="http://schemas.microsoft.com/office/drawing/2014/main" val="3922182105"/>
                  </a:ext>
                </a:extLst>
              </a:tr>
              <a:tr h="321060">
                <a:tc vMerge="1">
                  <a:txBody>
                    <a:bodyPr/>
                    <a:lstStyle/>
                    <a:p>
                      <a:endParaRPr lang="en-US" dirty="0"/>
                    </a:p>
                  </a:txBody>
                  <a:tcPr/>
                </a:tc>
                <a:tc>
                  <a:txBody>
                    <a:bodyPr/>
                    <a:lstStyle/>
                    <a:p>
                      <a:endParaRPr lang="en-US"/>
                    </a:p>
                  </a:txBody>
                  <a:tcPr/>
                </a:tc>
                <a:extLst>
                  <a:ext uri="{0D108BD9-81ED-4DB2-BD59-A6C34878D82A}">
                    <a16:rowId xmlns="" xmlns:a16="http://schemas.microsoft.com/office/drawing/2014/main" val="575521968"/>
                  </a:ext>
                </a:extLst>
              </a:tr>
              <a:tr h="321060">
                <a:tc rowSpan="2">
                  <a:txBody>
                    <a:bodyPr/>
                    <a:lstStyle/>
                    <a:p>
                      <a:endParaRPr lang="en-US" dirty="0" smtClean="0"/>
                    </a:p>
                    <a:p>
                      <a:r>
                        <a:rPr lang="en-US" dirty="0" smtClean="0"/>
                        <a:t>Set # 1</a:t>
                      </a:r>
                      <a:endParaRPr lang="en-US" dirty="0"/>
                    </a:p>
                  </a:txBody>
                  <a:tcPr/>
                </a:tc>
                <a:tc>
                  <a:txBody>
                    <a:bodyPr/>
                    <a:lstStyle/>
                    <a:p>
                      <a:endParaRPr lang="en-US"/>
                    </a:p>
                  </a:txBody>
                  <a:tcPr/>
                </a:tc>
                <a:extLst>
                  <a:ext uri="{0D108BD9-81ED-4DB2-BD59-A6C34878D82A}">
                    <a16:rowId xmlns="" xmlns:a16="http://schemas.microsoft.com/office/drawing/2014/main" val="3728613582"/>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2373166044"/>
                  </a:ext>
                </a:extLst>
              </a:tr>
              <a:tr h="32106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2</a:t>
                      </a:r>
                    </a:p>
                  </a:txBody>
                  <a:tcPr/>
                </a:tc>
                <a:tc>
                  <a:txBody>
                    <a:bodyPr/>
                    <a:lstStyle/>
                    <a:p>
                      <a:endParaRPr lang="en-US"/>
                    </a:p>
                  </a:txBody>
                  <a:tcPr/>
                </a:tc>
                <a:extLst>
                  <a:ext uri="{0D108BD9-81ED-4DB2-BD59-A6C34878D82A}">
                    <a16:rowId xmlns="" xmlns:a16="http://schemas.microsoft.com/office/drawing/2014/main" val="3488399509"/>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2912534776"/>
                  </a:ext>
                </a:extLst>
              </a:tr>
              <a:tr h="321060">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3</a:t>
                      </a:r>
                    </a:p>
                  </a:txBody>
                  <a:tcPr/>
                </a:tc>
                <a:tc>
                  <a:txBody>
                    <a:bodyPr/>
                    <a:lstStyle/>
                    <a:p>
                      <a:endParaRPr lang="en-US"/>
                    </a:p>
                  </a:txBody>
                  <a:tcPr/>
                </a:tc>
                <a:extLst>
                  <a:ext uri="{0D108BD9-81ED-4DB2-BD59-A6C34878D82A}">
                    <a16:rowId xmlns="" xmlns:a16="http://schemas.microsoft.com/office/drawing/2014/main" val="1538249937"/>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dirty="0"/>
                    </a:p>
                  </a:txBody>
                  <a:tcPr/>
                </a:tc>
                <a:extLst>
                  <a:ext uri="{0D108BD9-81ED-4DB2-BD59-A6C34878D82A}">
                    <a16:rowId xmlns="" xmlns:a16="http://schemas.microsoft.com/office/drawing/2014/main" val="154621247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10027462"/>
              </p:ext>
            </p:extLst>
          </p:nvPr>
        </p:nvGraphicFramePr>
        <p:xfrm>
          <a:off x="9148040" y="2366049"/>
          <a:ext cx="2650836" cy="2984120"/>
        </p:xfrm>
        <a:graphic>
          <a:graphicData uri="http://schemas.openxmlformats.org/drawingml/2006/table">
            <a:tbl>
              <a:tblPr firstRow="1" bandRow="1">
                <a:tableStyleId>{D7AC3CCA-C797-4891-BE02-D94E43425B78}</a:tableStyleId>
              </a:tblPr>
              <a:tblGrid>
                <a:gridCol w="932873">
                  <a:extLst>
                    <a:ext uri="{9D8B030D-6E8A-4147-A177-3AD203B41FA5}">
                      <a16:colId xmlns="" xmlns:a16="http://schemas.microsoft.com/office/drawing/2014/main" val="315337734"/>
                    </a:ext>
                  </a:extLst>
                </a:gridCol>
                <a:gridCol w="1717963">
                  <a:extLst>
                    <a:ext uri="{9D8B030D-6E8A-4147-A177-3AD203B41FA5}">
                      <a16:colId xmlns="" xmlns:a16="http://schemas.microsoft.com/office/drawing/2014/main" val="506152577"/>
                    </a:ext>
                  </a:extLst>
                </a:gridCol>
              </a:tblGrid>
              <a:tr h="373015">
                <a:tc rowSpan="8">
                  <a:txBody>
                    <a:bodyPr/>
                    <a:lstStyle/>
                    <a:p>
                      <a:endParaRPr lang="en-US" b="0" dirty="0" smtClean="0"/>
                    </a:p>
                    <a:p>
                      <a:endParaRPr lang="en-US" b="0" dirty="0" smtClean="0"/>
                    </a:p>
                    <a:p>
                      <a:endParaRPr lang="en-US" b="0" dirty="0" smtClean="0"/>
                    </a:p>
                    <a:p>
                      <a:endParaRPr lang="en-US" b="0" dirty="0" smtClean="0"/>
                    </a:p>
                    <a:p>
                      <a:endParaRPr lang="en-US" b="0" dirty="0" smtClean="0"/>
                    </a:p>
                    <a:p>
                      <a:r>
                        <a:rPr lang="en-US" b="0" dirty="0" smtClean="0"/>
                        <a:t>Set # 0</a:t>
                      </a:r>
                      <a:endParaRPr lang="en-US" dirty="0" smtClean="0"/>
                    </a:p>
                  </a:txBody>
                  <a:tcPr/>
                </a:tc>
                <a:tc>
                  <a:txBody>
                    <a:bodyPr/>
                    <a:lstStyle/>
                    <a:p>
                      <a:endParaRPr lang="en-US" dirty="0"/>
                    </a:p>
                  </a:txBody>
                  <a:tcPr/>
                </a:tc>
                <a:extLst>
                  <a:ext uri="{0D108BD9-81ED-4DB2-BD59-A6C34878D82A}">
                    <a16:rowId xmlns="" xmlns:a16="http://schemas.microsoft.com/office/drawing/2014/main" val="3922182105"/>
                  </a:ext>
                </a:extLst>
              </a:tr>
              <a:tr h="373015">
                <a:tc vMerge="1">
                  <a:txBody>
                    <a:bodyPr/>
                    <a:lstStyle/>
                    <a:p>
                      <a:endParaRPr lang="en-US" dirty="0"/>
                    </a:p>
                  </a:txBody>
                  <a:tcPr/>
                </a:tc>
                <a:tc>
                  <a:txBody>
                    <a:bodyPr/>
                    <a:lstStyle/>
                    <a:p>
                      <a:endParaRPr lang="en-US"/>
                    </a:p>
                  </a:txBody>
                  <a:tcPr/>
                </a:tc>
                <a:extLst>
                  <a:ext uri="{0D108BD9-81ED-4DB2-BD59-A6C34878D82A}">
                    <a16:rowId xmlns="" xmlns:a16="http://schemas.microsoft.com/office/drawing/2014/main" val="575521968"/>
                  </a:ext>
                </a:extLst>
              </a:tr>
              <a:tr h="373015">
                <a:tc vMerge="1">
                  <a:txBody>
                    <a:bodyPr/>
                    <a:lstStyle/>
                    <a:p>
                      <a:endParaRPr lang="en-US" dirty="0"/>
                    </a:p>
                  </a:txBody>
                  <a:tcPr/>
                </a:tc>
                <a:tc>
                  <a:txBody>
                    <a:bodyPr/>
                    <a:lstStyle/>
                    <a:p>
                      <a:endParaRPr lang="en-US"/>
                    </a:p>
                  </a:txBody>
                  <a:tcPr/>
                </a:tc>
                <a:extLst>
                  <a:ext uri="{0D108BD9-81ED-4DB2-BD59-A6C34878D82A}">
                    <a16:rowId xmlns="" xmlns:a16="http://schemas.microsoft.com/office/drawing/2014/main" val="3728613582"/>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2373166044"/>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3488399509"/>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2912534776"/>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1538249937"/>
                  </a:ext>
                </a:extLst>
              </a:tr>
              <a:tr h="37301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dirty="0"/>
                    </a:p>
                  </a:txBody>
                  <a:tcPr/>
                </a:tc>
                <a:extLst>
                  <a:ext uri="{0D108BD9-81ED-4DB2-BD59-A6C34878D82A}">
                    <a16:rowId xmlns="" xmlns:a16="http://schemas.microsoft.com/office/drawing/2014/main" val="154621247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74582169"/>
              </p:ext>
            </p:extLst>
          </p:nvPr>
        </p:nvGraphicFramePr>
        <p:xfrm>
          <a:off x="6086186" y="2366049"/>
          <a:ext cx="2650836" cy="2926080"/>
        </p:xfrm>
        <a:graphic>
          <a:graphicData uri="http://schemas.openxmlformats.org/drawingml/2006/table">
            <a:tbl>
              <a:tblPr firstRow="1" bandRow="1">
                <a:tableStyleId>{D7AC3CCA-C797-4891-BE02-D94E43425B78}</a:tableStyleId>
              </a:tblPr>
              <a:tblGrid>
                <a:gridCol w="932873">
                  <a:extLst>
                    <a:ext uri="{9D8B030D-6E8A-4147-A177-3AD203B41FA5}">
                      <a16:colId xmlns="" xmlns:a16="http://schemas.microsoft.com/office/drawing/2014/main" val="315337734"/>
                    </a:ext>
                  </a:extLst>
                </a:gridCol>
                <a:gridCol w="1717963">
                  <a:extLst>
                    <a:ext uri="{9D8B030D-6E8A-4147-A177-3AD203B41FA5}">
                      <a16:colId xmlns="" xmlns:a16="http://schemas.microsoft.com/office/drawing/2014/main" val="506152577"/>
                    </a:ext>
                  </a:extLst>
                </a:gridCol>
              </a:tblGrid>
              <a:tr h="321060">
                <a:tc rowSpan="4">
                  <a:txBody>
                    <a:bodyPr/>
                    <a:lstStyle/>
                    <a:p>
                      <a:endParaRPr lang="en-US" b="0" dirty="0" smtClean="0"/>
                    </a:p>
                    <a:p>
                      <a:endParaRPr lang="en-US" b="0" dirty="0" smtClean="0"/>
                    </a:p>
                    <a:p>
                      <a:r>
                        <a:rPr lang="en-US" b="0" dirty="0" smtClean="0"/>
                        <a:t>Set # 0</a:t>
                      </a:r>
                      <a:endParaRPr lang="en-US" b="0" dirty="0"/>
                    </a:p>
                  </a:txBody>
                  <a:tcPr/>
                </a:tc>
                <a:tc>
                  <a:txBody>
                    <a:bodyPr/>
                    <a:lstStyle/>
                    <a:p>
                      <a:endParaRPr lang="en-US" dirty="0"/>
                    </a:p>
                  </a:txBody>
                  <a:tcPr/>
                </a:tc>
                <a:extLst>
                  <a:ext uri="{0D108BD9-81ED-4DB2-BD59-A6C34878D82A}">
                    <a16:rowId xmlns="" xmlns:a16="http://schemas.microsoft.com/office/drawing/2014/main" val="3922182105"/>
                  </a:ext>
                </a:extLst>
              </a:tr>
              <a:tr h="321060">
                <a:tc vMerge="1">
                  <a:txBody>
                    <a:bodyPr/>
                    <a:lstStyle/>
                    <a:p>
                      <a:endParaRPr lang="en-US" dirty="0"/>
                    </a:p>
                  </a:txBody>
                  <a:tcPr/>
                </a:tc>
                <a:tc>
                  <a:txBody>
                    <a:bodyPr/>
                    <a:lstStyle/>
                    <a:p>
                      <a:endParaRPr lang="en-US"/>
                    </a:p>
                  </a:txBody>
                  <a:tcPr/>
                </a:tc>
                <a:extLst>
                  <a:ext uri="{0D108BD9-81ED-4DB2-BD59-A6C34878D82A}">
                    <a16:rowId xmlns="" xmlns:a16="http://schemas.microsoft.com/office/drawing/2014/main" val="575521968"/>
                  </a:ext>
                </a:extLst>
              </a:tr>
              <a:tr h="321060">
                <a:tc vMerge="1">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728613582"/>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dirty="0"/>
                    </a:p>
                  </a:txBody>
                  <a:tcPr/>
                </a:tc>
                <a:extLst>
                  <a:ext uri="{0D108BD9-81ED-4DB2-BD59-A6C34878D82A}">
                    <a16:rowId xmlns="" xmlns:a16="http://schemas.microsoft.com/office/drawing/2014/main" val="2373166044"/>
                  </a:ext>
                </a:extLst>
              </a:tr>
              <a:tr h="321060">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 # 1</a:t>
                      </a:r>
                    </a:p>
                  </a:txBody>
                  <a:tcPr/>
                </a:tc>
                <a:tc>
                  <a:txBody>
                    <a:bodyPr/>
                    <a:lstStyle/>
                    <a:p>
                      <a:endParaRPr lang="en-US"/>
                    </a:p>
                  </a:txBody>
                  <a:tcPr/>
                </a:tc>
                <a:extLst>
                  <a:ext uri="{0D108BD9-81ED-4DB2-BD59-A6C34878D82A}">
                    <a16:rowId xmlns="" xmlns:a16="http://schemas.microsoft.com/office/drawing/2014/main" val="3488399509"/>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2912534776"/>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a:p>
                  </a:txBody>
                  <a:tcPr/>
                </a:tc>
                <a:extLst>
                  <a:ext uri="{0D108BD9-81ED-4DB2-BD59-A6C34878D82A}">
                    <a16:rowId xmlns="" xmlns:a16="http://schemas.microsoft.com/office/drawing/2014/main" val="1538249937"/>
                  </a:ext>
                </a:extLst>
              </a:tr>
              <a:tr h="3210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endParaRPr lang="en-US" dirty="0"/>
                    </a:p>
                  </a:txBody>
                  <a:tcPr/>
                </a:tc>
                <a:extLst>
                  <a:ext uri="{0D108BD9-81ED-4DB2-BD59-A6C34878D82A}">
                    <a16:rowId xmlns="" xmlns:a16="http://schemas.microsoft.com/office/drawing/2014/main" val="1546212474"/>
                  </a:ext>
                </a:extLst>
              </a:tr>
            </a:tbl>
          </a:graphicData>
        </a:graphic>
      </p:graphicFrame>
      <p:sp>
        <p:nvSpPr>
          <p:cNvPr id="9" name="TextBox 8"/>
          <p:cNvSpPr txBox="1"/>
          <p:nvPr/>
        </p:nvSpPr>
        <p:spPr>
          <a:xfrm>
            <a:off x="221095" y="1908465"/>
            <a:ext cx="2650836" cy="369332"/>
          </a:xfrm>
          <a:prstGeom prst="rect">
            <a:avLst/>
          </a:prstGeom>
          <a:noFill/>
        </p:spPr>
        <p:txBody>
          <a:bodyPr wrap="square" rtlCol="0">
            <a:spAutoFit/>
          </a:bodyPr>
          <a:lstStyle/>
          <a:p>
            <a:pPr algn="ctr"/>
            <a:r>
              <a:rPr lang="en-US" b="1" u="sng" dirty="0" smtClean="0">
                <a:latin typeface="+mj-lt"/>
              </a:rPr>
              <a:t>Direct Mapped Cache</a:t>
            </a:r>
            <a:endParaRPr lang="en-US" b="1" u="sng" dirty="0">
              <a:latin typeface="+mj-lt"/>
            </a:endParaRPr>
          </a:p>
        </p:txBody>
      </p:sp>
      <p:sp>
        <p:nvSpPr>
          <p:cNvPr id="12" name="TextBox 11"/>
          <p:cNvSpPr txBox="1"/>
          <p:nvPr/>
        </p:nvSpPr>
        <p:spPr>
          <a:xfrm>
            <a:off x="4782012" y="1884065"/>
            <a:ext cx="2650836" cy="369332"/>
          </a:xfrm>
          <a:prstGeom prst="rect">
            <a:avLst/>
          </a:prstGeom>
          <a:noFill/>
        </p:spPr>
        <p:txBody>
          <a:bodyPr wrap="square" rtlCol="0">
            <a:spAutoFit/>
          </a:bodyPr>
          <a:lstStyle/>
          <a:p>
            <a:pPr algn="ctr"/>
            <a:r>
              <a:rPr lang="en-US" b="1" u="sng" dirty="0" smtClean="0">
                <a:latin typeface="+mj-lt"/>
              </a:rPr>
              <a:t>N-way Associative Cache</a:t>
            </a:r>
            <a:endParaRPr lang="en-US" b="1" u="sng" dirty="0">
              <a:latin typeface="+mj-lt"/>
            </a:endParaRPr>
          </a:p>
        </p:txBody>
      </p:sp>
      <p:sp>
        <p:nvSpPr>
          <p:cNvPr id="17" name="TextBox 16"/>
          <p:cNvSpPr txBox="1"/>
          <p:nvPr/>
        </p:nvSpPr>
        <p:spPr>
          <a:xfrm>
            <a:off x="9148039" y="1884065"/>
            <a:ext cx="2650836" cy="369332"/>
          </a:xfrm>
          <a:prstGeom prst="rect">
            <a:avLst/>
          </a:prstGeom>
          <a:noFill/>
        </p:spPr>
        <p:txBody>
          <a:bodyPr wrap="square" rtlCol="0">
            <a:spAutoFit/>
          </a:bodyPr>
          <a:lstStyle/>
          <a:p>
            <a:pPr algn="ctr"/>
            <a:r>
              <a:rPr lang="en-US" b="1" u="sng" dirty="0" smtClean="0">
                <a:latin typeface="+mj-lt"/>
              </a:rPr>
              <a:t>Fully Associative Cache</a:t>
            </a:r>
            <a:endParaRPr lang="en-US" b="1" u="sng" dirty="0">
              <a:latin typeface="+mj-lt"/>
            </a:endParaRPr>
          </a:p>
        </p:txBody>
      </p:sp>
      <p:sp>
        <p:nvSpPr>
          <p:cNvPr id="18" name="TextBox 17"/>
          <p:cNvSpPr txBox="1"/>
          <p:nvPr/>
        </p:nvSpPr>
        <p:spPr>
          <a:xfrm>
            <a:off x="6095424" y="5296454"/>
            <a:ext cx="2701634" cy="369332"/>
          </a:xfrm>
          <a:prstGeom prst="rect">
            <a:avLst/>
          </a:prstGeom>
          <a:noFill/>
        </p:spPr>
        <p:txBody>
          <a:bodyPr wrap="square" rtlCol="0">
            <a:spAutoFit/>
          </a:bodyPr>
          <a:lstStyle/>
          <a:p>
            <a:pPr algn="ctr"/>
            <a:r>
              <a:rPr lang="en-US" b="1" u="sng" dirty="0" smtClean="0">
                <a:latin typeface="+mj-lt"/>
              </a:rPr>
              <a:t>Four-way Associative Cache</a:t>
            </a:r>
            <a:endParaRPr lang="en-US" b="1" u="sng" dirty="0">
              <a:latin typeface="+mj-lt"/>
            </a:endParaRPr>
          </a:p>
        </p:txBody>
      </p:sp>
      <p:sp>
        <p:nvSpPr>
          <p:cNvPr id="19" name="TextBox 18"/>
          <p:cNvSpPr txBox="1"/>
          <p:nvPr/>
        </p:nvSpPr>
        <p:spPr>
          <a:xfrm>
            <a:off x="3241384" y="5306460"/>
            <a:ext cx="2650836" cy="369332"/>
          </a:xfrm>
          <a:prstGeom prst="rect">
            <a:avLst/>
          </a:prstGeom>
          <a:noFill/>
        </p:spPr>
        <p:txBody>
          <a:bodyPr wrap="square" rtlCol="0">
            <a:spAutoFit/>
          </a:bodyPr>
          <a:lstStyle/>
          <a:p>
            <a:pPr algn="ctr"/>
            <a:r>
              <a:rPr lang="en-US" b="1" u="sng" dirty="0" smtClean="0">
                <a:latin typeface="+mj-lt"/>
              </a:rPr>
              <a:t>Two-way Associative Cache</a:t>
            </a:r>
          </a:p>
        </p:txBody>
      </p:sp>
      <p:sp>
        <p:nvSpPr>
          <p:cNvPr id="20" name="TextBox 19"/>
          <p:cNvSpPr txBox="1"/>
          <p:nvPr/>
        </p:nvSpPr>
        <p:spPr>
          <a:xfrm>
            <a:off x="161059" y="5292129"/>
            <a:ext cx="2650836" cy="923330"/>
          </a:xfrm>
          <a:prstGeom prst="rect">
            <a:avLst/>
          </a:prstGeom>
          <a:noFill/>
        </p:spPr>
        <p:txBody>
          <a:bodyPr wrap="square" rtlCol="0">
            <a:spAutoFit/>
          </a:bodyPr>
          <a:lstStyle/>
          <a:p>
            <a:pPr algn="ctr"/>
            <a:r>
              <a:rPr lang="en-US" b="1" u="sng" dirty="0" smtClean="0">
                <a:latin typeface="+mj-lt"/>
              </a:rPr>
              <a:t>One-way Associative Cache</a:t>
            </a:r>
          </a:p>
          <a:p>
            <a:pPr algn="ctr"/>
            <a:endParaRPr lang="en-US" b="1" u="sng" dirty="0">
              <a:latin typeface="+mj-lt"/>
            </a:endParaRPr>
          </a:p>
          <a:p>
            <a:pPr algn="ctr"/>
            <a:r>
              <a:rPr lang="en-US" b="1" dirty="0" smtClean="0">
                <a:latin typeface="+mj-lt"/>
              </a:rPr>
              <a:t>1 block per set</a:t>
            </a:r>
            <a:endParaRPr lang="en-US" b="1" dirty="0">
              <a:latin typeface="+mj-lt"/>
            </a:endParaRPr>
          </a:p>
        </p:txBody>
      </p:sp>
      <p:sp>
        <p:nvSpPr>
          <p:cNvPr id="21" name="TextBox 20"/>
          <p:cNvSpPr txBox="1"/>
          <p:nvPr/>
        </p:nvSpPr>
        <p:spPr>
          <a:xfrm>
            <a:off x="4608367" y="5846127"/>
            <a:ext cx="2650836" cy="369332"/>
          </a:xfrm>
          <a:prstGeom prst="rect">
            <a:avLst/>
          </a:prstGeom>
          <a:noFill/>
        </p:spPr>
        <p:txBody>
          <a:bodyPr wrap="square" rtlCol="0">
            <a:spAutoFit/>
          </a:bodyPr>
          <a:lstStyle/>
          <a:p>
            <a:pPr algn="ctr"/>
            <a:r>
              <a:rPr lang="en-US" b="1" dirty="0" smtClean="0">
                <a:latin typeface="+mj-lt"/>
              </a:rPr>
              <a:t>N blocks per set</a:t>
            </a:r>
          </a:p>
        </p:txBody>
      </p:sp>
      <p:sp>
        <p:nvSpPr>
          <p:cNvPr id="22" name="TextBox 21"/>
          <p:cNvSpPr txBox="1"/>
          <p:nvPr/>
        </p:nvSpPr>
        <p:spPr>
          <a:xfrm>
            <a:off x="9208081" y="5846127"/>
            <a:ext cx="2650836" cy="369332"/>
          </a:xfrm>
          <a:prstGeom prst="rect">
            <a:avLst/>
          </a:prstGeom>
          <a:noFill/>
        </p:spPr>
        <p:txBody>
          <a:bodyPr wrap="square" rtlCol="0">
            <a:spAutoFit/>
          </a:bodyPr>
          <a:lstStyle/>
          <a:p>
            <a:pPr algn="ctr"/>
            <a:r>
              <a:rPr lang="en-US" b="1" dirty="0" smtClean="0">
                <a:latin typeface="+mj-lt"/>
              </a:rPr>
              <a:t>All cache blocks in one set</a:t>
            </a:r>
          </a:p>
        </p:txBody>
      </p:sp>
    </p:spTree>
    <p:extLst>
      <p:ext uri="{BB962C8B-B14F-4D97-AF65-F5344CB8AC3E}">
        <p14:creationId xmlns:p14="http://schemas.microsoft.com/office/powerpoint/2010/main" val="6404693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Cache</a:t>
            </a:r>
            <a:endParaRPr lang="en-US" dirty="0"/>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a:t>
            </a:r>
            <a:r>
              <a:rPr lang="en-US" b="1" dirty="0" smtClean="0"/>
              <a:t> = 4B</a:t>
            </a:r>
          </a:p>
          <a:p>
            <a:r>
              <a:rPr lang="en-US" b="1" dirty="0" smtClean="0"/>
              <a:t>C = 64B</a:t>
            </a:r>
          </a:p>
          <a:p>
            <a:r>
              <a:rPr lang="en-US" b="1" dirty="0" smtClean="0"/>
              <a:t>N = 1 (Direct Mapped)</a:t>
            </a:r>
            <a:endParaRPr lang="en-US" b="1" dirty="0"/>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smtClean="0"/>
                  <a:t>B</a:t>
                </a:r>
                <a:r>
                  <a:rPr lang="en-US" dirty="0"/>
                  <a:t> = </a:t>
                </a:r>
                <a:r>
                  <a:rPr lang="en-US" i="1" dirty="0" smtClean="0"/>
                  <a:t>C</a:t>
                </a:r>
                <a:r>
                  <a:rPr lang="en-US" dirty="0" smtClean="0"/>
                  <a:t>/</a:t>
                </a:r>
                <a:r>
                  <a:rPr lang="en-US" i="1" dirty="0" smtClean="0"/>
                  <a:t>b = 16</a:t>
                </a:r>
                <a:endParaRPr lang="en-US" i="1" dirty="0"/>
              </a:p>
              <a:p>
                <a:r>
                  <a:rPr lang="en-US" dirty="0" smtClean="0"/>
                  <a:t>S = B/N = 16/1 = 16</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a:latin typeface="Cambria Math" panose="02040503050406030204" pitchFamily="18" charset="0"/>
                                </a:rPr>
                                <m:t>𝟒</m:t>
                              </m:r>
                            </m:e>
                          </m:func>
                        </m:e>
                      </m:func>
                      <m:r>
                        <a:rPr lang="en-US" b="1" i="1">
                          <a:latin typeface="Cambria Math" panose="02040503050406030204" pitchFamily="18" charset="0"/>
                        </a:rPr>
                        <m:t>=</m:t>
                      </m:r>
                      <m:r>
                        <a:rPr lang="en-US" b="1" i="1">
                          <a:latin typeface="Cambria Math" panose="02040503050406030204" pitchFamily="18" charset="0"/>
                        </a:rPr>
                        <m:t>𝟐</m:t>
                      </m:r>
                    </m:oMath>
                  </m:oMathPara>
                </a14:m>
                <a:endParaRPr lang="en-US"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𝟏𝟔</m:t>
                              </m:r>
                            </m:e>
                          </m:func>
                        </m:e>
                      </m:func>
                      <m:r>
                        <a:rPr lang="en-US" b="1" i="1">
                          <a:latin typeface="Cambria Math" panose="02040503050406030204" pitchFamily="18" charset="0"/>
                        </a:rPr>
                        <m:t>=</m:t>
                      </m:r>
                      <m:r>
                        <a:rPr lang="en-US" b="1" i="1" smtClean="0">
                          <a:latin typeface="Cambria Math" panose="02040503050406030204" pitchFamily="18" charset="0"/>
                        </a:rPr>
                        <m:t>𝟒</m:t>
                      </m:r>
                    </m:oMath>
                  </m:oMathPara>
                </a14:m>
                <a:endParaRPr lang="en-US" b="1" i="1" dirty="0" smtClean="0">
                  <a:latin typeface="Cambria Math" panose="02040503050406030204" pitchFamily="18" charset="0"/>
                </a:endParaRPr>
              </a:p>
              <a:p>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2084049174"/>
              </p:ext>
            </p:extLst>
          </p:nvPr>
        </p:nvGraphicFramePr>
        <p:xfrm>
          <a:off x="5676899" y="1863325"/>
          <a:ext cx="6143625" cy="4348480"/>
        </p:xfrm>
        <a:graphic>
          <a:graphicData uri="http://schemas.openxmlformats.org/drawingml/2006/table">
            <a:tbl>
              <a:tblPr firstRow="1" bandRow="1">
                <a:tableStyleId>{5940675A-B579-460E-94D1-54222C63F5DA}</a:tableStyleId>
              </a:tblPr>
              <a:tblGrid>
                <a:gridCol w="1695450">
                  <a:extLst>
                    <a:ext uri="{9D8B030D-6E8A-4147-A177-3AD203B41FA5}">
                      <a16:colId xmlns="" xmlns:a16="http://schemas.microsoft.com/office/drawing/2014/main" val="4284518099"/>
                    </a:ext>
                  </a:extLst>
                </a:gridCol>
                <a:gridCol w="1162050">
                  <a:extLst>
                    <a:ext uri="{9D8B030D-6E8A-4147-A177-3AD203B41FA5}">
                      <a16:colId xmlns="" xmlns:a16="http://schemas.microsoft.com/office/drawing/2014/main" val="1827225863"/>
                    </a:ext>
                  </a:extLst>
                </a:gridCol>
                <a:gridCol w="1257300">
                  <a:extLst>
                    <a:ext uri="{9D8B030D-6E8A-4147-A177-3AD203B41FA5}">
                      <a16:colId xmlns="" xmlns:a16="http://schemas.microsoft.com/office/drawing/2014/main" val="2625427107"/>
                    </a:ext>
                  </a:extLst>
                </a:gridCol>
                <a:gridCol w="1133475">
                  <a:extLst>
                    <a:ext uri="{9D8B030D-6E8A-4147-A177-3AD203B41FA5}">
                      <a16:colId xmlns="" xmlns:a16="http://schemas.microsoft.com/office/drawing/2014/main" val="3488845602"/>
                    </a:ext>
                  </a:extLst>
                </a:gridCol>
                <a:gridCol w="895350">
                  <a:extLst>
                    <a:ext uri="{9D8B030D-6E8A-4147-A177-3AD203B41FA5}">
                      <a16:colId xmlns="" xmlns:a16="http://schemas.microsoft.com/office/drawing/2014/main" val="1588356002"/>
                    </a:ext>
                  </a:extLst>
                </a:gridCol>
              </a:tblGrid>
              <a:tr h="370840">
                <a:tc>
                  <a:txBody>
                    <a:bodyPr/>
                    <a:lstStyle/>
                    <a:p>
                      <a:pPr algn="r"/>
                      <a:r>
                        <a:rPr lang="en-US" b="1" dirty="0" smtClean="0"/>
                        <a:t>Offset</a:t>
                      </a:r>
                    </a:p>
                    <a:p>
                      <a:pPr algn="l"/>
                      <a:r>
                        <a:rPr lang="en-US" b="1" dirty="0" smtClean="0"/>
                        <a:t>Sets </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solidFill>
                            <a:schemeClr val="tx1"/>
                          </a:solidFill>
                        </a:rPr>
                        <a:t>00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11</a:t>
                      </a:r>
                      <a:endParaRPr 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770381397"/>
                  </a:ext>
                </a:extLst>
              </a:tr>
              <a:tr h="370840">
                <a:tc>
                  <a:txBody>
                    <a:bodyPr/>
                    <a:lstStyle/>
                    <a:p>
                      <a:r>
                        <a:rPr lang="en-US" dirty="0" smtClean="0"/>
                        <a:t>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3308416522"/>
                  </a:ext>
                </a:extLst>
              </a:tr>
              <a:tr h="370840">
                <a:tc>
                  <a:txBody>
                    <a:bodyPr/>
                    <a:lstStyle/>
                    <a:p>
                      <a:r>
                        <a:rPr lang="en-US" dirty="0" smtClean="0"/>
                        <a:t>0001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160513756"/>
                  </a:ext>
                </a:extLst>
              </a:tr>
              <a:tr h="370840">
                <a:tc>
                  <a:txBody>
                    <a:bodyPr/>
                    <a:lstStyle/>
                    <a:p>
                      <a:r>
                        <a:rPr lang="en-US" dirty="0" smtClean="0"/>
                        <a:t>0010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4001583137"/>
                  </a:ext>
                </a:extLst>
              </a:tr>
              <a:tr h="370840">
                <a:tc>
                  <a:txBody>
                    <a:bodyPr/>
                    <a:lstStyle/>
                    <a:p>
                      <a:r>
                        <a:rPr lang="en-US" dirty="0" smtClean="0"/>
                        <a:t>0011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545779383"/>
                  </a:ext>
                </a:extLst>
              </a:tr>
              <a:tr h="370840">
                <a:tc>
                  <a:txBody>
                    <a:bodyPr/>
                    <a:lstStyle/>
                    <a:p>
                      <a:r>
                        <a:rPr lang="en-US" dirty="0" smtClean="0"/>
                        <a:t>0100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2864556862"/>
                  </a:ext>
                </a:extLst>
              </a:tr>
              <a:tr h="370840">
                <a:tc>
                  <a:txBody>
                    <a:bodyPr/>
                    <a:lstStyle/>
                    <a:p>
                      <a:r>
                        <a:rPr lang="en-US" dirty="0" smtClean="0"/>
                        <a:t>0101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704032231"/>
                  </a:ext>
                </a:extLst>
              </a:tr>
              <a:tr h="370840">
                <a:tc>
                  <a:txBody>
                    <a:bodyPr/>
                    <a:lstStyle/>
                    <a:p>
                      <a:r>
                        <a:rPr lang="en-US" dirty="0" smtClean="0"/>
                        <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801100617"/>
                  </a:ext>
                </a:extLst>
              </a:tr>
              <a:tr h="370840">
                <a:tc>
                  <a:txBody>
                    <a:bodyPr/>
                    <a:lstStyle/>
                    <a:p>
                      <a:r>
                        <a:rPr lang="en-US" dirty="0" smtClean="0"/>
                        <a:t>1101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345103397"/>
                  </a:ext>
                </a:extLst>
              </a:tr>
              <a:tr h="370840">
                <a:tc>
                  <a:txBody>
                    <a:bodyPr/>
                    <a:lstStyle/>
                    <a:p>
                      <a:r>
                        <a:rPr lang="en-US" dirty="0" smtClean="0"/>
                        <a:t>1110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2676058096"/>
                  </a:ext>
                </a:extLst>
              </a:tr>
              <a:tr h="370840">
                <a:tc>
                  <a:txBody>
                    <a:bodyPr/>
                    <a:lstStyle/>
                    <a:p>
                      <a:r>
                        <a:rPr lang="en-US" dirty="0" smtClean="0"/>
                        <a:t>1111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353223102"/>
                  </a:ext>
                </a:extLst>
              </a:tr>
            </a:tbl>
          </a:graphicData>
        </a:graphic>
      </p:graphicFrame>
    </p:spTree>
    <p:extLst>
      <p:ext uri="{BB962C8B-B14F-4D97-AF65-F5344CB8AC3E}">
        <p14:creationId xmlns:p14="http://schemas.microsoft.com/office/powerpoint/2010/main" val="24867987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Cache</a:t>
            </a:r>
            <a:endParaRPr lang="en-US" dirty="0"/>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a:t>
            </a:r>
            <a:r>
              <a:rPr lang="en-US" b="1" dirty="0" smtClean="0"/>
              <a:t> = 32B</a:t>
            </a:r>
          </a:p>
          <a:p>
            <a:r>
              <a:rPr lang="en-US" b="1" dirty="0" smtClean="0"/>
              <a:t>C = 128B</a:t>
            </a:r>
          </a:p>
          <a:p>
            <a:r>
              <a:rPr lang="en-US" b="1" dirty="0" smtClean="0"/>
              <a:t>N = 1 (Direct Mapped)</a:t>
            </a:r>
            <a:endParaRPr lang="en-US" b="1" dirty="0"/>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smtClean="0"/>
                  <a:t>B</a:t>
                </a:r>
                <a:r>
                  <a:rPr lang="en-US" dirty="0"/>
                  <a:t> = </a:t>
                </a:r>
                <a:r>
                  <a:rPr lang="en-US" i="1" dirty="0" smtClean="0"/>
                  <a:t>C</a:t>
                </a:r>
                <a:r>
                  <a:rPr lang="en-US" dirty="0" smtClean="0"/>
                  <a:t>/</a:t>
                </a:r>
                <a:r>
                  <a:rPr lang="en-US" i="1" dirty="0" smtClean="0"/>
                  <a:t>b = 128/32 =4</a:t>
                </a:r>
                <a:endParaRPr lang="en-US" i="1" dirty="0"/>
              </a:p>
              <a:p>
                <a:r>
                  <a:rPr lang="en-US" dirty="0" smtClean="0"/>
                  <a:t>S = B/N = 4/1 = 4</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𝟑𝟐</m:t>
                              </m:r>
                            </m:e>
                          </m:func>
                        </m:e>
                      </m:func>
                      <m:r>
                        <a:rPr lang="en-US" b="1" i="1">
                          <a:latin typeface="Cambria Math" panose="02040503050406030204" pitchFamily="18" charset="0"/>
                        </a:rPr>
                        <m:t>=</m:t>
                      </m:r>
                      <m:r>
                        <a:rPr lang="en-US" b="1" i="1" smtClean="0">
                          <a:latin typeface="Cambria Math" panose="02040503050406030204" pitchFamily="18" charset="0"/>
                        </a:rPr>
                        <m:t>𝟓</m:t>
                      </m:r>
                    </m:oMath>
                  </m:oMathPara>
                </a14:m>
                <a:endParaRPr lang="en-US"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𝟒</m:t>
                              </m:r>
                            </m:e>
                          </m:func>
                        </m:e>
                      </m:func>
                      <m:r>
                        <a:rPr lang="en-US" b="1" i="1">
                          <a:latin typeface="Cambria Math" panose="02040503050406030204" pitchFamily="18" charset="0"/>
                        </a:rPr>
                        <m:t>=</m:t>
                      </m:r>
                      <m:r>
                        <a:rPr lang="en-US" b="1" i="1" smtClean="0">
                          <a:latin typeface="Cambria Math" panose="02040503050406030204" pitchFamily="18" charset="0"/>
                        </a:rPr>
                        <m:t>𝟐</m:t>
                      </m:r>
                    </m:oMath>
                  </m:oMathPara>
                </a14:m>
                <a:endParaRPr lang="en-US" b="1" i="1" dirty="0" smtClean="0">
                  <a:latin typeface="Cambria Math" panose="02040503050406030204" pitchFamily="18" charset="0"/>
                </a:endParaRPr>
              </a:p>
              <a:p>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1970211013"/>
              </p:ext>
            </p:extLst>
          </p:nvPr>
        </p:nvGraphicFramePr>
        <p:xfrm>
          <a:off x="5210174" y="1863325"/>
          <a:ext cx="6858000" cy="2123440"/>
        </p:xfrm>
        <a:graphic>
          <a:graphicData uri="http://schemas.openxmlformats.org/drawingml/2006/table">
            <a:tbl>
              <a:tblPr firstRow="1" bandRow="1">
                <a:tableStyleId>{5940675A-B579-460E-94D1-54222C63F5DA}</a:tableStyleId>
              </a:tblPr>
              <a:tblGrid>
                <a:gridCol w="1465456">
                  <a:extLst>
                    <a:ext uri="{9D8B030D-6E8A-4147-A177-3AD203B41FA5}">
                      <a16:colId xmlns="" xmlns:a16="http://schemas.microsoft.com/office/drawing/2014/main" val="4284518099"/>
                    </a:ext>
                  </a:extLst>
                </a:gridCol>
                <a:gridCol w="1004413">
                  <a:extLst>
                    <a:ext uri="{9D8B030D-6E8A-4147-A177-3AD203B41FA5}">
                      <a16:colId xmlns="" xmlns:a16="http://schemas.microsoft.com/office/drawing/2014/main" val="1827225863"/>
                    </a:ext>
                  </a:extLst>
                </a:gridCol>
                <a:gridCol w="1086742">
                  <a:extLst>
                    <a:ext uri="{9D8B030D-6E8A-4147-A177-3AD203B41FA5}">
                      <a16:colId xmlns="" xmlns:a16="http://schemas.microsoft.com/office/drawing/2014/main" val="2625427107"/>
                    </a:ext>
                  </a:extLst>
                </a:gridCol>
                <a:gridCol w="979713">
                  <a:extLst>
                    <a:ext uri="{9D8B030D-6E8A-4147-A177-3AD203B41FA5}">
                      <a16:colId xmlns="" xmlns:a16="http://schemas.microsoft.com/office/drawing/2014/main" val="3488845602"/>
                    </a:ext>
                  </a:extLst>
                </a:gridCol>
                <a:gridCol w="773892">
                  <a:extLst>
                    <a:ext uri="{9D8B030D-6E8A-4147-A177-3AD203B41FA5}">
                      <a16:colId xmlns="" xmlns:a16="http://schemas.microsoft.com/office/drawing/2014/main" val="1588356002"/>
                    </a:ext>
                  </a:extLst>
                </a:gridCol>
                <a:gridCol w="773892">
                  <a:extLst>
                    <a:ext uri="{9D8B030D-6E8A-4147-A177-3AD203B41FA5}">
                      <a16:colId xmlns="" xmlns:a16="http://schemas.microsoft.com/office/drawing/2014/main" val="3213944163"/>
                    </a:ext>
                  </a:extLst>
                </a:gridCol>
                <a:gridCol w="773892">
                  <a:extLst>
                    <a:ext uri="{9D8B030D-6E8A-4147-A177-3AD203B41FA5}">
                      <a16:colId xmlns="" xmlns:a16="http://schemas.microsoft.com/office/drawing/2014/main" val="1788595063"/>
                    </a:ext>
                  </a:extLst>
                </a:gridCol>
              </a:tblGrid>
              <a:tr h="370840">
                <a:tc>
                  <a:txBody>
                    <a:bodyPr/>
                    <a:lstStyle/>
                    <a:p>
                      <a:pPr algn="r"/>
                      <a:r>
                        <a:rPr lang="en-US" b="1" dirty="0" smtClean="0"/>
                        <a:t>Offset</a:t>
                      </a:r>
                    </a:p>
                    <a:p>
                      <a:pPr algn="l"/>
                      <a:r>
                        <a:rPr lang="en-US" b="1" dirty="0" smtClean="0"/>
                        <a:t>Sets </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solidFill>
                            <a:schemeClr val="tx1"/>
                          </a:solidFill>
                        </a:rPr>
                        <a:t>00000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00001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00010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11110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11111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770381397"/>
                  </a:ext>
                </a:extLst>
              </a:tr>
              <a:tr h="370840">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3308416522"/>
                  </a:ext>
                </a:extLst>
              </a:tr>
              <a:tr h="370840">
                <a:tc>
                  <a:txBody>
                    <a:bodyPr/>
                    <a:lstStyle/>
                    <a:p>
                      <a:r>
                        <a:rPr lang="en-US" dirty="0" smtClean="0"/>
                        <a:t>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160513756"/>
                  </a:ext>
                </a:extLst>
              </a:tr>
              <a:tr h="370840">
                <a:tc>
                  <a:txBody>
                    <a:bodyPr/>
                    <a:lstStyle/>
                    <a:p>
                      <a:r>
                        <a:rPr lang="en-US" dirty="0" smtClean="0"/>
                        <a:t>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4001583137"/>
                  </a:ext>
                </a:extLst>
              </a:tr>
              <a:tr h="370840">
                <a:tc>
                  <a:txBody>
                    <a:bodyPr/>
                    <a:lstStyle/>
                    <a:p>
                      <a:r>
                        <a:rPr lang="en-US" dirty="0" smtClean="0"/>
                        <a:t>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545779383"/>
                  </a:ext>
                </a:extLst>
              </a:tr>
            </a:tbl>
          </a:graphicData>
        </a:graphic>
      </p:graphicFrame>
    </p:spTree>
    <p:extLst>
      <p:ext uri="{BB962C8B-B14F-4D97-AF65-F5344CB8AC3E}">
        <p14:creationId xmlns:p14="http://schemas.microsoft.com/office/powerpoint/2010/main" val="33346879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Cache</a:t>
            </a:r>
            <a:endParaRPr lang="en-US" dirty="0"/>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a:t>
            </a:r>
            <a:r>
              <a:rPr lang="en-US" b="1" dirty="0" smtClean="0"/>
              <a:t> = 4B</a:t>
            </a:r>
          </a:p>
          <a:p>
            <a:r>
              <a:rPr lang="en-US" b="1" dirty="0" smtClean="0"/>
              <a:t>C = 32B</a:t>
            </a:r>
          </a:p>
          <a:p>
            <a:r>
              <a:rPr lang="en-US" b="1" dirty="0" smtClean="0"/>
              <a:t>N = 4 (4-way associative)</a:t>
            </a:r>
            <a:endParaRPr lang="en-US" b="1" dirty="0"/>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smtClean="0"/>
                  <a:t>B</a:t>
                </a:r>
                <a:r>
                  <a:rPr lang="en-US" dirty="0"/>
                  <a:t> = </a:t>
                </a:r>
                <a:r>
                  <a:rPr lang="en-US" i="1" dirty="0" smtClean="0"/>
                  <a:t>C</a:t>
                </a:r>
                <a:r>
                  <a:rPr lang="en-US" dirty="0" smtClean="0"/>
                  <a:t>/</a:t>
                </a:r>
                <a:r>
                  <a:rPr lang="en-US" i="1" dirty="0" smtClean="0"/>
                  <a:t>b = 32/4 =8</a:t>
                </a:r>
                <a:endParaRPr lang="en-US" i="1" dirty="0"/>
              </a:p>
              <a:p>
                <a:r>
                  <a:rPr lang="en-US" dirty="0" smtClean="0"/>
                  <a:t>S = B/N = 8/4 = 2</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𝟒</m:t>
                              </m:r>
                            </m:e>
                          </m:func>
                        </m:e>
                      </m:func>
                      <m:r>
                        <a:rPr lang="en-US" b="1" i="1">
                          <a:latin typeface="Cambria Math" panose="02040503050406030204" pitchFamily="18" charset="0"/>
                        </a:rPr>
                        <m:t>=</m:t>
                      </m:r>
                      <m:r>
                        <a:rPr lang="en-US" b="1" i="1" smtClean="0">
                          <a:latin typeface="Cambria Math" panose="02040503050406030204" pitchFamily="18" charset="0"/>
                        </a:rPr>
                        <m:t>𝟐</m:t>
                      </m:r>
                    </m:oMath>
                  </m:oMathPara>
                </a14:m>
                <a:endParaRPr lang="en-US"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𝟐</m:t>
                              </m:r>
                            </m:e>
                          </m:func>
                        </m:e>
                      </m:func>
                      <m:r>
                        <a:rPr lang="en-US" b="1" i="1">
                          <a:latin typeface="Cambria Math" panose="02040503050406030204" pitchFamily="18" charset="0"/>
                        </a:rPr>
                        <m:t>=</m:t>
                      </m:r>
                      <m:r>
                        <a:rPr lang="en-US" b="1" i="1" smtClean="0">
                          <a:latin typeface="Cambria Math" panose="02040503050406030204" pitchFamily="18" charset="0"/>
                        </a:rPr>
                        <m:t>𝟏</m:t>
                      </m:r>
                    </m:oMath>
                  </m:oMathPara>
                </a14:m>
                <a:endParaRPr lang="en-US" b="1" i="1" dirty="0" smtClean="0">
                  <a:latin typeface="Cambria Math" panose="02040503050406030204" pitchFamily="18" charset="0"/>
                </a:endParaRPr>
              </a:p>
              <a:p>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347133492"/>
              </p:ext>
            </p:extLst>
          </p:nvPr>
        </p:nvGraphicFramePr>
        <p:xfrm>
          <a:off x="5210174" y="1863325"/>
          <a:ext cx="6143625" cy="3606800"/>
        </p:xfrm>
        <a:graphic>
          <a:graphicData uri="http://schemas.openxmlformats.org/drawingml/2006/table">
            <a:tbl>
              <a:tblPr firstRow="1" bandRow="1">
                <a:tableStyleId>{5940675A-B579-460E-94D1-54222C63F5DA}</a:tableStyleId>
              </a:tblPr>
              <a:tblGrid>
                <a:gridCol w="1695451">
                  <a:extLst>
                    <a:ext uri="{9D8B030D-6E8A-4147-A177-3AD203B41FA5}">
                      <a16:colId xmlns="" xmlns:a16="http://schemas.microsoft.com/office/drawing/2014/main" val="4284518099"/>
                    </a:ext>
                  </a:extLst>
                </a:gridCol>
                <a:gridCol w="1162050">
                  <a:extLst>
                    <a:ext uri="{9D8B030D-6E8A-4147-A177-3AD203B41FA5}">
                      <a16:colId xmlns="" xmlns:a16="http://schemas.microsoft.com/office/drawing/2014/main" val="1827225863"/>
                    </a:ext>
                  </a:extLst>
                </a:gridCol>
                <a:gridCol w="1257300">
                  <a:extLst>
                    <a:ext uri="{9D8B030D-6E8A-4147-A177-3AD203B41FA5}">
                      <a16:colId xmlns="" xmlns:a16="http://schemas.microsoft.com/office/drawing/2014/main" val="2625427107"/>
                    </a:ext>
                  </a:extLst>
                </a:gridCol>
                <a:gridCol w="1133474">
                  <a:extLst>
                    <a:ext uri="{9D8B030D-6E8A-4147-A177-3AD203B41FA5}">
                      <a16:colId xmlns="" xmlns:a16="http://schemas.microsoft.com/office/drawing/2014/main" val="3488845602"/>
                    </a:ext>
                  </a:extLst>
                </a:gridCol>
                <a:gridCol w="895350">
                  <a:extLst>
                    <a:ext uri="{9D8B030D-6E8A-4147-A177-3AD203B41FA5}">
                      <a16:colId xmlns="" xmlns:a16="http://schemas.microsoft.com/office/drawing/2014/main" val="1588356002"/>
                    </a:ext>
                  </a:extLst>
                </a:gridCol>
              </a:tblGrid>
              <a:tr h="370840">
                <a:tc>
                  <a:txBody>
                    <a:bodyPr/>
                    <a:lstStyle/>
                    <a:p>
                      <a:pPr algn="r"/>
                      <a:r>
                        <a:rPr lang="en-US" b="1" dirty="0" smtClean="0"/>
                        <a:t>Offset</a:t>
                      </a:r>
                    </a:p>
                    <a:p>
                      <a:pPr algn="l"/>
                      <a:r>
                        <a:rPr lang="en-US" b="1" dirty="0" smtClean="0"/>
                        <a:t>Sets </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solidFill>
                            <a:schemeClr val="tx1"/>
                          </a:solidFill>
                        </a:rPr>
                        <a:t>00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770381397"/>
                  </a:ext>
                </a:extLst>
              </a:tr>
              <a:tr h="370840">
                <a:tc rowSpan="4">
                  <a:txBody>
                    <a:bodyPr/>
                    <a:lstStyle/>
                    <a:p>
                      <a:endParaRPr lang="en-US" dirty="0" smtClean="0"/>
                    </a:p>
                    <a:p>
                      <a:endParaRPr lang="en-US" dirty="0" smtClean="0"/>
                    </a:p>
                    <a:p>
                      <a:r>
                        <a:rPr lang="en-US" dirty="0" smtClean="0"/>
                        <a:t>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3308416522"/>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160513756"/>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4001583137"/>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545779383"/>
                  </a:ext>
                </a:extLst>
              </a:tr>
              <a:tr h="370840">
                <a:tc rowSpan="4">
                  <a:txBody>
                    <a:bodyPr/>
                    <a:lstStyle/>
                    <a:p>
                      <a:endParaRPr lang="en-US" dirty="0" smtClean="0"/>
                    </a:p>
                    <a:p>
                      <a:endParaRPr lang="en-US" dirty="0" smtClean="0"/>
                    </a:p>
                    <a:p>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7336905"/>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3918555806"/>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4042699081"/>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722201552"/>
                  </a:ext>
                </a:extLst>
              </a:tr>
            </a:tbl>
          </a:graphicData>
        </a:graphic>
      </p:graphicFrame>
    </p:spTree>
    <p:extLst>
      <p:ext uri="{BB962C8B-B14F-4D97-AF65-F5344CB8AC3E}">
        <p14:creationId xmlns:p14="http://schemas.microsoft.com/office/powerpoint/2010/main" val="7373389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Cache</a:t>
            </a:r>
            <a:endParaRPr lang="en-US" dirty="0"/>
          </a:p>
        </p:txBody>
      </p:sp>
      <p:sp>
        <p:nvSpPr>
          <p:cNvPr id="3" name="TextBox 2"/>
          <p:cNvSpPr txBox="1"/>
          <p:nvPr/>
        </p:nvSpPr>
        <p:spPr>
          <a:xfrm>
            <a:off x="1181099" y="1863325"/>
            <a:ext cx="2581275" cy="923330"/>
          </a:xfrm>
          <a:prstGeom prst="rect">
            <a:avLst/>
          </a:prstGeom>
          <a:noFill/>
        </p:spPr>
        <p:txBody>
          <a:bodyPr wrap="square" rtlCol="0">
            <a:spAutoFit/>
          </a:bodyPr>
          <a:lstStyle/>
          <a:p>
            <a:r>
              <a:rPr lang="en-US" b="1" dirty="0"/>
              <a:t>b</a:t>
            </a:r>
            <a:r>
              <a:rPr lang="en-US" b="1" dirty="0" smtClean="0"/>
              <a:t> = 8B</a:t>
            </a:r>
          </a:p>
          <a:p>
            <a:r>
              <a:rPr lang="en-US" b="1" dirty="0" smtClean="0"/>
              <a:t>Full Associative Cache</a:t>
            </a:r>
          </a:p>
          <a:p>
            <a:r>
              <a:rPr lang="en-US" b="1" dirty="0" smtClean="0"/>
              <a:t>Single set with 4-ways</a:t>
            </a:r>
            <a:endParaRPr lang="en-US" b="1" dirty="0"/>
          </a:p>
        </p:txBody>
      </p:sp>
      <mc:AlternateContent xmlns:mc="http://schemas.openxmlformats.org/markup-compatibility/2006" xmlns:a14="http://schemas.microsoft.com/office/drawing/2010/main">
        <mc:Choice Requires="a14">
          <p:sp>
            <p:nvSpPr>
              <p:cNvPr id="4" name="TextBox 3"/>
              <p:cNvSpPr txBox="1"/>
              <p:nvPr/>
            </p:nvSpPr>
            <p:spPr>
              <a:xfrm>
                <a:off x="1181098" y="3320650"/>
                <a:ext cx="4495801" cy="2308324"/>
              </a:xfrm>
              <a:prstGeom prst="rect">
                <a:avLst/>
              </a:prstGeom>
              <a:noFill/>
            </p:spPr>
            <p:txBody>
              <a:bodyPr wrap="square" rtlCol="0">
                <a:spAutoFit/>
              </a:bodyPr>
              <a:lstStyle/>
              <a:p>
                <a:pPr marL="0" lvl="1"/>
                <a:r>
                  <a:rPr lang="en-US" i="1" dirty="0" smtClean="0"/>
                  <a:t>C = 8B * 4 (ways) = 32B</a:t>
                </a:r>
              </a:p>
              <a:p>
                <a:pPr marL="0" lvl="1"/>
                <a:r>
                  <a:rPr lang="en-US" i="1" dirty="0" smtClean="0"/>
                  <a:t>B</a:t>
                </a:r>
                <a:r>
                  <a:rPr lang="en-US" dirty="0" smtClean="0"/>
                  <a:t> </a:t>
                </a:r>
                <a:r>
                  <a:rPr lang="en-US" dirty="0"/>
                  <a:t>= </a:t>
                </a:r>
                <a:r>
                  <a:rPr lang="en-US" i="1" dirty="0" smtClean="0"/>
                  <a:t>C</a:t>
                </a:r>
                <a:r>
                  <a:rPr lang="en-US" dirty="0" smtClean="0"/>
                  <a:t>/</a:t>
                </a:r>
                <a:r>
                  <a:rPr lang="en-US" i="1" dirty="0" smtClean="0"/>
                  <a:t>b = 32/8 = 4</a:t>
                </a:r>
                <a:endParaRPr lang="en-US" i="1" dirty="0"/>
              </a:p>
              <a:p>
                <a:r>
                  <a:rPr lang="en-US" dirty="0" smtClean="0"/>
                  <a:t>S = B/N = 4/4 = 1</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𝑶𝒇𝒇𝒔𝒆𝒕</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a:latin typeface="Cambria Math" panose="02040503050406030204" pitchFamily="18" charset="0"/>
                            </a:rPr>
                            <m:t>𝒃</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𝟖</m:t>
                              </m:r>
                            </m:e>
                          </m:func>
                        </m:e>
                      </m:func>
                      <m:r>
                        <a:rPr lang="en-US" b="1" i="1">
                          <a:latin typeface="Cambria Math" panose="02040503050406030204" pitchFamily="18" charset="0"/>
                        </a:rPr>
                        <m:t>=</m:t>
                      </m:r>
                      <m:r>
                        <a:rPr lang="en-US" b="1" i="1" smtClean="0">
                          <a:latin typeface="Cambria Math" panose="02040503050406030204" pitchFamily="18" charset="0"/>
                        </a:rPr>
                        <m:t>𝟑</m:t>
                      </m:r>
                    </m:oMath>
                  </m:oMathPara>
                </a14:m>
                <a:endParaRPr lang="en-US"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𝑺𝒆𝒕</m:t>
                      </m:r>
                      <m:r>
                        <a:rPr lang="en-US" b="1" i="1" smtClean="0">
                          <a:latin typeface="Cambria Math" panose="02040503050406030204" pitchFamily="18" charset="0"/>
                        </a:rPr>
                        <m:t>/</m:t>
                      </m:r>
                      <m:r>
                        <a:rPr lang="en-US" b="1" i="1" smtClean="0">
                          <a:latin typeface="Cambria Math" panose="02040503050406030204" pitchFamily="18" charset="0"/>
                        </a:rPr>
                        <m:t>𝒊𝒏𝒅𝒆𝒙</m:t>
                      </m:r>
                      <m:r>
                        <a:rPr lang="en-US" b="1" i="1">
                          <a:latin typeface="Cambria Math" panose="02040503050406030204" pitchFamily="18" charset="0"/>
                        </a:rPr>
                        <m:t> </m:t>
                      </m:r>
                      <m:r>
                        <a:rPr lang="en-US" b="1" i="1">
                          <a:latin typeface="Cambria Math" panose="02040503050406030204" pitchFamily="18" charset="0"/>
                        </a:rPr>
                        <m:t>𝒃𝒊𝒕𝒔</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b="1" i="1" smtClean="0">
                              <a:latin typeface="Cambria Math" panose="02040503050406030204" pitchFamily="18" charset="0"/>
                            </a:rPr>
                            <m:t>𝑺</m:t>
                          </m:r>
                          <m:r>
                            <a:rPr lang="en-US" b="1" i="1">
                              <a:latin typeface="Cambria Math" panose="02040503050406030204" pitchFamily="18" charset="0"/>
                            </a:rPr>
                            <m:t>= </m:t>
                          </m:r>
                          <m:func>
                            <m:funcPr>
                              <m:ctrlPr>
                                <a:rPr lang="en-US" b="1" i="1">
                                  <a:latin typeface="Cambria Math"/>
                                </a:rPr>
                              </m:ctrlPr>
                            </m:funcPr>
                            <m:fName>
                              <m:sSub>
                                <m:sSubPr>
                                  <m:ctrlPr>
                                    <a:rPr lang="en-US" b="1" i="1">
                                      <a:latin typeface="Cambria Math"/>
                                    </a:rPr>
                                  </m:ctrlPr>
                                </m:sSubPr>
                                <m:e>
                                  <m:r>
                                    <m:rPr>
                                      <m:sty m:val="p"/>
                                    </m:rPr>
                                    <a:rPr lang="en-US">
                                      <a:latin typeface="Cambria Math" panose="02040503050406030204" pitchFamily="18" charset="0"/>
                                    </a:rPr>
                                    <m:t>log</m:t>
                                  </m:r>
                                </m:e>
                                <m:sub>
                                  <m:r>
                                    <a:rPr lang="en-US" b="1" i="1">
                                      <a:latin typeface="Cambria Math" panose="02040503050406030204" pitchFamily="18" charset="0"/>
                                    </a:rPr>
                                    <m:t>𝟐</m:t>
                                  </m:r>
                                </m:sub>
                              </m:sSub>
                            </m:fName>
                            <m:e>
                              <m:r>
                                <a:rPr lang="en-US" b="1" i="1" smtClean="0">
                                  <a:latin typeface="Cambria Math" panose="02040503050406030204" pitchFamily="18" charset="0"/>
                                </a:rPr>
                                <m:t>𝟏</m:t>
                              </m:r>
                            </m:e>
                          </m:func>
                        </m:e>
                      </m:func>
                      <m:r>
                        <a:rPr lang="en-US" b="1" i="1">
                          <a:latin typeface="Cambria Math" panose="02040503050406030204" pitchFamily="18" charset="0"/>
                        </a:rPr>
                        <m:t>=</m:t>
                      </m:r>
                      <m:r>
                        <a:rPr lang="en-US" b="1" i="1" smtClean="0">
                          <a:latin typeface="Cambria Math" panose="02040503050406030204" pitchFamily="18" charset="0"/>
                        </a:rPr>
                        <m:t>𝟎</m:t>
                      </m:r>
                    </m:oMath>
                  </m:oMathPara>
                </a14:m>
                <a:endParaRPr lang="en-US" b="1" i="1" dirty="0">
                  <a:latin typeface="Cambria Math" panose="02040503050406030204" pitchFamily="18" charset="0"/>
                </a:endParaRPr>
              </a:p>
              <a:p>
                <a:endParaRPr lang="en-US" b="1" i="1" dirty="0">
                  <a:latin typeface="Cambria Math" panose="02040503050406030204" pitchFamily="18" charset="0"/>
                </a:endParaRP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181098" y="3320650"/>
                <a:ext cx="4495801" cy="2308324"/>
              </a:xfrm>
              <a:prstGeom prst="rect">
                <a:avLst/>
              </a:prstGeom>
              <a:blipFill>
                <a:blip r:embed="rId2"/>
                <a:stretch>
                  <a:fillRect l="-1221" t="-1587"/>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3091078223"/>
              </p:ext>
            </p:extLst>
          </p:nvPr>
        </p:nvGraphicFramePr>
        <p:xfrm>
          <a:off x="5210174" y="1863325"/>
          <a:ext cx="6143627" cy="2123440"/>
        </p:xfrm>
        <a:graphic>
          <a:graphicData uri="http://schemas.openxmlformats.org/drawingml/2006/table">
            <a:tbl>
              <a:tblPr firstRow="1" bandRow="1">
                <a:tableStyleId>{5940675A-B579-460E-94D1-54222C63F5DA}</a:tableStyleId>
              </a:tblPr>
              <a:tblGrid>
                <a:gridCol w="1071073">
                  <a:extLst>
                    <a:ext uri="{9D8B030D-6E8A-4147-A177-3AD203B41FA5}">
                      <a16:colId xmlns="" xmlns:a16="http://schemas.microsoft.com/office/drawing/2014/main" val="4284518099"/>
                    </a:ext>
                  </a:extLst>
                </a:gridCol>
                <a:gridCol w="734106">
                  <a:extLst>
                    <a:ext uri="{9D8B030D-6E8A-4147-A177-3AD203B41FA5}">
                      <a16:colId xmlns="" xmlns:a16="http://schemas.microsoft.com/office/drawing/2014/main" val="1827225863"/>
                    </a:ext>
                  </a:extLst>
                </a:gridCol>
                <a:gridCol w="794279">
                  <a:extLst>
                    <a:ext uri="{9D8B030D-6E8A-4147-A177-3AD203B41FA5}">
                      <a16:colId xmlns="" xmlns:a16="http://schemas.microsoft.com/office/drawing/2014/main" val="2625427107"/>
                    </a:ext>
                  </a:extLst>
                </a:gridCol>
                <a:gridCol w="716054">
                  <a:extLst>
                    <a:ext uri="{9D8B030D-6E8A-4147-A177-3AD203B41FA5}">
                      <a16:colId xmlns="" xmlns:a16="http://schemas.microsoft.com/office/drawing/2014/main" val="3488845602"/>
                    </a:ext>
                  </a:extLst>
                </a:gridCol>
                <a:gridCol w="565623">
                  <a:extLst>
                    <a:ext uri="{9D8B030D-6E8A-4147-A177-3AD203B41FA5}">
                      <a16:colId xmlns="" xmlns:a16="http://schemas.microsoft.com/office/drawing/2014/main" val="1588356002"/>
                    </a:ext>
                  </a:extLst>
                </a:gridCol>
                <a:gridCol w="565623">
                  <a:extLst>
                    <a:ext uri="{9D8B030D-6E8A-4147-A177-3AD203B41FA5}">
                      <a16:colId xmlns="" xmlns:a16="http://schemas.microsoft.com/office/drawing/2014/main" val="2655921755"/>
                    </a:ext>
                  </a:extLst>
                </a:gridCol>
                <a:gridCol w="565623">
                  <a:extLst>
                    <a:ext uri="{9D8B030D-6E8A-4147-A177-3AD203B41FA5}">
                      <a16:colId xmlns="" xmlns:a16="http://schemas.microsoft.com/office/drawing/2014/main" val="4149553947"/>
                    </a:ext>
                  </a:extLst>
                </a:gridCol>
                <a:gridCol w="565623">
                  <a:extLst>
                    <a:ext uri="{9D8B030D-6E8A-4147-A177-3AD203B41FA5}">
                      <a16:colId xmlns="" xmlns:a16="http://schemas.microsoft.com/office/drawing/2014/main" val="4061206552"/>
                    </a:ext>
                  </a:extLst>
                </a:gridCol>
                <a:gridCol w="565623">
                  <a:extLst>
                    <a:ext uri="{9D8B030D-6E8A-4147-A177-3AD203B41FA5}">
                      <a16:colId xmlns="" xmlns:a16="http://schemas.microsoft.com/office/drawing/2014/main" val="3767445606"/>
                    </a:ext>
                  </a:extLst>
                </a:gridCol>
              </a:tblGrid>
              <a:tr h="370840">
                <a:tc>
                  <a:txBody>
                    <a:bodyPr/>
                    <a:lstStyle/>
                    <a:p>
                      <a:pPr algn="r"/>
                      <a:r>
                        <a:rPr lang="en-US" b="1" dirty="0" smtClean="0"/>
                        <a:t>Offset</a:t>
                      </a:r>
                    </a:p>
                    <a:p>
                      <a:pPr algn="l"/>
                      <a:r>
                        <a:rPr lang="en-US" b="1" dirty="0" smtClean="0"/>
                        <a:t>Sets </a:t>
                      </a:r>
                      <a:endParaRPr lang="en-U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smtClean="0">
                          <a:solidFill>
                            <a:schemeClr val="tx1"/>
                          </a:solidFill>
                        </a:rPr>
                        <a:t>000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010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011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dirty="0" smtClean="0"/>
                        <a:t>111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770381397"/>
                  </a:ext>
                </a:extLst>
              </a:tr>
              <a:tr h="370840">
                <a:tc rowSpan="4">
                  <a:txBody>
                    <a:bodyPr/>
                    <a:lstStyle/>
                    <a:p>
                      <a:endParaRPr lang="en-US" dirty="0" smtClean="0"/>
                    </a:p>
                    <a:p>
                      <a:endParaRPr lang="en-US" dirty="0" smtClean="0"/>
                    </a:p>
                    <a:p>
                      <a:r>
                        <a:rPr lang="en-US" dirty="0" smtClean="0"/>
                        <a:t>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3308416522"/>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1160513756"/>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4001583137"/>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 xmlns:a16="http://schemas.microsoft.com/office/drawing/2014/main" val="545779383"/>
                  </a:ext>
                </a:extLst>
              </a:tr>
            </a:tbl>
          </a:graphicData>
        </a:graphic>
      </p:graphicFrame>
    </p:spTree>
    <p:extLst>
      <p:ext uri="{BB962C8B-B14F-4D97-AF65-F5344CB8AC3E}">
        <p14:creationId xmlns:p14="http://schemas.microsoft.com/office/powerpoint/2010/main" val="24209690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Terminologies</a:t>
            </a:r>
            <a:endParaRPr lang="en-US" dirty="0"/>
          </a:p>
        </p:txBody>
      </p:sp>
      <p:sp>
        <p:nvSpPr>
          <p:cNvPr id="3" name="Content Placeholder 2"/>
          <p:cNvSpPr>
            <a:spLocks noGrp="1"/>
          </p:cNvSpPr>
          <p:nvPr>
            <p:ph idx="1"/>
          </p:nvPr>
        </p:nvSpPr>
        <p:spPr/>
        <p:txBody>
          <a:bodyPr/>
          <a:lstStyle/>
          <a:p>
            <a:r>
              <a:rPr lang="en-US" b="1" dirty="0" smtClean="0"/>
              <a:t>Tag Bits </a:t>
            </a:r>
            <a:r>
              <a:rPr lang="en-US" dirty="0"/>
              <a:t>- A unique identifier for a group of data. Because different regions of memory may be mapped into a </a:t>
            </a:r>
            <a:r>
              <a:rPr lang="en-US" dirty="0" smtClean="0"/>
              <a:t>single block</a:t>
            </a:r>
            <a:r>
              <a:rPr lang="en-US" dirty="0"/>
              <a:t>, the tag is used to differentiate between them. </a:t>
            </a:r>
            <a:endParaRPr lang="en-US" dirty="0" smtClean="0"/>
          </a:p>
          <a:p>
            <a:r>
              <a:rPr lang="en-US" dirty="0"/>
              <a:t>We need to add tags to the cache, which supply the rest of the address bits to let us distinguish between different memory locations that map to the same cache block. </a:t>
            </a:r>
            <a:endParaRPr lang="en-US" dirty="0" smtClean="0"/>
          </a:p>
          <a:p>
            <a:endParaRPr lang="en-US" dirty="0"/>
          </a:p>
          <a:p>
            <a:r>
              <a:rPr lang="en-US" b="1" dirty="0"/>
              <a:t>V</a:t>
            </a:r>
            <a:r>
              <a:rPr lang="en-US" b="1" dirty="0" smtClean="0"/>
              <a:t>alid </a:t>
            </a:r>
            <a:r>
              <a:rPr lang="en-US" b="1" dirty="0"/>
              <a:t>bit </a:t>
            </a:r>
            <a:r>
              <a:rPr lang="en-US" b="1" dirty="0" smtClean="0"/>
              <a:t>(V)</a:t>
            </a:r>
            <a:r>
              <a:rPr lang="en-US" dirty="0" smtClean="0"/>
              <a:t>- </a:t>
            </a:r>
            <a:r>
              <a:rPr lang="en-US" dirty="0"/>
              <a:t>A bit of information that indicates whether the data in a block is valid (1) or not (0</a:t>
            </a:r>
            <a:r>
              <a:rPr lang="en-US" dirty="0" smtClean="0"/>
              <a:t>).</a:t>
            </a:r>
          </a:p>
          <a:p>
            <a:pPr marL="749808" lvl="1" indent="-457200">
              <a:buFont typeface="+mj-lt"/>
              <a:buAutoNum type="arabicPeriod"/>
            </a:pPr>
            <a:r>
              <a:rPr lang="en-US" dirty="0" smtClean="0"/>
              <a:t>At the very start, </a:t>
            </a:r>
            <a:r>
              <a:rPr lang="en-US" dirty="0"/>
              <a:t>the cache is empty and does not contain valid data. </a:t>
            </a:r>
            <a:endParaRPr lang="en-US" dirty="0" smtClean="0"/>
          </a:p>
          <a:p>
            <a:pPr marL="749808" lvl="1" indent="-457200">
              <a:buFont typeface="+mj-lt"/>
              <a:buAutoNum type="arabicPeriod"/>
            </a:pPr>
            <a:r>
              <a:rPr lang="en-US" dirty="0" smtClean="0"/>
              <a:t>We </a:t>
            </a:r>
            <a:r>
              <a:rPr lang="en-US" dirty="0"/>
              <a:t>should account for this by adding a valid bit for each cache block. </a:t>
            </a:r>
          </a:p>
          <a:p>
            <a:pPr marL="749808" lvl="1" indent="-457200">
              <a:buFont typeface="+mj-lt"/>
              <a:buAutoNum type="arabicPeriod"/>
            </a:pPr>
            <a:r>
              <a:rPr lang="en-US" dirty="0" smtClean="0"/>
              <a:t>When </a:t>
            </a:r>
            <a:r>
              <a:rPr lang="en-US" dirty="0"/>
              <a:t>the system is initialized, all the valid bits are set to 0. </a:t>
            </a:r>
            <a:r>
              <a:rPr lang="en-US" dirty="0" smtClean="0"/>
              <a:t>When </a:t>
            </a:r>
            <a:r>
              <a:rPr lang="en-US" dirty="0"/>
              <a:t>data is loaded into a particular cache block, the corresponding valid bit is set to 1.</a:t>
            </a:r>
          </a:p>
        </p:txBody>
      </p:sp>
    </p:spTree>
    <p:extLst>
      <p:ext uri="{BB962C8B-B14F-4D97-AF65-F5344CB8AC3E}">
        <p14:creationId xmlns:p14="http://schemas.microsoft.com/office/powerpoint/2010/main" val="5586608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2350414249"/>
              </p:ext>
            </p:extLst>
          </p:nvPr>
        </p:nvGraphicFramePr>
        <p:xfrm>
          <a:off x="4067175" y="2161365"/>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562631">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01</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4B</a:t>
            </a:r>
          </a:p>
          <a:p>
            <a:r>
              <a:rPr lang="en-US" sz="1400" b="1" dirty="0" smtClean="0"/>
              <a:t>C = 32B</a:t>
            </a:r>
          </a:p>
          <a:p>
            <a:r>
              <a:rPr lang="en-US" sz="1400" b="1" dirty="0" smtClean="0"/>
              <a:t>N = 1 (Direct Mapped)</a:t>
            </a:r>
          </a:p>
          <a:p>
            <a:r>
              <a:rPr lang="en-US" sz="1400" b="1" dirty="0" smtClean="0"/>
              <a:t>Addresses are 12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a:t>
                </a:r>
                <a:r>
                  <a:rPr lang="en-US" sz="1200" i="1" dirty="0"/>
                  <a:t>8</a:t>
                </a:r>
              </a:p>
              <a:p>
                <a:r>
                  <a:rPr lang="en-US" sz="1200" dirty="0" smtClean="0"/>
                  <a:t>S = B/N = </a:t>
                </a:r>
                <a:r>
                  <a:rPr lang="en-US" sz="1200" dirty="0"/>
                  <a:t>8</a:t>
                </a:r>
                <a:r>
                  <a:rPr lang="en-US" sz="1200" dirty="0" smtClean="0"/>
                  <a:t>/1 = </a:t>
                </a:r>
                <a:r>
                  <a:rPr lang="en-US" sz="1200" dirty="0"/>
                  <a:t>8</a:t>
                </a:r>
                <a:endParaRPr lang="en-US" sz="1200" dirty="0" smtClean="0"/>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solidFill>
                      <a:srgbClr val="FF0000"/>
                    </a:solidFill>
                    <a:latin typeface="Cambria Math" panose="02040503050406030204" pitchFamily="18" charset="0"/>
                  </a:rPr>
                  <a:t>0x014</a:t>
                </a:r>
              </a:p>
              <a:p>
                <a:pPr marL="342900" indent="-342900">
                  <a:buFont typeface="+mj-lt"/>
                  <a:buAutoNum type="arabicPeriod"/>
                </a:pPr>
                <a:r>
                  <a:rPr lang="en-US" b="1" dirty="0">
                    <a:latin typeface="Cambria Math" panose="02040503050406030204" pitchFamily="18" charset="0"/>
                  </a:rPr>
                  <a:t>0xFF0</a:t>
                </a:r>
              </a:p>
              <a:p>
                <a:pPr marL="342900" indent="-342900">
                  <a:buFont typeface="+mj-lt"/>
                  <a:buAutoNum type="arabicPeriod"/>
                </a:pPr>
                <a:r>
                  <a:rPr lang="en-US" b="1" dirty="0">
                    <a:latin typeface="Cambria Math" panose="02040503050406030204" pitchFamily="18" charset="0"/>
                  </a:rPr>
                  <a:t>0x0F7</a:t>
                </a:r>
              </a:p>
              <a:p>
                <a:pPr marL="342900" indent="-342900">
                  <a:buFont typeface="+mj-lt"/>
                  <a:buAutoNum type="arabicPeriod"/>
                </a:pPr>
                <a:r>
                  <a:rPr lang="en-US" b="1" dirty="0">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2180035247"/>
              </p:ext>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000</a:t>
                      </a:r>
                      <a:endParaRPr lang="en-US" b="1" dirty="0"/>
                    </a:p>
                  </a:txBody>
                  <a:tcPr>
                    <a:solidFill>
                      <a:schemeClr val="accent1">
                        <a:lumMod val="20000"/>
                        <a:lumOff val="80000"/>
                      </a:schemeClr>
                    </a:solidFill>
                  </a:tcPr>
                </a:tc>
                <a:tc>
                  <a:txBody>
                    <a:bodyPr/>
                    <a:lstStyle/>
                    <a:p>
                      <a:r>
                        <a:rPr lang="en-US" dirty="0" smtClean="0"/>
                        <a:t>00000000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004</a:t>
                      </a:r>
                      <a:endParaRPr lang="en-US" b="1" dirty="0"/>
                    </a:p>
                  </a:txBody>
                  <a:tcPr>
                    <a:solidFill>
                      <a:schemeClr val="accent1">
                        <a:lumMod val="20000"/>
                        <a:lumOff val="80000"/>
                      </a:schemeClr>
                    </a:solidFill>
                  </a:tcPr>
                </a:tc>
                <a:tc>
                  <a:txBody>
                    <a:bodyPr/>
                    <a:lstStyle/>
                    <a:p>
                      <a:r>
                        <a:rPr lang="en-US" b="0" dirty="0" smtClean="0"/>
                        <a:t>00000004</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008</a:t>
                      </a:r>
                      <a:endParaRPr lang="en-US" b="1" dirty="0"/>
                    </a:p>
                  </a:txBody>
                  <a:tcPr>
                    <a:solidFill>
                      <a:schemeClr val="accent1">
                        <a:lumMod val="20000"/>
                        <a:lumOff val="80000"/>
                      </a:schemeClr>
                    </a:solidFill>
                  </a:tcPr>
                </a:tc>
                <a:tc>
                  <a:txBody>
                    <a:bodyPr/>
                    <a:lstStyle/>
                    <a:p>
                      <a:r>
                        <a:rPr lang="en-US" b="0" dirty="0" smtClean="0"/>
                        <a:t>00000008</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00C</a:t>
                      </a:r>
                      <a:endParaRPr lang="en-US" b="1" dirty="0"/>
                    </a:p>
                  </a:txBody>
                  <a:tcPr>
                    <a:solidFill>
                      <a:schemeClr val="accent1">
                        <a:lumMod val="20000"/>
                        <a:lumOff val="80000"/>
                      </a:schemeClr>
                    </a:solidFill>
                  </a:tcPr>
                </a:tc>
                <a:tc>
                  <a:txBody>
                    <a:bodyPr/>
                    <a:lstStyle/>
                    <a:p>
                      <a:r>
                        <a:rPr lang="en-US" b="0" dirty="0" smtClean="0"/>
                        <a:t>0000000C</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010</a:t>
                      </a:r>
                      <a:endParaRPr lang="en-US" b="1" dirty="0"/>
                    </a:p>
                  </a:txBody>
                  <a:tcPr>
                    <a:solidFill>
                      <a:schemeClr val="accent1">
                        <a:lumMod val="20000"/>
                        <a:lumOff val="80000"/>
                      </a:schemeClr>
                    </a:solidFill>
                  </a:tcPr>
                </a:tc>
                <a:tc>
                  <a:txBody>
                    <a:bodyPr/>
                    <a:lstStyle/>
                    <a:p>
                      <a:r>
                        <a:rPr lang="en-US" b="0" dirty="0" smtClean="0"/>
                        <a:t>00000010</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014</a:t>
                      </a:r>
                      <a:endParaRPr lang="en-US" b="1" dirty="0"/>
                    </a:p>
                  </a:txBody>
                  <a:tcPr>
                    <a:solidFill>
                      <a:schemeClr val="accent1">
                        <a:lumMod val="20000"/>
                        <a:lumOff val="80000"/>
                      </a:schemeClr>
                    </a:solidFill>
                  </a:tcPr>
                </a:tc>
                <a:tc>
                  <a:txBody>
                    <a:bodyPr/>
                    <a:lstStyle/>
                    <a:p>
                      <a:r>
                        <a:rPr lang="en-US" b="0" dirty="0" smtClean="0"/>
                        <a:t>00000014</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018</a:t>
                      </a:r>
                      <a:endParaRPr lang="en-US" b="1" dirty="0"/>
                    </a:p>
                  </a:txBody>
                  <a:tcPr>
                    <a:solidFill>
                      <a:schemeClr val="accent1">
                        <a:lumMod val="20000"/>
                        <a:lumOff val="80000"/>
                      </a:schemeClr>
                    </a:solidFill>
                  </a:tcPr>
                </a:tc>
                <a:tc>
                  <a:txBody>
                    <a:bodyPr/>
                    <a:lstStyle/>
                    <a:p>
                      <a:r>
                        <a:rPr lang="en-US" b="0" dirty="0" smtClean="0"/>
                        <a:t>00000018</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01C</a:t>
                      </a:r>
                      <a:endParaRPr lang="en-US" b="1" dirty="0"/>
                    </a:p>
                  </a:txBody>
                  <a:tcPr>
                    <a:solidFill>
                      <a:schemeClr val="accent1">
                        <a:lumMod val="20000"/>
                        <a:lumOff val="80000"/>
                      </a:schemeClr>
                    </a:solidFill>
                  </a:tcPr>
                </a:tc>
                <a:tc>
                  <a:txBody>
                    <a:bodyPr/>
                    <a:lstStyle/>
                    <a:p>
                      <a:r>
                        <a:rPr lang="en-US" b="0" dirty="0" smtClean="0"/>
                        <a:t>0000001C</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t>020</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00000020</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FF4</a:t>
                      </a:r>
                      <a:endParaRPr lang="en-US" b="1" dirty="0"/>
                    </a:p>
                  </a:txBody>
                  <a:tcPr>
                    <a:solidFill>
                      <a:schemeClr val="accent1">
                        <a:lumMod val="20000"/>
                        <a:lumOff val="80000"/>
                      </a:schemeClr>
                    </a:solidFill>
                  </a:tcPr>
                </a:tc>
                <a:tc>
                  <a:txBody>
                    <a:bodyPr/>
                    <a:lstStyle/>
                    <a:p>
                      <a:r>
                        <a:rPr lang="en-US" b="0" dirty="0" smtClean="0"/>
                        <a:t>00000FF4</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FF8</a:t>
                      </a:r>
                      <a:endParaRPr lang="en-US" b="1" dirty="0"/>
                    </a:p>
                  </a:txBody>
                  <a:tcPr>
                    <a:solidFill>
                      <a:schemeClr val="accent1">
                        <a:lumMod val="20000"/>
                        <a:lumOff val="80000"/>
                      </a:schemeClr>
                    </a:solidFill>
                  </a:tcPr>
                </a:tc>
                <a:tc>
                  <a:txBody>
                    <a:bodyPr/>
                    <a:lstStyle/>
                    <a:p>
                      <a:r>
                        <a:rPr lang="en-US" b="0" dirty="0" smtClean="0"/>
                        <a:t>00000FF8</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FFC</a:t>
                      </a:r>
                      <a:endParaRPr lang="en-US" b="1" dirty="0"/>
                    </a:p>
                  </a:txBody>
                  <a:tcPr>
                    <a:solidFill>
                      <a:schemeClr val="accent1">
                        <a:lumMod val="20000"/>
                        <a:lumOff val="80000"/>
                      </a:schemeClr>
                    </a:solidFill>
                  </a:tcPr>
                </a:tc>
                <a:tc>
                  <a:txBody>
                    <a:bodyPr/>
                    <a:lstStyle/>
                    <a:p>
                      <a:r>
                        <a:rPr lang="en-US" b="0" dirty="0" smtClean="0"/>
                        <a:t>00000FFC</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0x014</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0000 000</a:t>
            </a:r>
            <a:r>
              <a:rPr lang="en-US" sz="2000" b="1" dirty="0" smtClean="0">
                <a:solidFill>
                  <a:srgbClr val="00B0F0"/>
                </a:solidFill>
                <a:latin typeface="Cambria Math" panose="02040503050406030204" pitchFamily="18" charset="0"/>
              </a:rPr>
              <a:t>1 01</a:t>
            </a:r>
            <a:r>
              <a:rPr lang="en-US" sz="2000" b="1" dirty="0" smtClean="0">
                <a:solidFill>
                  <a:srgbClr val="FFC000"/>
                </a:solidFill>
                <a:latin typeface="Cambria Math" panose="02040503050406030204" pitchFamily="18" charset="0"/>
              </a:rPr>
              <a:t>00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graphicFrame>
        <p:nvGraphicFramePr>
          <p:cNvPr id="20" name="Table 19"/>
          <p:cNvGraphicFramePr>
            <a:graphicFrameLocks noGrp="1"/>
          </p:cNvGraphicFramePr>
          <p:nvPr>
            <p:extLst>
              <p:ext uri="{D42A27DB-BD31-4B8C-83A1-F6EECF244321}">
                <p14:modId xmlns:p14="http://schemas.microsoft.com/office/powerpoint/2010/main" val="1807024459"/>
              </p:ext>
            </p:extLst>
          </p:nvPr>
        </p:nvGraphicFramePr>
        <p:xfrm>
          <a:off x="4067174" y="2161365"/>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562631">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
        <p:nvSpPr>
          <p:cNvPr id="22" name="TextBox 21"/>
          <p:cNvSpPr txBox="1"/>
          <p:nvPr/>
        </p:nvSpPr>
        <p:spPr>
          <a:xfrm>
            <a:off x="4821382" y="4645891"/>
            <a:ext cx="495905" cy="307777"/>
          </a:xfrm>
          <a:prstGeom prst="rect">
            <a:avLst/>
          </a:prstGeom>
          <a:solidFill>
            <a:schemeClr val="bg1"/>
          </a:solidFill>
        </p:spPr>
        <p:txBody>
          <a:bodyPr wrap="square" rtlCol="0">
            <a:spAutoFit/>
          </a:bodyPr>
          <a:lstStyle/>
          <a:p>
            <a:r>
              <a:rPr lang="en-US" sz="1400" b="1" dirty="0" smtClean="0"/>
              <a:t>1</a:t>
            </a:r>
            <a:endParaRPr lang="en-US" sz="1400" b="1" dirty="0"/>
          </a:p>
        </p:txBody>
      </p:sp>
      <p:sp>
        <p:nvSpPr>
          <p:cNvPr id="23" name="TextBox 22"/>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1	Cache Hit = 0</a:t>
            </a:r>
            <a:endParaRPr lang="en-US" b="1" dirty="0">
              <a:solidFill>
                <a:srgbClr val="FF0000"/>
              </a:solidFill>
            </a:endParaRPr>
          </a:p>
        </p:txBody>
      </p:sp>
    </p:spTree>
    <p:extLst>
      <p:ext uri="{BB962C8B-B14F-4D97-AF65-F5344CB8AC3E}">
        <p14:creationId xmlns:p14="http://schemas.microsoft.com/office/powerpoint/2010/main" val="6766842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p:bldP spid="9" grpId="0"/>
      <p:bldP spid="10" grpId="0"/>
      <p:bldP spid="5" grpId="0"/>
      <p:bldP spid="17" grpId="0"/>
      <p:bldP spid="18" grpId="0" animBg="1"/>
      <p:bldP spid="22"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01</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4B</a:t>
            </a:r>
          </a:p>
          <a:p>
            <a:r>
              <a:rPr lang="en-US" sz="1400" b="1" dirty="0" smtClean="0"/>
              <a:t>C = 32B</a:t>
            </a:r>
          </a:p>
          <a:p>
            <a:r>
              <a:rPr lang="en-US" sz="1400" b="1" dirty="0" smtClean="0"/>
              <a:t>N = 1 (Direct Mapped)</a:t>
            </a:r>
          </a:p>
          <a:p>
            <a:r>
              <a:rPr lang="en-US" sz="1400" b="1" dirty="0" smtClean="0"/>
              <a:t>Addresses are 12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812197"/>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a:t>
                </a:r>
                <a:r>
                  <a:rPr lang="en-US" sz="1200" i="1" dirty="0"/>
                  <a:t>8</a:t>
                </a:r>
              </a:p>
              <a:p>
                <a:r>
                  <a:rPr lang="en-US" sz="1200" dirty="0" smtClean="0"/>
                  <a:t>S = B/N = </a:t>
                </a:r>
                <a:r>
                  <a:rPr lang="en-US" sz="1200" dirty="0"/>
                  <a:t>8</a:t>
                </a:r>
                <a:r>
                  <a:rPr lang="en-US" sz="1200" dirty="0" smtClean="0"/>
                  <a:t>/1 = </a:t>
                </a:r>
                <a:r>
                  <a:rPr lang="en-US" sz="1200" dirty="0"/>
                  <a:t>8</a:t>
                </a:r>
                <a:endParaRPr lang="en-US" sz="1200" dirty="0" smtClean="0"/>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latin typeface="Cambria Math" panose="02040503050406030204" pitchFamily="18" charset="0"/>
                  </a:rPr>
                  <a:t>0x014</a:t>
                </a:r>
              </a:p>
              <a:p>
                <a:pPr marL="342900" indent="-342900">
                  <a:buFont typeface="+mj-lt"/>
                  <a:buAutoNum type="arabicPeriod"/>
                </a:pPr>
                <a:r>
                  <a:rPr lang="en-US" b="1" dirty="0">
                    <a:solidFill>
                      <a:srgbClr val="FF0000"/>
                    </a:solidFill>
                    <a:latin typeface="Cambria Math" panose="02040503050406030204" pitchFamily="18" charset="0"/>
                  </a:rPr>
                  <a:t>0xFF0</a:t>
                </a:r>
              </a:p>
              <a:p>
                <a:pPr marL="342900" indent="-342900">
                  <a:buFont typeface="+mj-lt"/>
                  <a:buAutoNum type="arabicPeriod"/>
                </a:pPr>
                <a:r>
                  <a:rPr lang="en-US" b="1" dirty="0">
                    <a:latin typeface="Cambria Math" panose="02040503050406030204" pitchFamily="18" charset="0"/>
                  </a:rPr>
                  <a:t>0x0F7</a:t>
                </a:r>
              </a:p>
              <a:p>
                <a:pPr marL="342900" indent="-342900">
                  <a:buFont typeface="+mj-lt"/>
                  <a:buAutoNum type="arabicPeriod"/>
                </a:pPr>
                <a:r>
                  <a:rPr lang="en-US" b="1" dirty="0">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b="1" i="1" dirty="0">
                  <a:latin typeface="Cambria Math" panose="02040503050406030204" pitchFamily="18" charset="0"/>
                </a:endParaRP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812197"/>
              </a:xfrm>
              <a:prstGeom prst="rect">
                <a:avLst/>
              </a:prstGeom>
              <a:blipFill>
                <a:blip r:embed="rId2"/>
                <a:stretch>
                  <a:fillRect l="-1272" t="-160"/>
                </a:stretch>
              </a:blipFill>
            </p:spPr>
            <p:txBody>
              <a:bodyPr/>
              <a:lstStyle/>
              <a:p>
                <a:r>
                  <a:rPr lang="en-US">
                    <a:noFill/>
                  </a:rPr>
                  <a:t> </a:t>
                </a:r>
              </a:p>
            </p:txBody>
          </p:sp>
        </mc:Fallback>
      </mc:AlternateContent>
      <p:graphicFrame>
        <p:nvGraphicFramePr>
          <p:cNvPr id="7" name="Table 6"/>
          <p:cNvGraphicFramePr>
            <a:graphicFrameLocks noGrp="1"/>
          </p:cNvGraphicFramePr>
          <p:nvPr>
            <p:extLst>
              <p:ext uri="{D42A27DB-BD31-4B8C-83A1-F6EECF244321}">
                <p14:modId xmlns:p14="http://schemas.microsoft.com/office/powerpoint/2010/main" val="3281911315"/>
              </p:ext>
            </p:extLst>
          </p:nvPr>
        </p:nvGraphicFramePr>
        <p:xfrm>
          <a:off x="4067175" y="2161365"/>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562631">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000</a:t>
                      </a:r>
                      <a:endParaRPr lang="en-US" b="1" dirty="0"/>
                    </a:p>
                  </a:txBody>
                  <a:tcPr>
                    <a:solidFill>
                      <a:schemeClr val="accent1">
                        <a:lumMod val="20000"/>
                        <a:lumOff val="80000"/>
                      </a:schemeClr>
                    </a:solidFill>
                  </a:tcPr>
                </a:tc>
                <a:tc>
                  <a:txBody>
                    <a:bodyPr/>
                    <a:lstStyle/>
                    <a:p>
                      <a:r>
                        <a:rPr lang="en-US" dirty="0" smtClean="0"/>
                        <a:t>00000000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004</a:t>
                      </a:r>
                      <a:endParaRPr lang="en-US" b="1" dirty="0"/>
                    </a:p>
                  </a:txBody>
                  <a:tcPr>
                    <a:solidFill>
                      <a:schemeClr val="accent1">
                        <a:lumMod val="20000"/>
                        <a:lumOff val="80000"/>
                      </a:schemeClr>
                    </a:solidFill>
                  </a:tcPr>
                </a:tc>
                <a:tc>
                  <a:txBody>
                    <a:bodyPr/>
                    <a:lstStyle/>
                    <a:p>
                      <a:r>
                        <a:rPr lang="en-US" b="0" dirty="0" smtClean="0"/>
                        <a:t>00000004</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008</a:t>
                      </a:r>
                      <a:endParaRPr lang="en-US" b="1" dirty="0"/>
                    </a:p>
                  </a:txBody>
                  <a:tcPr>
                    <a:solidFill>
                      <a:schemeClr val="accent1">
                        <a:lumMod val="20000"/>
                        <a:lumOff val="80000"/>
                      </a:schemeClr>
                    </a:solidFill>
                  </a:tcPr>
                </a:tc>
                <a:tc>
                  <a:txBody>
                    <a:bodyPr/>
                    <a:lstStyle/>
                    <a:p>
                      <a:r>
                        <a:rPr lang="en-US" b="0" dirty="0" smtClean="0"/>
                        <a:t>00000008</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00C</a:t>
                      </a:r>
                      <a:endParaRPr lang="en-US" b="1" dirty="0"/>
                    </a:p>
                  </a:txBody>
                  <a:tcPr>
                    <a:solidFill>
                      <a:schemeClr val="accent1">
                        <a:lumMod val="20000"/>
                        <a:lumOff val="80000"/>
                      </a:schemeClr>
                    </a:solidFill>
                  </a:tcPr>
                </a:tc>
                <a:tc>
                  <a:txBody>
                    <a:bodyPr/>
                    <a:lstStyle/>
                    <a:p>
                      <a:r>
                        <a:rPr lang="en-US" b="0" dirty="0" smtClean="0"/>
                        <a:t>0000000C</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010</a:t>
                      </a:r>
                      <a:endParaRPr lang="en-US" b="1" dirty="0"/>
                    </a:p>
                  </a:txBody>
                  <a:tcPr>
                    <a:solidFill>
                      <a:schemeClr val="accent1">
                        <a:lumMod val="20000"/>
                        <a:lumOff val="80000"/>
                      </a:schemeClr>
                    </a:solidFill>
                  </a:tcPr>
                </a:tc>
                <a:tc>
                  <a:txBody>
                    <a:bodyPr/>
                    <a:lstStyle/>
                    <a:p>
                      <a:r>
                        <a:rPr lang="en-US" b="0" dirty="0" smtClean="0"/>
                        <a:t>00000010</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014</a:t>
                      </a:r>
                      <a:endParaRPr lang="en-US" b="1" dirty="0"/>
                    </a:p>
                  </a:txBody>
                  <a:tcPr>
                    <a:solidFill>
                      <a:schemeClr val="accent1">
                        <a:lumMod val="20000"/>
                        <a:lumOff val="80000"/>
                      </a:schemeClr>
                    </a:solidFill>
                  </a:tcPr>
                </a:tc>
                <a:tc>
                  <a:txBody>
                    <a:bodyPr/>
                    <a:lstStyle/>
                    <a:p>
                      <a:r>
                        <a:rPr lang="en-US" b="0" dirty="0" smtClean="0"/>
                        <a:t>00000014</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018</a:t>
                      </a:r>
                      <a:endParaRPr lang="en-US" b="1" dirty="0"/>
                    </a:p>
                  </a:txBody>
                  <a:tcPr>
                    <a:solidFill>
                      <a:schemeClr val="accent1">
                        <a:lumMod val="20000"/>
                        <a:lumOff val="80000"/>
                      </a:schemeClr>
                    </a:solidFill>
                  </a:tcPr>
                </a:tc>
                <a:tc>
                  <a:txBody>
                    <a:bodyPr/>
                    <a:lstStyle/>
                    <a:p>
                      <a:r>
                        <a:rPr lang="en-US" b="0" dirty="0" smtClean="0"/>
                        <a:t>00000018</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01C</a:t>
                      </a:r>
                      <a:endParaRPr lang="en-US" b="1" dirty="0"/>
                    </a:p>
                  </a:txBody>
                  <a:tcPr>
                    <a:solidFill>
                      <a:schemeClr val="accent1">
                        <a:lumMod val="20000"/>
                        <a:lumOff val="80000"/>
                      </a:schemeClr>
                    </a:solidFill>
                  </a:tcPr>
                </a:tc>
                <a:tc>
                  <a:txBody>
                    <a:bodyPr/>
                    <a:lstStyle/>
                    <a:p>
                      <a:r>
                        <a:rPr lang="en-US" b="0" dirty="0" smtClean="0"/>
                        <a:t>0000001C</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t>020</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00000020</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FF4</a:t>
                      </a:r>
                      <a:endParaRPr lang="en-US" b="1" dirty="0"/>
                    </a:p>
                  </a:txBody>
                  <a:tcPr>
                    <a:solidFill>
                      <a:schemeClr val="accent1">
                        <a:lumMod val="20000"/>
                        <a:lumOff val="80000"/>
                      </a:schemeClr>
                    </a:solidFill>
                  </a:tcPr>
                </a:tc>
                <a:tc>
                  <a:txBody>
                    <a:bodyPr/>
                    <a:lstStyle/>
                    <a:p>
                      <a:r>
                        <a:rPr lang="en-US" b="0" dirty="0" smtClean="0"/>
                        <a:t>00000FF4</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FF8</a:t>
                      </a:r>
                      <a:endParaRPr lang="en-US" b="1" dirty="0"/>
                    </a:p>
                  </a:txBody>
                  <a:tcPr>
                    <a:solidFill>
                      <a:schemeClr val="accent1">
                        <a:lumMod val="20000"/>
                        <a:lumOff val="80000"/>
                      </a:schemeClr>
                    </a:solidFill>
                  </a:tcPr>
                </a:tc>
                <a:tc>
                  <a:txBody>
                    <a:bodyPr/>
                    <a:lstStyle/>
                    <a:p>
                      <a:r>
                        <a:rPr lang="en-US" b="0" dirty="0" smtClean="0"/>
                        <a:t>00000FF8</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FFC</a:t>
                      </a:r>
                      <a:endParaRPr lang="en-US" b="1" dirty="0"/>
                    </a:p>
                  </a:txBody>
                  <a:tcPr>
                    <a:solidFill>
                      <a:schemeClr val="accent1">
                        <a:lumMod val="20000"/>
                        <a:lumOff val="80000"/>
                      </a:schemeClr>
                    </a:solidFill>
                  </a:tcPr>
                </a:tc>
                <a:tc>
                  <a:txBody>
                    <a:bodyPr/>
                    <a:lstStyle/>
                    <a:p>
                      <a:r>
                        <a:rPr lang="en-US" b="0" dirty="0" smtClean="0"/>
                        <a:t>00000FFC</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0xFF0</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1111 111</a:t>
            </a:r>
            <a:r>
              <a:rPr lang="en-US" sz="2000" b="1" dirty="0" smtClean="0">
                <a:solidFill>
                  <a:srgbClr val="00B0F0"/>
                </a:solidFill>
                <a:latin typeface="Cambria Math" panose="02040503050406030204" pitchFamily="18" charset="0"/>
              </a:rPr>
              <a:t>1 00</a:t>
            </a:r>
            <a:r>
              <a:rPr lang="en-US" sz="2000" b="1" dirty="0" smtClean="0">
                <a:solidFill>
                  <a:srgbClr val="FFC000"/>
                </a:solidFill>
                <a:latin typeface="Cambria Math" panose="02040503050406030204" pitchFamily="18" charset="0"/>
              </a:rPr>
              <a:t>00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graphicFrame>
        <p:nvGraphicFramePr>
          <p:cNvPr id="15" name="Table 14"/>
          <p:cNvGraphicFramePr>
            <a:graphicFrameLocks noGrp="1"/>
          </p:cNvGraphicFramePr>
          <p:nvPr>
            <p:extLst>
              <p:ext uri="{D42A27DB-BD31-4B8C-83A1-F6EECF244321}">
                <p14:modId xmlns:p14="http://schemas.microsoft.com/office/powerpoint/2010/main" val="797778162"/>
              </p:ext>
            </p:extLst>
          </p:nvPr>
        </p:nvGraphicFramePr>
        <p:xfrm>
          <a:off x="4082645" y="2164671"/>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562631">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
        <p:nvSpPr>
          <p:cNvPr id="16" name="TextBox 15"/>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2	Cache Hit = 0</a:t>
            </a:r>
            <a:endParaRPr lang="en-US" b="1" dirty="0">
              <a:solidFill>
                <a:srgbClr val="FF0000"/>
              </a:solidFill>
            </a:endParaRPr>
          </a:p>
        </p:txBody>
      </p:sp>
    </p:spTree>
    <p:extLst>
      <p:ext uri="{BB962C8B-B14F-4D97-AF65-F5344CB8AC3E}">
        <p14:creationId xmlns:p14="http://schemas.microsoft.com/office/powerpoint/2010/main" val="3663577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01</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4B</a:t>
            </a:r>
          </a:p>
          <a:p>
            <a:r>
              <a:rPr lang="en-US" sz="1400" b="1" dirty="0" smtClean="0"/>
              <a:t>C = 32B</a:t>
            </a:r>
          </a:p>
          <a:p>
            <a:r>
              <a:rPr lang="en-US" sz="1400" b="1" dirty="0" smtClean="0"/>
              <a:t>N = 1 (Direct Mapped)</a:t>
            </a:r>
          </a:p>
          <a:p>
            <a:r>
              <a:rPr lang="en-US" sz="1400" b="1" dirty="0" smtClean="0"/>
              <a:t>Addresses are 12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812197"/>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a:t>
                </a:r>
                <a:r>
                  <a:rPr lang="en-US" sz="1200" i="1" dirty="0"/>
                  <a:t>8</a:t>
                </a:r>
              </a:p>
              <a:p>
                <a:r>
                  <a:rPr lang="en-US" sz="1200" dirty="0" smtClean="0"/>
                  <a:t>S = B/N = </a:t>
                </a:r>
                <a:r>
                  <a:rPr lang="en-US" sz="1200" dirty="0"/>
                  <a:t>8</a:t>
                </a:r>
                <a:r>
                  <a:rPr lang="en-US" sz="1200" dirty="0" smtClean="0"/>
                  <a:t>/1 = </a:t>
                </a:r>
                <a:r>
                  <a:rPr lang="en-US" sz="1200" dirty="0"/>
                  <a:t>8</a:t>
                </a:r>
                <a:endParaRPr lang="en-US" sz="1200" dirty="0" smtClean="0"/>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latin typeface="Cambria Math" panose="02040503050406030204" pitchFamily="18" charset="0"/>
                  </a:rPr>
                  <a:t>0x014</a:t>
                </a:r>
              </a:p>
              <a:p>
                <a:pPr marL="342900" indent="-342900">
                  <a:buFont typeface="+mj-lt"/>
                  <a:buAutoNum type="arabicPeriod"/>
                </a:pPr>
                <a:r>
                  <a:rPr lang="en-US" b="1" dirty="0">
                    <a:latin typeface="Cambria Math" panose="02040503050406030204" pitchFamily="18" charset="0"/>
                  </a:rPr>
                  <a:t>0xFF0</a:t>
                </a:r>
              </a:p>
              <a:p>
                <a:pPr marL="342900" indent="-342900">
                  <a:buFont typeface="+mj-lt"/>
                  <a:buAutoNum type="arabicPeriod"/>
                </a:pPr>
                <a:r>
                  <a:rPr lang="en-US" b="1" dirty="0">
                    <a:solidFill>
                      <a:srgbClr val="FF0000"/>
                    </a:solidFill>
                    <a:latin typeface="Cambria Math" panose="02040503050406030204" pitchFamily="18" charset="0"/>
                  </a:rPr>
                  <a:t>0x0F7</a:t>
                </a:r>
              </a:p>
              <a:p>
                <a:pPr marL="342900" indent="-342900">
                  <a:buFont typeface="+mj-lt"/>
                  <a:buAutoNum type="arabicPeriod"/>
                </a:pPr>
                <a:r>
                  <a:rPr lang="en-US" b="1" dirty="0">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b="1" i="1" dirty="0">
                  <a:latin typeface="Cambria Math" panose="02040503050406030204" pitchFamily="18" charset="0"/>
                </a:endParaRP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812197"/>
              </a:xfrm>
              <a:prstGeom prst="rect">
                <a:avLst/>
              </a:prstGeom>
              <a:blipFill>
                <a:blip r:embed="rId2"/>
                <a:stretch>
                  <a:fillRect l="-1272" t="-160"/>
                </a:stretch>
              </a:blipFill>
            </p:spPr>
            <p:txBody>
              <a:bodyPr/>
              <a:lstStyle/>
              <a:p>
                <a:r>
                  <a:rPr lang="en-US">
                    <a:noFill/>
                  </a:rPr>
                  <a:t> </a:t>
                </a:r>
              </a:p>
            </p:txBody>
          </p:sp>
        </mc:Fallback>
      </mc:AlternateContent>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000</a:t>
                      </a:r>
                      <a:endParaRPr lang="en-US" b="1" dirty="0"/>
                    </a:p>
                  </a:txBody>
                  <a:tcPr>
                    <a:solidFill>
                      <a:schemeClr val="accent1">
                        <a:lumMod val="20000"/>
                        <a:lumOff val="80000"/>
                      </a:schemeClr>
                    </a:solidFill>
                  </a:tcPr>
                </a:tc>
                <a:tc>
                  <a:txBody>
                    <a:bodyPr/>
                    <a:lstStyle/>
                    <a:p>
                      <a:r>
                        <a:rPr lang="en-US" dirty="0" smtClean="0"/>
                        <a:t>00000000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004</a:t>
                      </a:r>
                      <a:endParaRPr lang="en-US" b="1" dirty="0"/>
                    </a:p>
                  </a:txBody>
                  <a:tcPr>
                    <a:solidFill>
                      <a:schemeClr val="accent1">
                        <a:lumMod val="20000"/>
                        <a:lumOff val="80000"/>
                      </a:schemeClr>
                    </a:solidFill>
                  </a:tcPr>
                </a:tc>
                <a:tc>
                  <a:txBody>
                    <a:bodyPr/>
                    <a:lstStyle/>
                    <a:p>
                      <a:r>
                        <a:rPr lang="en-US" b="0" dirty="0" smtClean="0"/>
                        <a:t>00000004</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008</a:t>
                      </a:r>
                      <a:endParaRPr lang="en-US" b="1" dirty="0"/>
                    </a:p>
                  </a:txBody>
                  <a:tcPr>
                    <a:solidFill>
                      <a:schemeClr val="accent1">
                        <a:lumMod val="20000"/>
                        <a:lumOff val="80000"/>
                      </a:schemeClr>
                    </a:solidFill>
                  </a:tcPr>
                </a:tc>
                <a:tc>
                  <a:txBody>
                    <a:bodyPr/>
                    <a:lstStyle/>
                    <a:p>
                      <a:r>
                        <a:rPr lang="en-US" b="0" dirty="0" smtClean="0"/>
                        <a:t>00000008</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00C</a:t>
                      </a:r>
                      <a:endParaRPr lang="en-US" b="1" dirty="0"/>
                    </a:p>
                  </a:txBody>
                  <a:tcPr>
                    <a:solidFill>
                      <a:schemeClr val="accent1">
                        <a:lumMod val="20000"/>
                        <a:lumOff val="80000"/>
                      </a:schemeClr>
                    </a:solidFill>
                  </a:tcPr>
                </a:tc>
                <a:tc>
                  <a:txBody>
                    <a:bodyPr/>
                    <a:lstStyle/>
                    <a:p>
                      <a:r>
                        <a:rPr lang="en-US" b="0" dirty="0" smtClean="0"/>
                        <a:t>0000000C</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010</a:t>
                      </a:r>
                      <a:endParaRPr lang="en-US" b="1" dirty="0"/>
                    </a:p>
                  </a:txBody>
                  <a:tcPr>
                    <a:solidFill>
                      <a:schemeClr val="accent1">
                        <a:lumMod val="20000"/>
                        <a:lumOff val="80000"/>
                      </a:schemeClr>
                    </a:solidFill>
                  </a:tcPr>
                </a:tc>
                <a:tc>
                  <a:txBody>
                    <a:bodyPr/>
                    <a:lstStyle/>
                    <a:p>
                      <a:r>
                        <a:rPr lang="en-US" b="0" dirty="0" smtClean="0"/>
                        <a:t>00000010</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014</a:t>
                      </a:r>
                      <a:endParaRPr lang="en-US" b="1" dirty="0"/>
                    </a:p>
                  </a:txBody>
                  <a:tcPr>
                    <a:solidFill>
                      <a:schemeClr val="accent1">
                        <a:lumMod val="20000"/>
                        <a:lumOff val="80000"/>
                      </a:schemeClr>
                    </a:solidFill>
                  </a:tcPr>
                </a:tc>
                <a:tc>
                  <a:txBody>
                    <a:bodyPr/>
                    <a:lstStyle/>
                    <a:p>
                      <a:r>
                        <a:rPr lang="en-US" b="0" dirty="0" smtClean="0"/>
                        <a:t>00000014</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018</a:t>
                      </a:r>
                      <a:endParaRPr lang="en-US" b="1" dirty="0"/>
                    </a:p>
                  </a:txBody>
                  <a:tcPr>
                    <a:solidFill>
                      <a:schemeClr val="accent1">
                        <a:lumMod val="20000"/>
                        <a:lumOff val="80000"/>
                      </a:schemeClr>
                    </a:solidFill>
                  </a:tcPr>
                </a:tc>
                <a:tc>
                  <a:txBody>
                    <a:bodyPr/>
                    <a:lstStyle/>
                    <a:p>
                      <a:r>
                        <a:rPr lang="en-US" b="0" dirty="0" smtClean="0"/>
                        <a:t>00000018</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01C</a:t>
                      </a:r>
                      <a:endParaRPr lang="en-US" b="1" dirty="0"/>
                    </a:p>
                  </a:txBody>
                  <a:tcPr>
                    <a:solidFill>
                      <a:schemeClr val="accent1">
                        <a:lumMod val="20000"/>
                        <a:lumOff val="80000"/>
                      </a:schemeClr>
                    </a:solidFill>
                  </a:tcPr>
                </a:tc>
                <a:tc>
                  <a:txBody>
                    <a:bodyPr/>
                    <a:lstStyle/>
                    <a:p>
                      <a:r>
                        <a:rPr lang="en-US" b="0" dirty="0" smtClean="0"/>
                        <a:t>0000001C</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t>020</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00000020</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FF4</a:t>
                      </a:r>
                      <a:endParaRPr lang="en-US" b="1" dirty="0"/>
                    </a:p>
                  </a:txBody>
                  <a:tcPr>
                    <a:solidFill>
                      <a:schemeClr val="accent1">
                        <a:lumMod val="20000"/>
                        <a:lumOff val="80000"/>
                      </a:schemeClr>
                    </a:solidFill>
                  </a:tcPr>
                </a:tc>
                <a:tc>
                  <a:txBody>
                    <a:bodyPr/>
                    <a:lstStyle/>
                    <a:p>
                      <a:r>
                        <a:rPr lang="en-US" b="0" dirty="0" smtClean="0"/>
                        <a:t>00000FF4</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FF8</a:t>
                      </a:r>
                      <a:endParaRPr lang="en-US" b="1" dirty="0"/>
                    </a:p>
                  </a:txBody>
                  <a:tcPr>
                    <a:solidFill>
                      <a:schemeClr val="accent1">
                        <a:lumMod val="20000"/>
                        <a:lumOff val="80000"/>
                      </a:schemeClr>
                    </a:solidFill>
                  </a:tcPr>
                </a:tc>
                <a:tc>
                  <a:txBody>
                    <a:bodyPr/>
                    <a:lstStyle/>
                    <a:p>
                      <a:r>
                        <a:rPr lang="en-US" b="0" dirty="0" smtClean="0"/>
                        <a:t>00000FF8</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FFC</a:t>
                      </a:r>
                      <a:endParaRPr lang="en-US" b="1" dirty="0"/>
                    </a:p>
                  </a:txBody>
                  <a:tcPr>
                    <a:solidFill>
                      <a:schemeClr val="accent1">
                        <a:lumMod val="20000"/>
                        <a:lumOff val="80000"/>
                      </a:schemeClr>
                    </a:solidFill>
                  </a:tcPr>
                </a:tc>
                <a:tc>
                  <a:txBody>
                    <a:bodyPr/>
                    <a:lstStyle/>
                    <a:p>
                      <a:r>
                        <a:rPr lang="en-US" b="0" dirty="0" smtClean="0"/>
                        <a:t>00000FFC</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0x0F7</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0000 111</a:t>
            </a:r>
            <a:r>
              <a:rPr lang="en-US" sz="2000" b="1" dirty="0" smtClean="0">
                <a:solidFill>
                  <a:srgbClr val="00B0F0"/>
                </a:solidFill>
                <a:latin typeface="Cambria Math" panose="02040503050406030204" pitchFamily="18" charset="0"/>
              </a:rPr>
              <a:t>1 01</a:t>
            </a:r>
            <a:r>
              <a:rPr lang="en-US" sz="2000" b="1" dirty="0">
                <a:solidFill>
                  <a:srgbClr val="FFC000"/>
                </a:solidFill>
                <a:latin typeface="Cambria Math" panose="02040503050406030204" pitchFamily="18" charset="0"/>
              </a:rPr>
              <a:t>1</a:t>
            </a:r>
            <a:r>
              <a:rPr lang="en-US" sz="2000" b="1" dirty="0" smtClean="0">
                <a:solidFill>
                  <a:srgbClr val="FFC000"/>
                </a:solidFill>
                <a:latin typeface="Cambria Math" panose="02040503050406030204" pitchFamily="18" charset="0"/>
              </a:rPr>
              <a:t>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5" name="TextBox 14"/>
          <p:cNvSpPr txBox="1"/>
          <p:nvPr/>
        </p:nvSpPr>
        <p:spPr>
          <a:xfrm>
            <a:off x="16120" y="6337380"/>
            <a:ext cx="8185771" cy="523220"/>
          </a:xfrm>
          <a:prstGeom prst="rect">
            <a:avLst/>
          </a:prstGeom>
          <a:noFill/>
          <a:ln>
            <a:solidFill>
              <a:schemeClr val="tx1"/>
            </a:solidFill>
          </a:ln>
        </p:spPr>
        <p:txBody>
          <a:bodyPr wrap="square" rtlCol="0">
            <a:spAutoFit/>
          </a:bodyPr>
          <a:lstStyle/>
          <a:p>
            <a:r>
              <a:rPr lang="en-US" sz="1400" dirty="0" smtClean="0">
                <a:solidFill>
                  <a:schemeClr val="bg1"/>
                </a:solidFill>
              </a:rPr>
              <a:t>Data already present in the set </a:t>
            </a:r>
            <a:r>
              <a:rPr lang="en-US" sz="1400" b="1" dirty="0" smtClean="0">
                <a:solidFill>
                  <a:schemeClr val="bg1"/>
                </a:solidFill>
              </a:rPr>
              <a:t>“101”</a:t>
            </a:r>
            <a:r>
              <a:rPr lang="en-US" sz="1400" dirty="0" smtClean="0">
                <a:solidFill>
                  <a:schemeClr val="bg1"/>
                </a:solidFill>
              </a:rPr>
              <a:t>. To check whether it’s the same data we need </a:t>
            </a:r>
            <a:r>
              <a:rPr lang="en-US" sz="1400" b="1" dirty="0" smtClean="0">
                <a:solidFill>
                  <a:schemeClr val="bg1"/>
                </a:solidFill>
              </a:rPr>
              <a:t>“compare the tag bits”. </a:t>
            </a:r>
            <a:r>
              <a:rPr lang="en-US" sz="1400" dirty="0" smtClean="0">
                <a:solidFill>
                  <a:schemeClr val="bg1"/>
                </a:solidFill>
              </a:rPr>
              <a:t>As </a:t>
            </a:r>
          </a:p>
          <a:p>
            <a:r>
              <a:rPr lang="en-US" sz="1400" b="1" dirty="0" smtClean="0">
                <a:solidFill>
                  <a:schemeClr val="bg1"/>
                </a:solidFill>
              </a:rPr>
              <a:t>0000000 ≠ 0000111 </a:t>
            </a:r>
            <a:r>
              <a:rPr lang="en-US" sz="1400" dirty="0" smtClean="0">
                <a:solidFill>
                  <a:schemeClr val="bg1"/>
                </a:solidFill>
              </a:rPr>
              <a:t>It means we have to replace the data.</a:t>
            </a:r>
            <a:endParaRPr lang="en-US" sz="1400" dirty="0">
              <a:solidFill>
                <a:schemeClr val="bg1"/>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676010301"/>
              </p:ext>
            </p:extLst>
          </p:nvPr>
        </p:nvGraphicFramePr>
        <p:xfrm>
          <a:off x="4067174" y="2194701"/>
          <a:ext cx="4981575" cy="3566216"/>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551377675"/>
              </p:ext>
            </p:extLst>
          </p:nvPr>
        </p:nvGraphicFramePr>
        <p:xfrm>
          <a:off x="4082645" y="2208920"/>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633280">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
        <p:nvSpPr>
          <p:cNvPr id="23" name="TextBox 22"/>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3	Cache Hit = 0</a:t>
            </a:r>
            <a:endParaRPr lang="en-US" b="1" dirty="0">
              <a:solidFill>
                <a:srgbClr val="FF0000"/>
              </a:solidFill>
            </a:endParaRPr>
          </a:p>
        </p:txBody>
      </p:sp>
    </p:spTree>
    <p:extLst>
      <p:ext uri="{BB962C8B-B14F-4D97-AF65-F5344CB8AC3E}">
        <p14:creationId xmlns:p14="http://schemas.microsoft.com/office/powerpoint/2010/main" val="26715352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3"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01</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4B</a:t>
            </a:r>
          </a:p>
          <a:p>
            <a:r>
              <a:rPr lang="en-US" sz="1400" b="1" dirty="0" smtClean="0"/>
              <a:t>C = 32B</a:t>
            </a:r>
          </a:p>
          <a:p>
            <a:r>
              <a:rPr lang="en-US" sz="1400" b="1" dirty="0" smtClean="0"/>
              <a:t>N = 1 (Direct Mapped)</a:t>
            </a:r>
          </a:p>
          <a:p>
            <a:r>
              <a:rPr lang="en-US" sz="1400" b="1" dirty="0" smtClean="0"/>
              <a:t>Addresses are 12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a:t>
                </a:r>
                <a:r>
                  <a:rPr lang="en-US" sz="1200" i="1" dirty="0"/>
                  <a:t>8</a:t>
                </a:r>
              </a:p>
              <a:p>
                <a:r>
                  <a:rPr lang="en-US" sz="1200" dirty="0" smtClean="0"/>
                  <a:t>S = B/N = </a:t>
                </a:r>
                <a:r>
                  <a:rPr lang="en-US" sz="1200" dirty="0"/>
                  <a:t>8</a:t>
                </a:r>
                <a:r>
                  <a:rPr lang="en-US" sz="1200" dirty="0" smtClean="0"/>
                  <a:t>/1 = </a:t>
                </a:r>
                <a:r>
                  <a:rPr lang="en-US" sz="1200" dirty="0"/>
                  <a:t>8</a:t>
                </a:r>
                <a:endParaRPr lang="en-US" sz="1200" dirty="0" smtClean="0"/>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latin typeface="Cambria Math" panose="02040503050406030204" pitchFamily="18" charset="0"/>
                  </a:rPr>
                  <a:t>0x014</a:t>
                </a:r>
              </a:p>
              <a:p>
                <a:pPr marL="342900" indent="-342900">
                  <a:buFont typeface="+mj-lt"/>
                  <a:buAutoNum type="arabicPeriod"/>
                </a:pPr>
                <a:r>
                  <a:rPr lang="en-US" b="1" dirty="0">
                    <a:latin typeface="Cambria Math" panose="02040503050406030204" pitchFamily="18" charset="0"/>
                  </a:rPr>
                  <a:t>0xFF0</a:t>
                </a:r>
              </a:p>
              <a:p>
                <a:pPr marL="342900" indent="-342900">
                  <a:buFont typeface="+mj-lt"/>
                  <a:buAutoNum type="arabicPeriod"/>
                </a:pPr>
                <a:r>
                  <a:rPr lang="en-US" b="1" dirty="0">
                    <a:latin typeface="Cambria Math" panose="02040503050406030204" pitchFamily="18" charset="0"/>
                  </a:rPr>
                  <a:t>0x0F7</a:t>
                </a:r>
              </a:p>
              <a:p>
                <a:pPr marL="342900" indent="-342900">
                  <a:buFont typeface="+mj-lt"/>
                  <a:buAutoNum type="arabicPeriod"/>
                </a:pPr>
                <a:r>
                  <a:rPr lang="en-US" b="1" dirty="0">
                    <a:solidFill>
                      <a:srgbClr val="FF0000"/>
                    </a:solidFill>
                    <a:latin typeface="Cambria Math" panose="02040503050406030204" pitchFamily="18" charset="0"/>
                  </a:rPr>
                  <a:t>0xC03</a:t>
                </a:r>
              </a:p>
              <a:p>
                <a:pPr marL="342900" indent="-342900">
                  <a:buFont typeface="+mj-lt"/>
                  <a:buAutoNum type="arabicPeriod"/>
                </a:pPr>
                <a:r>
                  <a:rPr lang="en-US" b="1" dirty="0">
                    <a:latin typeface="Cambria Math" panose="02040503050406030204" pitchFamily="18" charset="0"/>
                  </a:rPr>
                  <a:t>0x0F3</a:t>
                </a: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000</a:t>
                      </a:r>
                      <a:endParaRPr lang="en-US" b="1" dirty="0"/>
                    </a:p>
                  </a:txBody>
                  <a:tcPr>
                    <a:solidFill>
                      <a:schemeClr val="accent1">
                        <a:lumMod val="20000"/>
                        <a:lumOff val="80000"/>
                      </a:schemeClr>
                    </a:solidFill>
                  </a:tcPr>
                </a:tc>
                <a:tc>
                  <a:txBody>
                    <a:bodyPr/>
                    <a:lstStyle/>
                    <a:p>
                      <a:r>
                        <a:rPr lang="en-US" dirty="0" smtClean="0"/>
                        <a:t>00000000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004</a:t>
                      </a:r>
                      <a:endParaRPr lang="en-US" b="1" dirty="0"/>
                    </a:p>
                  </a:txBody>
                  <a:tcPr>
                    <a:solidFill>
                      <a:schemeClr val="accent1">
                        <a:lumMod val="20000"/>
                        <a:lumOff val="80000"/>
                      </a:schemeClr>
                    </a:solidFill>
                  </a:tcPr>
                </a:tc>
                <a:tc>
                  <a:txBody>
                    <a:bodyPr/>
                    <a:lstStyle/>
                    <a:p>
                      <a:r>
                        <a:rPr lang="en-US" b="0" dirty="0" smtClean="0"/>
                        <a:t>00000004</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008</a:t>
                      </a:r>
                      <a:endParaRPr lang="en-US" b="1" dirty="0"/>
                    </a:p>
                  </a:txBody>
                  <a:tcPr>
                    <a:solidFill>
                      <a:schemeClr val="accent1">
                        <a:lumMod val="20000"/>
                        <a:lumOff val="80000"/>
                      </a:schemeClr>
                    </a:solidFill>
                  </a:tcPr>
                </a:tc>
                <a:tc>
                  <a:txBody>
                    <a:bodyPr/>
                    <a:lstStyle/>
                    <a:p>
                      <a:r>
                        <a:rPr lang="en-US" b="0" dirty="0" smtClean="0"/>
                        <a:t>00000008</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00C</a:t>
                      </a:r>
                      <a:endParaRPr lang="en-US" b="1" dirty="0"/>
                    </a:p>
                  </a:txBody>
                  <a:tcPr>
                    <a:solidFill>
                      <a:schemeClr val="accent1">
                        <a:lumMod val="20000"/>
                        <a:lumOff val="80000"/>
                      </a:schemeClr>
                    </a:solidFill>
                  </a:tcPr>
                </a:tc>
                <a:tc>
                  <a:txBody>
                    <a:bodyPr/>
                    <a:lstStyle/>
                    <a:p>
                      <a:r>
                        <a:rPr lang="en-US" b="0" dirty="0" smtClean="0"/>
                        <a:t>0000000C</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010</a:t>
                      </a:r>
                      <a:endParaRPr lang="en-US" b="1" dirty="0"/>
                    </a:p>
                  </a:txBody>
                  <a:tcPr>
                    <a:solidFill>
                      <a:schemeClr val="accent1">
                        <a:lumMod val="20000"/>
                        <a:lumOff val="80000"/>
                      </a:schemeClr>
                    </a:solidFill>
                  </a:tcPr>
                </a:tc>
                <a:tc>
                  <a:txBody>
                    <a:bodyPr/>
                    <a:lstStyle/>
                    <a:p>
                      <a:r>
                        <a:rPr lang="en-US" b="0" dirty="0" smtClean="0"/>
                        <a:t>00000010</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014</a:t>
                      </a:r>
                      <a:endParaRPr lang="en-US" b="1" dirty="0"/>
                    </a:p>
                  </a:txBody>
                  <a:tcPr>
                    <a:solidFill>
                      <a:schemeClr val="accent1">
                        <a:lumMod val="20000"/>
                        <a:lumOff val="80000"/>
                      </a:schemeClr>
                    </a:solidFill>
                  </a:tcPr>
                </a:tc>
                <a:tc>
                  <a:txBody>
                    <a:bodyPr/>
                    <a:lstStyle/>
                    <a:p>
                      <a:r>
                        <a:rPr lang="en-US" b="0" dirty="0" smtClean="0"/>
                        <a:t>00000014</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018</a:t>
                      </a:r>
                      <a:endParaRPr lang="en-US" b="1" dirty="0"/>
                    </a:p>
                  </a:txBody>
                  <a:tcPr>
                    <a:solidFill>
                      <a:schemeClr val="accent1">
                        <a:lumMod val="20000"/>
                        <a:lumOff val="80000"/>
                      </a:schemeClr>
                    </a:solidFill>
                  </a:tcPr>
                </a:tc>
                <a:tc>
                  <a:txBody>
                    <a:bodyPr/>
                    <a:lstStyle/>
                    <a:p>
                      <a:r>
                        <a:rPr lang="en-US" b="0" dirty="0" smtClean="0"/>
                        <a:t>00000018</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01C</a:t>
                      </a:r>
                      <a:endParaRPr lang="en-US" b="1" dirty="0"/>
                    </a:p>
                  </a:txBody>
                  <a:tcPr>
                    <a:solidFill>
                      <a:schemeClr val="accent1">
                        <a:lumMod val="20000"/>
                        <a:lumOff val="80000"/>
                      </a:schemeClr>
                    </a:solidFill>
                  </a:tcPr>
                </a:tc>
                <a:tc>
                  <a:txBody>
                    <a:bodyPr/>
                    <a:lstStyle/>
                    <a:p>
                      <a:r>
                        <a:rPr lang="en-US" b="0" dirty="0" smtClean="0"/>
                        <a:t>0000001C</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t>020</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00000020</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FF4</a:t>
                      </a:r>
                      <a:endParaRPr lang="en-US" b="1" dirty="0"/>
                    </a:p>
                  </a:txBody>
                  <a:tcPr>
                    <a:solidFill>
                      <a:schemeClr val="accent1">
                        <a:lumMod val="20000"/>
                        <a:lumOff val="80000"/>
                      </a:schemeClr>
                    </a:solidFill>
                  </a:tcPr>
                </a:tc>
                <a:tc>
                  <a:txBody>
                    <a:bodyPr/>
                    <a:lstStyle/>
                    <a:p>
                      <a:r>
                        <a:rPr lang="en-US" b="0" dirty="0" smtClean="0"/>
                        <a:t>00000FF4</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FF8</a:t>
                      </a:r>
                      <a:endParaRPr lang="en-US" b="1" dirty="0"/>
                    </a:p>
                  </a:txBody>
                  <a:tcPr>
                    <a:solidFill>
                      <a:schemeClr val="accent1">
                        <a:lumMod val="20000"/>
                        <a:lumOff val="80000"/>
                      </a:schemeClr>
                    </a:solidFill>
                  </a:tcPr>
                </a:tc>
                <a:tc>
                  <a:txBody>
                    <a:bodyPr/>
                    <a:lstStyle/>
                    <a:p>
                      <a:r>
                        <a:rPr lang="en-US" b="0" dirty="0" smtClean="0"/>
                        <a:t>00000FF8</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FFC</a:t>
                      </a:r>
                      <a:endParaRPr lang="en-US" b="1" dirty="0"/>
                    </a:p>
                  </a:txBody>
                  <a:tcPr>
                    <a:solidFill>
                      <a:schemeClr val="accent1">
                        <a:lumMod val="20000"/>
                        <a:lumOff val="80000"/>
                      </a:schemeClr>
                    </a:solidFill>
                  </a:tcPr>
                </a:tc>
                <a:tc>
                  <a:txBody>
                    <a:bodyPr/>
                    <a:lstStyle/>
                    <a:p>
                      <a:r>
                        <a:rPr lang="en-US" b="0" dirty="0" smtClean="0"/>
                        <a:t>00000FFC</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0xC03</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1100 000</a:t>
            </a:r>
            <a:r>
              <a:rPr lang="en-US" sz="2000" b="1" dirty="0">
                <a:solidFill>
                  <a:srgbClr val="00B0F0"/>
                </a:solidFill>
                <a:latin typeface="Cambria Math" panose="02040503050406030204" pitchFamily="18" charset="0"/>
              </a:rPr>
              <a:t>0</a:t>
            </a:r>
            <a:r>
              <a:rPr lang="en-US" sz="2000" b="1" dirty="0" smtClean="0">
                <a:solidFill>
                  <a:srgbClr val="00B0F0"/>
                </a:solidFill>
                <a:latin typeface="Cambria Math" panose="02040503050406030204" pitchFamily="18" charset="0"/>
              </a:rPr>
              <a:t> 00</a:t>
            </a:r>
            <a:r>
              <a:rPr lang="en-US" sz="2000" b="1" dirty="0" smtClean="0">
                <a:solidFill>
                  <a:srgbClr val="FFC000"/>
                </a:solidFill>
                <a:latin typeface="Cambria Math" panose="02040503050406030204" pitchFamily="18" charset="0"/>
              </a:rPr>
              <a:t>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graphicFrame>
        <p:nvGraphicFramePr>
          <p:cNvPr id="20" name="Table 19"/>
          <p:cNvGraphicFramePr>
            <a:graphicFrameLocks noGrp="1"/>
          </p:cNvGraphicFramePr>
          <p:nvPr>
            <p:extLst>
              <p:ext uri="{D42A27DB-BD31-4B8C-83A1-F6EECF244321}">
                <p14:modId xmlns:p14="http://schemas.microsoft.com/office/powerpoint/2010/main" val="3614272987"/>
              </p:ext>
            </p:extLst>
          </p:nvPr>
        </p:nvGraphicFramePr>
        <p:xfrm>
          <a:off x="4082645" y="2208920"/>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633280">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648847630"/>
              </p:ext>
            </p:extLst>
          </p:nvPr>
        </p:nvGraphicFramePr>
        <p:xfrm>
          <a:off x="4067175" y="2197090"/>
          <a:ext cx="4981575" cy="3566160"/>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633280">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solidFill>
                            <a:schemeClr val="tx1"/>
                          </a:solidFill>
                        </a:rPr>
                        <a:t>00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
        <p:nvSpPr>
          <p:cNvPr id="22" name="TextBox 21"/>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4	Cache Hit = 0</a:t>
            </a:r>
            <a:endParaRPr lang="en-US" b="1" dirty="0">
              <a:solidFill>
                <a:srgbClr val="FF0000"/>
              </a:solidFill>
            </a:endParaRPr>
          </a:p>
        </p:txBody>
      </p:sp>
    </p:spTree>
    <p:extLst>
      <p:ext uri="{BB962C8B-B14F-4D97-AF65-F5344CB8AC3E}">
        <p14:creationId xmlns:p14="http://schemas.microsoft.com/office/powerpoint/2010/main" val="13176926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01</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4B</a:t>
            </a:r>
          </a:p>
          <a:p>
            <a:r>
              <a:rPr lang="en-US" sz="1400" b="1" dirty="0" smtClean="0"/>
              <a:t>C = 32B</a:t>
            </a:r>
          </a:p>
          <a:p>
            <a:r>
              <a:rPr lang="en-US" sz="1400" b="1" dirty="0" smtClean="0"/>
              <a:t>N = 1 (Direct Mapped)</a:t>
            </a:r>
          </a:p>
          <a:p>
            <a:r>
              <a:rPr lang="en-US" sz="1400" b="1" dirty="0" smtClean="0"/>
              <a:t>Addresses are 12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a:t>
                </a:r>
                <a:r>
                  <a:rPr lang="en-US" sz="1200" i="1" dirty="0"/>
                  <a:t>8</a:t>
                </a:r>
              </a:p>
              <a:p>
                <a:r>
                  <a:rPr lang="en-US" sz="1200" dirty="0" smtClean="0"/>
                  <a:t>S = B/N = </a:t>
                </a:r>
                <a:r>
                  <a:rPr lang="en-US" sz="1200" dirty="0"/>
                  <a:t>8</a:t>
                </a:r>
                <a:r>
                  <a:rPr lang="en-US" sz="1200" dirty="0" smtClean="0"/>
                  <a:t>/1 = </a:t>
                </a:r>
                <a:r>
                  <a:rPr lang="en-US" sz="1200" dirty="0"/>
                  <a:t>8</a:t>
                </a:r>
                <a:endParaRPr lang="en-US" sz="1200" dirty="0" smtClean="0"/>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a:latin typeface="Cambria Math" panose="02040503050406030204" pitchFamily="18" charset="0"/>
                                </a:rPr>
                                <m:t>𝟒</m:t>
                              </m:r>
                            </m:e>
                          </m:func>
                        </m:e>
                      </m:func>
                      <m:r>
                        <a:rPr lang="en-US" sz="1200" b="1" i="1">
                          <a:latin typeface="Cambria Math" panose="02040503050406030204" pitchFamily="18" charset="0"/>
                        </a:rPr>
                        <m:t>=</m:t>
                      </m:r>
                      <m:r>
                        <a:rPr lang="en-US" sz="1200" b="1" i="1">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𝟖</m:t>
                              </m:r>
                            </m:e>
                          </m:func>
                        </m:e>
                      </m:func>
                      <m:r>
                        <a:rPr lang="en-US" sz="1200" b="1" i="1">
                          <a:latin typeface="Cambria Math" panose="02040503050406030204" pitchFamily="18" charset="0"/>
                        </a:rPr>
                        <m:t>=</m:t>
                      </m:r>
                      <m:r>
                        <a:rPr lang="en-US" sz="1200" b="1" i="1" smtClean="0">
                          <a:latin typeface="Cambria Math" panose="02040503050406030204" pitchFamily="18" charset="0"/>
                        </a:rPr>
                        <m:t>𝟑</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𝟏𝟐</m:t>
                      </m:r>
                      <m:r>
                        <a:rPr lang="en-US" sz="1200" b="1" i="1" smtClean="0">
                          <a:latin typeface="Cambria Math" panose="02040503050406030204" pitchFamily="18" charset="0"/>
                        </a:rPr>
                        <m:t> −</m:t>
                      </m:r>
                      <m:r>
                        <a:rPr lang="en-US" sz="1200" b="1" i="1" smtClean="0">
                          <a:latin typeface="Cambria Math" panose="02040503050406030204" pitchFamily="18" charset="0"/>
                        </a:rPr>
                        <m:t>𝟐</m:t>
                      </m:r>
                      <m:r>
                        <a:rPr lang="en-US" sz="1200" b="1" i="1" smtClean="0">
                          <a:latin typeface="Cambria Math" panose="02040503050406030204" pitchFamily="18" charset="0"/>
                        </a:rPr>
                        <m:t> −</m:t>
                      </m:r>
                      <m:r>
                        <a:rPr lang="en-US" sz="1200" b="1" i="1" smtClean="0">
                          <a:latin typeface="Cambria Math" panose="02040503050406030204" pitchFamily="18" charset="0"/>
                        </a:rPr>
                        <m:t>𝟑</m:t>
                      </m:r>
                      <m:r>
                        <a:rPr lang="en-US" sz="1200" b="1" i="1" smtClean="0">
                          <a:latin typeface="Cambria Math" panose="02040503050406030204" pitchFamily="18" charset="0"/>
                        </a:rPr>
                        <m:t>=</m:t>
                      </m:r>
                      <m:r>
                        <a:rPr lang="en-US" sz="1200" b="1" i="1" smtClean="0">
                          <a:latin typeface="Cambria Math" panose="02040503050406030204" pitchFamily="18" charset="0"/>
                        </a:rPr>
                        <m:t>𝟕</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smtClean="0">
                    <a:latin typeface="Cambria Math" panose="02040503050406030204" pitchFamily="18" charset="0"/>
                  </a:rPr>
                  <a:t>0x014</a:t>
                </a:r>
              </a:p>
              <a:p>
                <a:pPr marL="342900" indent="-342900">
                  <a:buFont typeface="+mj-lt"/>
                  <a:buAutoNum type="arabicPeriod"/>
                </a:pPr>
                <a:r>
                  <a:rPr lang="en-US" b="1" dirty="0" smtClean="0">
                    <a:latin typeface="Cambria Math" panose="02040503050406030204" pitchFamily="18" charset="0"/>
                  </a:rPr>
                  <a:t>0xFF0</a:t>
                </a:r>
              </a:p>
              <a:p>
                <a:pPr marL="342900" indent="-342900">
                  <a:buFont typeface="+mj-lt"/>
                  <a:buAutoNum type="arabicPeriod"/>
                </a:pPr>
                <a:r>
                  <a:rPr lang="en-US" b="1" dirty="0" smtClean="0">
                    <a:latin typeface="Cambria Math" panose="02040503050406030204" pitchFamily="18" charset="0"/>
                  </a:rPr>
                  <a:t>0x0F7</a:t>
                </a:r>
              </a:p>
              <a:p>
                <a:pPr marL="342900" indent="-342900">
                  <a:buFont typeface="+mj-lt"/>
                  <a:buAutoNum type="arabicPeriod"/>
                </a:pPr>
                <a:r>
                  <a:rPr lang="en-US" b="1" dirty="0" smtClean="0">
                    <a:latin typeface="Cambria Math" panose="02040503050406030204" pitchFamily="18" charset="0"/>
                  </a:rPr>
                  <a:t>0xC03</a:t>
                </a:r>
              </a:p>
              <a:p>
                <a:pPr marL="342900" indent="-342900">
                  <a:buFont typeface="+mj-lt"/>
                  <a:buAutoNum type="arabicPeriod"/>
                </a:pPr>
                <a:r>
                  <a:rPr lang="en-US" b="1" dirty="0" smtClean="0">
                    <a:solidFill>
                      <a:srgbClr val="FF0000"/>
                    </a:solidFill>
                    <a:latin typeface="Cambria Math" panose="02040503050406030204" pitchFamily="18" charset="0"/>
                  </a:rPr>
                  <a:t>0x0F3</a:t>
                </a:r>
                <a:endParaRPr lang="en-US" b="1" dirty="0">
                  <a:solidFill>
                    <a:srgbClr val="FF0000"/>
                  </a:solidFill>
                  <a:latin typeface="Cambria Math" panose="02040503050406030204" pitchFamily="18" charset="0"/>
                </a:endParaRP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000</a:t>
                      </a:r>
                      <a:endParaRPr lang="en-US" b="1" dirty="0"/>
                    </a:p>
                  </a:txBody>
                  <a:tcPr>
                    <a:solidFill>
                      <a:schemeClr val="accent1">
                        <a:lumMod val="20000"/>
                        <a:lumOff val="80000"/>
                      </a:schemeClr>
                    </a:solidFill>
                  </a:tcPr>
                </a:tc>
                <a:tc>
                  <a:txBody>
                    <a:bodyPr/>
                    <a:lstStyle/>
                    <a:p>
                      <a:r>
                        <a:rPr lang="en-US" dirty="0" smtClean="0"/>
                        <a:t>00000000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004</a:t>
                      </a:r>
                      <a:endParaRPr lang="en-US" b="1" dirty="0"/>
                    </a:p>
                  </a:txBody>
                  <a:tcPr>
                    <a:solidFill>
                      <a:schemeClr val="accent1">
                        <a:lumMod val="20000"/>
                        <a:lumOff val="80000"/>
                      </a:schemeClr>
                    </a:solidFill>
                  </a:tcPr>
                </a:tc>
                <a:tc>
                  <a:txBody>
                    <a:bodyPr/>
                    <a:lstStyle/>
                    <a:p>
                      <a:r>
                        <a:rPr lang="en-US" b="0" dirty="0" smtClean="0"/>
                        <a:t>00000004</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008</a:t>
                      </a:r>
                      <a:endParaRPr lang="en-US" b="1" dirty="0"/>
                    </a:p>
                  </a:txBody>
                  <a:tcPr>
                    <a:solidFill>
                      <a:schemeClr val="accent1">
                        <a:lumMod val="20000"/>
                        <a:lumOff val="80000"/>
                      </a:schemeClr>
                    </a:solidFill>
                  </a:tcPr>
                </a:tc>
                <a:tc>
                  <a:txBody>
                    <a:bodyPr/>
                    <a:lstStyle/>
                    <a:p>
                      <a:r>
                        <a:rPr lang="en-US" b="0" dirty="0" smtClean="0"/>
                        <a:t>00000008</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00C</a:t>
                      </a:r>
                      <a:endParaRPr lang="en-US" b="1" dirty="0"/>
                    </a:p>
                  </a:txBody>
                  <a:tcPr>
                    <a:solidFill>
                      <a:schemeClr val="accent1">
                        <a:lumMod val="20000"/>
                        <a:lumOff val="80000"/>
                      </a:schemeClr>
                    </a:solidFill>
                  </a:tcPr>
                </a:tc>
                <a:tc>
                  <a:txBody>
                    <a:bodyPr/>
                    <a:lstStyle/>
                    <a:p>
                      <a:r>
                        <a:rPr lang="en-US" b="0" dirty="0" smtClean="0"/>
                        <a:t>0000000C</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010</a:t>
                      </a:r>
                      <a:endParaRPr lang="en-US" b="1" dirty="0"/>
                    </a:p>
                  </a:txBody>
                  <a:tcPr>
                    <a:solidFill>
                      <a:schemeClr val="accent1">
                        <a:lumMod val="20000"/>
                        <a:lumOff val="80000"/>
                      </a:schemeClr>
                    </a:solidFill>
                  </a:tcPr>
                </a:tc>
                <a:tc>
                  <a:txBody>
                    <a:bodyPr/>
                    <a:lstStyle/>
                    <a:p>
                      <a:r>
                        <a:rPr lang="en-US" b="0" dirty="0" smtClean="0"/>
                        <a:t>00000010</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014</a:t>
                      </a:r>
                      <a:endParaRPr lang="en-US" b="1" dirty="0"/>
                    </a:p>
                  </a:txBody>
                  <a:tcPr>
                    <a:solidFill>
                      <a:schemeClr val="accent1">
                        <a:lumMod val="20000"/>
                        <a:lumOff val="80000"/>
                      </a:schemeClr>
                    </a:solidFill>
                  </a:tcPr>
                </a:tc>
                <a:tc>
                  <a:txBody>
                    <a:bodyPr/>
                    <a:lstStyle/>
                    <a:p>
                      <a:r>
                        <a:rPr lang="en-US" b="0" dirty="0" smtClean="0"/>
                        <a:t>00000014</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018</a:t>
                      </a:r>
                      <a:endParaRPr lang="en-US" b="1" dirty="0"/>
                    </a:p>
                  </a:txBody>
                  <a:tcPr>
                    <a:solidFill>
                      <a:schemeClr val="accent1">
                        <a:lumMod val="20000"/>
                        <a:lumOff val="80000"/>
                      </a:schemeClr>
                    </a:solidFill>
                  </a:tcPr>
                </a:tc>
                <a:tc>
                  <a:txBody>
                    <a:bodyPr/>
                    <a:lstStyle/>
                    <a:p>
                      <a:r>
                        <a:rPr lang="en-US" b="0" dirty="0" smtClean="0"/>
                        <a:t>00000018</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01C</a:t>
                      </a:r>
                      <a:endParaRPr lang="en-US" b="1" dirty="0"/>
                    </a:p>
                  </a:txBody>
                  <a:tcPr>
                    <a:solidFill>
                      <a:schemeClr val="accent1">
                        <a:lumMod val="20000"/>
                        <a:lumOff val="80000"/>
                      </a:schemeClr>
                    </a:solidFill>
                  </a:tcPr>
                </a:tc>
                <a:tc>
                  <a:txBody>
                    <a:bodyPr/>
                    <a:lstStyle/>
                    <a:p>
                      <a:r>
                        <a:rPr lang="en-US" b="0" dirty="0" smtClean="0"/>
                        <a:t>0000001C</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t>020</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00000020</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FF4</a:t>
                      </a:r>
                      <a:endParaRPr lang="en-US" b="1" dirty="0"/>
                    </a:p>
                  </a:txBody>
                  <a:tcPr>
                    <a:solidFill>
                      <a:schemeClr val="accent1">
                        <a:lumMod val="20000"/>
                        <a:lumOff val="80000"/>
                      </a:schemeClr>
                    </a:solidFill>
                  </a:tcPr>
                </a:tc>
                <a:tc>
                  <a:txBody>
                    <a:bodyPr/>
                    <a:lstStyle/>
                    <a:p>
                      <a:r>
                        <a:rPr lang="en-US" b="0" dirty="0" smtClean="0"/>
                        <a:t>00000FF4</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FF8</a:t>
                      </a:r>
                      <a:endParaRPr lang="en-US" b="1" dirty="0"/>
                    </a:p>
                  </a:txBody>
                  <a:tcPr>
                    <a:solidFill>
                      <a:schemeClr val="accent1">
                        <a:lumMod val="20000"/>
                        <a:lumOff val="80000"/>
                      </a:schemeClr>
                    </a:solidFill>
                  </a:tcPr>
                </a:tc>
                <a:tc>
                  <a:txBody>
                    <a:bodyPr/>
                    <a:lstStyle/>
                    <a:p>
                      <a:r>
                        <a:rPr lang="en-US" b="0" dirty="0" smtClean="0"/>
                        <a:t>00000FF8</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FFC</a:t>
                      </a:r>
                      <a:endParaRPr lang="en-US" b="1" dirty="0"/>
                    </a:p>
                  </a:txBody>
                  <a:tcPr>
                    <a:solidFill>
                      <a:schemeClr val="accent1">
                        <a:lumMod val="20000"/>
                        <a:lumOff val="80000"/>
                      </a:schemeClr>
                    </a:solidFill>
                  </a:tcPr>
                </a:tc>
                <a:tc>
                  <a:txBody>
                    <a:bodyPr/>
                    <a:lstStyle/>
                    <a:p>
                      <a:r>
                        <a:rPr lang="en-US" b="0" dirty="0" smtClean="0"/>
                        <a:t>00000FFC</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21680" y="5751420"/>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0x0F3</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0000 111</a:t>
            </a:r>
            <a:r>
              <a:rPr lang="en-US" sz="2000" b="1" dirty="0">
                <a:solidFill>
                  <a:srgbClr val="00B0F0"/>
                </a:solidFill>
                <a:latin typeface="Cambria Math" panose="02040503050406030204" pitchFamily="18" charset="0"/>
              </a:rPr>
              <a:t>1</a:t>
            </a:r>
            <a:r>
              <a:rPr lang="en-US" sz="2000" b="1" dirty="0" smtClean="0">
                <a:solidFill>
                  <a:srgbClr val="00B0F0"/>
                </a:solidFill>
                <a:latin typeface="Cambria Math" panose="02040503050406030204" pitchFamily="18" charset="0"/>
              </a:rPr>
              <a:t> 00</a:t>
            </a:r>
            <a:r>
              <a:rPr lang="en-US" sz="2000" b="1" dirty="0" smtClean="0">
                <a:solidFill>
                  <a:srgbClr val="FFC000"/>
                </a:solidFill>
                <a:latin typeface="Cambria Math" panose="02040503050406030204" pitchFamily="18" charset="0"/>
              </a:rPr>
              <a:t>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5" name="TextBox 14"/>
          <p:cNvSpPr txBox="1"/>
          <p:nvPr/>
        </p:nvSpPr>
        <p:spPr>
          <a:xfrm>
            <a:off x="16121" y="6337380"/>
            <a:ext cx="8222716" cy="523220"/>
          </a:xfrm>
          <a:prstGeom prst="rect">
            <a:avLst/>
          </a:prstGeom>
          <a:noFill/>
          <a:ln>
            <a:solidFill>
              <a:schemeClr val="tx1"/>
            </a:solidFill>
          </a:ln>
        </p:spPr>
        <p:txBody>
          <a:bodyPr wrap="square" rtlCol="0">
            <a:spAutoFit/>
          </a:bodyPr>
          <a:lstStyle/>
          <a:p>
            <a:r>
              <a:rPr lang="en-US" sz="1400" dirty="0" smtClean="0">
                <a:solidFill>
                  <a:schemeClr val="bg1"/>
                </a:solidFill>
              </a:rPr>
              <a:t>Data already present in the set </a:t>
            </a:r>
            <a:r>
              <a:rPr lang="en-US" sz="1400" b="1" dirty="0" smtClean="0">
                <a:solidFill>
                  <a:schemeClr val="bg1"/>
                </a:solidFill>
              </a:rPr>
              <a:t>“101”</a:t>
            </a:r>
            <a:r>
              <a:rPr lang="en-US" sz="1400" dirty="0" smtClean="0">
                <a:solidFill>
                  <a:schemeClr val="bg1"/>
                </a:solidFill>
              </a:rPr>
              <a:t>. To check whether it’s the same data we need </a:t>
            </a:r>
            <a:r>
              <a:rPr lang="en-US" sz="1400" b="1" dirty="0" smtClean="0">
                <a:solidFill>
                  <a:schemeClr val="bg1"/>
                </a:solidFill>
              </a:rPr>
              <a:t>“compare the tag bits”. </a:t>
            </a:r>
            <a:r>
              <a:rPr lang="en-US" sz="1400" dirty="0" smtClean="0">
                <a:solidFill>
                  <a:schemeClr val="bg1"/>
                </a:solidFill>
              </a:rPr>
              <a:t>As </a:t>
            </a:r>
          </a:p>
          <a:p>
            <a:r>
              <a:rPr lang="en-US" sz="1400" b="1" dirty="0" smtClean="0">
                <a:solidFill>
                  <a:schemeClr val="bg1"/>
                </a:solidFill>
              </a:rPr>
              <a:t>0000111 = 0000111 </a:t>
            </a:r>
            <a:r>
              <a:rPr lang="en-US" sz="1400" dirty="0" smtClean="0">
                <a:solidFill>
                  <a:schemeClr val="bg1"/>
                </a:solidFill>
              </a:rPr>
              <a:t>It means we found the data and it’s a </a:t>
            </a:r>
            <a:r>
              <a:rPr lang="en-US" sz="1400" b="1" dirty="0" smtClean="0">
                <a:solidFill>
                  <a:schemeClr val="bg1"/>
                </a:solidFill>
              </a:rPr>
              <a:t>CACHE HIT</a:t>
            </a:r>
            <a:r>
              <a:rPr lang="en-US" sz="1400" dirty="0" smtClean="0">
                <a:solidFill>
                  <a:schemeClr val="bg1"/>
                </a:solidFill>
              </a:rPr>
              <a:t>.</a:t>
            </a:r>
            <a:endParaRPr lang="en-US" sz="1400" dirty="0">
              <a:solidFill>
                <a:schemeClr val="bg1"/>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1271008016"/>
              </p:ext>
            </p:extLst>
          </p:nvPr>
        </p:nvGraphicFramePr>
        <p:xfrm>
          <a:off x="4067175" y="2185204"/>
          <a:ext cx="4981575" cy="3566216"/>
        </p:xfrm>
        <a:graphic>
          <a:graphicData uri="http://schemas.openxmlformats.org/drawingml/2006/table">
            <a:tbl>
              <a:tblPr firstRow="1" bandRow="1">
                <a:tableStyleId>{5940675A-B579-460E-94D1-54222C63F5DA}</a:tableStyleId>
              </a:tblPr>
              <a:tblGrid>
                <a:gridCol w="723900">
                  <a:extLst>
                    <a:ext uri="{9D8B030D-6E8A-4147-A177-3AD203B41FA5}">
                      <a16:colId xmlns="" xmlns:a16="http://schemas.microsoft.com/office/drawing/2014/main" val="4284518099"/>
                    </a:ext>
                  </a:extLst>
                </a:gridCol>
                <a:gridCol w="552450">
                  <a:extLst>
                    <a:ext uri="{9D8B030D-6E8A-4147-A177-3AD203B41FA5}">
                      <a16:colId xmlns="" xmlns:a16="http://schemas.microsoft.com/office/drawing/2014/main" val="3030601287"/>
                    </a:ext>
                  </a:extLst>
                </a:gridCol>
                <a:gridCol w="1428750">
                  <a:extLst>
                    <a:ext uri="{9D8B030D-6E8A-4147-A177-3AD203B41FA5}">
                      <a16:colId xmlns="" xmlns:a16="http://schemas.microsoft.com/office/drawing/2014/main" val="1200191126"/>
                    </a:ext>
                  </a:extLst>
                </a:gridCol>
                <a:gridCol w="542925">
                  <a:extLst>
                    <a:ext uri="{9D8B030D-6E8A-4147-A177-3AD203B41FA5}">
                      <a16:colId xmlns="" xmlns:a16="http://schemas.microsoft.com/office/drawing/2014/main" val="1827225863"/>
                    </a:ext>
                  </a:extLst>
                </a:gridCol>
                <a:gridCol w="533400">
                  <a:extLst>
                    <a:ext uri="{9D8B030D-6E8A-4147-A177-3AD203B41FA5}">
                      <a16:colId xmlns="" xmlns:a16="http://schemas.microsoft.com/office/drawing/2014/main" val="2625427107"/>
                    </a:ext>
                  </a:extLst>
                </a:gridCol>
                <a:gridCol w="609600">
                  <a:extLst>
                    <a:ext uri="{9D8B030D-6E8A-4147-A177-3AD203B41FA5}">
                      <a16:colId xmlns="" xmlns:a16="http://schemas.microsoft.com/office/drawing/2014/main" val="3488845602"/>
                    </a:ext>
                  </a:extLst>
                </a:gridCol>
                <a:gridCol w="590550">
                  <a:extLst>
                    <a:ext uri="{9D8B030D-6E8A-4147-A177-3AD203B41FA5}">
                      <a16:colId xmlns="" xmlns:a16="http://schemas.microsoft.com/office/drawing/2014/main" val="1588356002"/>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a:txBody>
                    <a:bodyPr/>
                    <a:lstStyle/>
                    <a:p>
                      <a:r>
                        <a:rPr lang="en-US" b="1" dirty="0" smtClean="0"/>
                        <a:t>000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solidFill>
                            <a:schemeClr val="tx1"/>
                          </a:solidFill>
                        </a:rPr>
                        <a:t>00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a:txBody>
                    <a:bodyPr/>
                    <a:lstStyle/>
                    <a:p>
                      <a:r>
                        <a:rPr lang="en-US" b="1" dirty="0" smtClean="0"/>
                        <a:t>001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a:txBody>
                    <a:bodyPr/>
                    <a:lstStyle/>
                    <a:p>
                      <a:r>
                        <a:rPr lang="en-US" b="1" dirty="0" smtClean="0"/>
                        <a:t>010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a:txBody>
                    <a:bodyPr/>
                    <a:lstStyle/>
                    <a:p>
                      <a:r>
                        <a:rPr lang="en-US" b="1" dirty="0" smtClean="0"/>
                        <a:t>011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a:txBody>
                    <a:bodyPr/>
                    <a:lstStyle/>
                    <a:p>
                      <a:r>
                        <a:rPr lang="en-US" b="1" dirty="0" smtClean="0"/>
                        <a:t>100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a:txBody>
                    <a:bodyPr/>
                    <a:lstStyle/>
                    <a:p>
                      <a:r>
                        <a:rPr lang="en-US" b="1" dirty="0" smtClean="0"/>
                        <a:t>101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a:txBody>
                    <a:bodyPr/>
                    <a:lstStyle/>
                    <a:p>
                      <a:r>
                        <a:rPr lang="en-US" b="1" dirty="0" smtClean="0"/>
                        <a:t>110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a:txBody>
                    <a:bodyPr/>
                    <a:lstStyle/>
                    <a:p>
                      <a:r>
                        <a:rPr lang="en-US" b="1" dirty="0" smtClean="0"/>
                        <a:t>111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4	Cache Hit = 1</a:t>
            </a:r>
            <a:endParaRPr lang="en-US" b="1" dirty="0">
              <a:solidFill>
                <a:srgbClr val="FF0000"/>
              </a:solidFill>
            </a:endParaRPr>
          </a:p>
        </p:txBody>
      </p:sp>
    </p:spTree>
    <p:extLst>
      <p:ext uri="{BB962C8B-B14F-4D97-AF65-F5344CB8AC3E}">
        <p14:creationId xmlns:p14="http://schemas.microsoft.com/office/powerpoint/2010/main" val="12372643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LRU bit</a:t>
            </a:r>
            <a:endParaRPr lang="en-US" dirty="0"/>
          </a:p>
        </p:txBody>
      </p:sp>
      <p:sp>
        <p:nvSpPr>
          <p:cNvPr id="4" name="Content Placeholder 3"/>
          <p:cNvSpPr>
            <a:spLocks noGrp="1"/>
          </p:cNvSpPr>
          <p:nvPr>
            <p:ph idx="1"/>
          </p:nvPr>
        </p:nvSpPr>
        <p:spPr/>
        <p:txBody>
          <a:bodyPr/>
          <a:lstStyle/>
          <a:p>
            <a:pPr>
              <a:lnSpc>
                <a:spcPct val="80000"/>
              </a:lnSpc>
            </a:pPr>
            <a:r>
              <a:rPr lang="en-US" b="1" dirty="0">
                <a:solidFill>
                  <a:srgbClr val="0070C0"/>
                </a:solidFill>
              </a:rPr>
              <a:t>Least recently used (LRU) replacement: </a:t>
            </a:r>
            <a:r>
              <a:rPr lang="en-US" dirty="0"/>
              <a:t>the least recently used block in a set </a:t>
            </a:r>
            <a:r>
              <a:rPr lang="en-US" dirty="0" smtClean="0"/>
              <a:t>evicted in case of N-associative and fully associative caches.</a:t>
            </a:r>
          </a:p>
          <a:p>
            <a:pPr>
              <a:lnSpc>
                <a:spcPct val="80000"/>
              </a:lnSpc>
            </a:pPr>
            <a:r>
              <a:rPr lang="en-US" dirty="0" smtClean="0"/>
              <a:t>In case of 2-way associative cache, 1-bit is required to keep check of recently used data block.</a:t>
            </a:r>
          </a:p>
          <a:p>
            <a:pPr marL="544068" lvl="1" indent="-342900">
              <a:lnSpc>
                <a:spcPct val="80000"/>
              </a:lnSpc>
              <a:buFont typeface="+mj-lt"/>
              <a:buAutoNum type="arabicPeriod"/>
            </a:pPr>
            <a:r>
              <a:rPr lang="en-US" dirty="0" smtClean="0"/>
              <a:t>When a block is accessed its LRU bit will be set to zero (now it’s the least recently used data) and increment all the other values of LRU bit accordingly.</a:t>
            </a:r>
          </a:p>
          <a:p>
            <a:pPr marL="544068" lvl="1" indent="-342900">
              <a:lnSpc>
                <a:spcPct val="80000"/>
              </a:lnSpc>
              <a:buFont typeface="+mj-lt"/>
              <a:buAutoNum type="arabicPeriod"/>
            </a:pPr>
            <a:r>
              <a:rPr lang="en-US" dirty="0" smtClean="0"/>
              <a:t>When data is to be evicted from a block, replace the block with maximum value of LRU bit (1 in 2-way associative, 3 in 4-way associative and so on).</a:t>
            </a:r>
          </a:p>
        </p:txBody>
      </p:sp>
      <p:graphicFrame>
        <p:nvGraphicFramePr>
          <p:cNvPr id="5" name="Table 4"/>
          <p:cNvGraphicFramePr>
            <a:graphicFrameLocks noGrp="1"/>
          </p:cNvGraphicFramePr>
          <p:nvPr>
            <p:extLst>
              <p:ext uri="{D42A27DB-BD31-4B8C-83A1-F6EECF244321}">
                <p14:modId xmlns:p14="http://schemas.microsoft.com/office/powerpoint/2010/main" val="3073102594"/>
              </p:ext>
            </p:extLst>
          </p:nvPr>
        </p:nvGraphicFramePr>
        <p:xfrm>
          <a:off x="1681019" y="4257193"/>
          <a:ext cx="2992581" cy="1854200"/>
        </p:xfrm>
        <a:graphic>
          <a:graphicData uri="http://schemas.openxmlformats.org/drawingml/2006/table">
            <a:tbl>
              <a:tblPr firstRow="1" bandRow="1">
                <a:tableStyleId>{7E9639D4-E3E2-4D34-9284-5A2195B3D0D7}</a:tableStyleId>
              </a:tblPr>
              <a:tblGrid>
                <a:gridCol w="1182254">
                  <a:extLst>
                    <a:ext uri="{9D8B030D-6E8A-4147-A177-3AD203B41FA5}">
                      <a16:colId xmlns="" xmlns:a16="http://schemas.microsoft.com/office/drawing/2014/main" val="1932461965"/>
                    </a:ext>
                  </a:extLst>
                </a:gridCol>
                <a:gridCol w="1810327">
                  <a:extLst>
                    <a:ext uri="{9D8B030D-6E8A-4147-A177-3AD203B41FA5}">
                      <a16:colId xmlns="" xmlns:a16="http://schemas.microsoft.com/office/drawing/2014/main" val="2591217572"/>
                    </a:ext>
                  </a:extLst>
                </a:gridCol>
              </a:tblGrid>
              <a:tr h="370840">
                <a:tc>
                  <a:txBody>
                    <a:bodyPr/>
                    <a:lstStyle/>
                    <a:p>
                      <a:r>
                        <a:rPr lang="en-US" dirty="0" smtClean="0"/>
                        <a:t>LRU bit</a:t>
                      </a:r>
                      <a:endParaRPr lang="en-US" dirty="0"/>
                    </a:p>
                  </a:txBody>
                  <a:tcPr/>
                </a:tc>
                <a:tc>
                  <a:txBody>
                    <a:bodyPr/>
                    <a:lstStyle/>
                    <a:p>
                      <a:r>
                        <a:rPr lang="en-US" dirty="0" smtClean="0"/>
                        <a:t>Data block</a:t>
                      </a:r>
                      <a:endParaRPr lang="en-US" dirty="0"/>
                    </a:p>
                  </a:txBody>
                  <a:tcPr/>
                </a:tc>
                <a:extLst>
                  <a:ext uri="{0D108BD9-81ED-4DB2-BD59-A6C34878D82A}">
                    <a16:rowId xmlns="" xmlns:a16="http://schemas.microsoft.com/office/drawing/2014/main" val="3033733715"/>
                  </a:ext>
                </a:extLst>
              </a:tr>
              <a:tr h="370840">
                <a:tc>
                  <a:txBody>
                    <a:bodyPr/>
                    <a:lstStyle/>
                    <a:p>
                      <a:r>
                        <a:rPr lang="en-US" dirty="0" smtClean="0"/>
                        <a:t>01</a:t>
                      </a:r>
                      <a:endParaRPr lang="en-US" dirty="0"/>
                    </a:p>
                  </a:txBody>
                  <a:tcPr/>
                </a:tc>
                <a:tc>
                  <a:txBody>
                    <a:bodyPr/>
                    <a:lstStyle/>
                    <a:p>
                      <a:r>
                        <a:rPr lang="en-US" dirty="0" smtClean="0"/>
                        <a:t>D0</a:t>
                      </a:r>
                      <a:endParaRPr lang="en-US" dirty="0"/>
                    </a:p>
                  </a:txBody>
                  <a:tcPr/>
                </a:tc>
                <a:extLst>
                  <a:ext uri="{0D108BD9-81ED-4DB2-BD59-A6C34878D82A}">
                    <a16:rowId xmlns="" xmlns:a16="http://schemas.microsoft.com/office/drawing/2014/main" val="3358619492"/>
                  </a:ext>
                </a:extLst>
              </a:tr>
              <a:tr h="370840">
                <a:tc>
                  <a:txBody>
                    <a:bodyPr/>
                    <a:lstStyle/>
                    <a:p>
                      <a:r>
                        <a:rPr lang="en-US" dirty="0" smtClean="0"/>
                        <a:t>00</a:t>
                      </a:r>
                      <a:endParaRPr lang="en-US" dirty="0"/>
                    </a:p>
                  </a:txBody>
                  <a:tcPr/>
                </a:tc>
                <a:tc>
                  <a:txBody>
                    <a:bodyPr/>
                    <a:lstStyle/>
                    <a:p>
                      <a:r>
                        <a:rPr lang="en-US" dirty="0" smtClean="0"/>
                        <a:t>D1</a:t>
                      </a:r>
                      <a:endParaRPr lang="en-US" dirty="0"/>
                    </a:p>
                  </a:txBody>
                  <a:tcPr/>
                </a:tc>
                <a:extLst>
                  <a:ext uri="{0D108BD9-81ED-4DB2-BD59-A6C34878D82A}">
                    <a16:rowId xmlns="" xmlns:a16="http://schemas.microsoft.com/office/drawing/2014/main" val="1449981881"/>
                  </a:ext>
                </a:extLst>
              </a:tr>
              <a:tr h="370840">
                <a:tc>
                  <a:txBody>
                    <a:bodyPr/>
                    <a:lstStyle/>
                    <a:p>
                      <a:r>
                        <a:rPr lang="en-US" dirty="0" smtClean="0"/>
                        <a:t>11</a:t>
                      </a:r>
                      <a:endParaRPr lang="en-US" dirty="0"/>
                    </a:p>
                  </a:txBody>
                  <a:tcPr/>
                </a:tc>
                <a:tc>
                  <a:txBody>
                    <a:bodyPr/>
                    <a:lstStyle/>
                    <a:p>
                      <a:r>
                        <a:rPr lang="en-US" dirty="0" smtClean="0"/>
                        <a:t>D2</a:t>
                      </a:r>
                      <a:endParaRPr lang="en-US" dirty="0"/>
                    </a:p>
                  </a:txBody>
                  <a:tcPr/>
                </a:tc>
                <a:extLst>
                  <a:ext uri="{0D108BD9-81ED-4DB2-BD59-A6C34878D82A}">
                    <a16:rowId xmlns="" xmlns:a16="http://schemas.microsoft.com/office/drawing/2014/main" val="139251581"/>
                  </a:ext>
                </a:extLst>
              </a:tr>
              <a:tr h="370840">
                <a:tc>
                  <a:txBody>
                    <a:bodyPr/>
                    <a:lstStyle/>
                    <a:p>
                      <a:r>
                        <a:rPr lang="en-US" dirty="0" smtClean="0"/>
                        <a:t>10</a:t>
                      </a:r>
                      <a:endParaRPr lang="en-US" dirty="0"/>
                    </a:p>
                  </a:txBody>
                  <a:tcPr/>
                </a:tc>
                <a:tc>
                  <a:txBody>
                    <a:bodyPr/>
                    <a:lstStyle/>
                    <a:p>
                      <a:r>
                        <a:rPr lang="en-US" dirty="0" smtClean="0"/>
                        <a:t>D3</a:t>
                      </a:r>
                      <a:endParaRPr lang="en-US" dirty="0"/>
                    </a:p>
                  </a:txBody>
                  <a:tcPr/>
                </a:tc>
                <a:extLst>
                  <a:ext uri="{0D108BD9-81ED-4DB2-BD59-A6C34878D82A}">
                    <a16:rowId xmlns="" xmlns:a16="http://schemas.microsoft.com/office/drawing/2014/main" val="1159813104"/>
                  </a:ext>
                </a:extLst>
              </a:tr>
            </a:tbl>
          </a:graphicData>
        </a:graphic>
      </p:graphicFrame>
      <p:sp>
        <p:nvSpPr>
          <p:cNvPr id="6" name="TextBox 5"/>
          <p:cNvSpPr txBox="1"/>
          <p:nvPr/>
        </p:nvSpPr>
        <p:spPr>
          <a:xfrm>
            <a:off x="3325092" y="3857414"/>
            <a:ext cx="4572000" cy="369332"/>
          </a:xfrm>
          <a:prstGeom prst="rect">
            <a:avLst/>
          </a:prstGeom>
          <a:noFill/>
        </p:spPr>
        <p:txBody>
          <a:bodyPr wrap="square" rtlCol="0">
            <a:spAutoFit/>
          </a:bodyPr>
          <a:lstStyle/>
          <a:p>
            <a:r>
              <a:rPr lang="en-US" b="1" dirty="0" smtClean="0"/>
              <a:t>Example : Set “</a:t>
            </a:r>
            <a:r>
              <a:rPr lang="en-US" b="1" dirty="0" err="1" smtClean="0"/>
              <a:t>i</a:t>
            </a:r>
            <a:r>
              <a:rPr lang="en-US" b="1" dirty="0" smtClean="0"/>
              <a:t>” of a 4-way associative cache </a:t>
            </a:r>
            <a:endParaRPr lang="en-US" b="1" dirty="0"/>
          </a:p>
        </p:txBody>
      </p:sp>
      <p:sp>
        <p:nvSpPr>
          <p:cNvPr id="7" name="TextBox 6"/>
          <p:cNvSpPr txBox="1"/>
          <p:nvPr/>
        </p:nvSpPr>
        <p:spPr>
          <a:xfrm>
            <a:off x="5006109" y="4605249"/>
            <a:ext cx="4969163" cy="1477328"/>
          </a:xfrm>
          <a:prstGeom prst="rect">
            <a:avLst/>
          </a:prstGeom>
          <a:noFill/>
        </p:spPr>
        <p:txBody>
          <a:bodyPr wrap="square" rtlCol="0">
            <a:spAutoFit/>
          </a:bodyPr>
          <a:lstStyle/>
          <a:p>
            <a:r>
              <a:rPr lang="en-US" dirty="0" smtClean="0"/>
              <a:t>The LRU bit indicates the sequence of memory access only for this particular set was in order – </a:t>
            </a:r>
          </a:p>
          <a:p>
            <a:r>
              <a:rPr lang="en-US" dirty="0" smtClean="0"/>
              <a:t>D2 D3 D0 D1 </a:t>
            </a:r>
          </a:p>
          <a:p>
            <a:r>
              <a:rPr lang="en-US" dirty="0" smtClean="0"/>
              <a:t>And D1 with the least LRU bit value is the most recently accessed</a:t>
            </a:r>
            <a:endParaRPr lang="en-US" dirty="0"/>
          </a:p>
        </p:txBody>
      </p:sp>
    </p:spTree>
    <p:extLst>
      <p:ext uri="{BB962C8B-B14F-4D97-AF65-F5344CB8AC3E}">
        <p14:creationId xmlns:p14="http://schemas.microsoft.com/office/powerpoint/2010/main" val="38328095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LRU bit</a:t>
            </a:r>
            <a:endParaRPr lang="en-US" dirty="0"/>
          </a:p>
        </p:txBody>
      </p:sp>
      <p:sp>
        <p:nvSpPr>
          <p:cNvPr id="4" name="Content Placeholder 3"/>
          <p:cNvSpPr>
            <a:spLocks noGrp="1"/>
          </p:cNvSpPr>
          <p:nvPr>
            <p:ph idx="1"/>
          </p:nvPr>
        </p:nvSpPr>
        <p:spPr/>
        <p:txBody>
          <a:bodyPr/>
          <a:lstStyle/>
          <a:p>
            <a:pPr>
              <a:lnSpc>
                <a:spcPct val="80000"/>
              </a:lnSpc>
            </a:pPr>
            <a:r>
              <a:rPr lang="en-US" b="1" dirty="0">
                <a:solidFill>
                  <a:srgbClr val="0070C0"/>
                </a:solidFill>
              </a:rPr>
              <a:t>Least recently used (LRU) replacement: </a:t>
            </a:r>
            <a:r>
              <a:rPr lang="en-US" dirty="0"/>
              <a:t>the least recently used block in a set </a:t>
            </a:r>
            <a:r>
              <a:rPr lang="en-US" dirty="0" smtClean="0"/>
              <a:t>evicted in case of N-associative and fully associative caches.</a:t>
            </a:r>
          </a:p>
          <a:p>
            <a:pPr>
              <a:lnSpc>
                <a:spcPct val="80000"/>
              </a:lnSpc>
            </a:pPr>
            <a:endParaRPr lang="en-US" dirty="0" smtClean="0"/>
          </a:p>
        </p:txBody>
      </p:sp>
      <p:graphicFrame>
        <p:nvGraphicFramePr>
          <p:cNvPr id="5" name="Table 4"/>
          <p:cNvGraphicFramePr>
            <a:graphicFrameLocks noGrp="1"/>
          </p:cNvGraphicFramePr>
          <p:nvPr>
            <p:extLst>
              <p:ext uri="{D42A27DB-BD31-4B8C-83A1-F6EECF244321}">
                <p14:modId xmlns:p14="http://schemas.microsoft.com/office/powerpoint/2010/main" val="2085277601"/>
              </p:ext>
            </p:extLst>
          </p:nvPr>
        </p:nvGraphicFramePr>
        <p:xfrm>
          <a:off x="1450110" y="2871738"/>
          <a:ext cx="2992581" cy="1854200"/>
        </p:xfrm>
        <a:graphic>
          <a:graphicData uri="http://schemas.openxmlformats.org/drawingml/2006/table">
            <a:tbl>
              <a:tblPr firstRow="1" bandRow="1">
                <a:tableStyleId>{7E9639D4-E3E2-4D34-9284-5A2195B3D0D7}</a:tableStyleId>
              </a:tblPr>
              <a:tblGrid>
                <a:gridCol w="1182254">
                  <a:extLst>
                    <a:ext uri="{9D8B030D-6E8A-4147-A177-3AD203B41FA5}">
                      <a16:colId xmlns="" xmlns:a16="http://schemas.microsoft.com/office/drawing/2014/main" val="1932461965"/>
                    </a:ext>
                  </a:extLst>
                </a:gridCol>
                <a:gridCol w="1810327">
                  <a:extLst>
                    <a:ext uri="{9D8B030D-6E8A-4147-A177-3AD203B41FA5}">
                      <a16:colId xmlns="" xmlns:a16="http://schemas.microsoft.com/office/drawing/2014/main" val="2591217572"/>
                    </a:ext>
                  </a:extLst>
                </a:gridCol>
              </a:tblGrid>
              <a:tr h="370840">
                <a:tc>
                  <a:txBody>
                    <a:bodyPr/>
                    <a:lstStyle/>
                    <a:p>
                      <a:r>
                        <a:rPr lang="en-US" dirty="0" smtClean="0"/>
                        <a:t>LRU bit</a:t>
                      </a:r>
                      <a:endParaRPr lang="en-US" dirty="0"/>
                    </a:p>
                  </a:txBody>
                  <a:tcPr/>
                </a:tc>
                <a:tc>
                  <a:txBody>
                    <a:bodyPr/>
                    <a:lstStyle/>
                    <a:p>
                      <a:r>
                        <a:rPr lang="en-US" dirty="0" smtClean="0"/>
                        <a:t>Data block</a:t>
                      </a:r>
                      <a:endParaRPr lang="en-US" dirty="0"/>
                    </a:p>
                  </a:txBody>
                  <a:tcPr/>
                </a:tc>
                <a:extLst>
                  <a:ext uri="{0D108BD9-81ED-4DB2-BD59-A6C34878D82A}">
                    <a16:rowId xmlns="" xmlns:a16="http://schemas.microsoft.com/office/drawing/2014/main" val="3033733715"/>
                  </a:ext>
                </a:extLst>
              </a:tr>
              <a:tr h="370840">
                <a:tc>
                  <a:txBody>
                    <a:bodyPr/>
                    <a:lstStyle/>
                    <a:p>
                      <a:r>
                        <a:rPr lang="en-US" dirty="0" smtClean="0"/>
                        <a:t>01</a:t>
                      </a:r>
                      <a:endParaRPr lang="en-US" dirty="0"/>
                    </a:p>
                  </a:txBody>
                  <a:tcPr/>
                </a:tc>
                <a:tc>
                  <a:txBody>
                    <a:bodyPr/>
                    <a:lstStyle/>
                    <a:p>
                      <a:r>
                        <a:rPr lang="en-US" dirty="0" smtClean="0"/>
                        <a:t>D0</a:t>
                      </a:r>
                      <a:endParaRPr lang="en-US" dirty="0"/>
                    </a:p>
                  </a:txBody>
                  <a:tcPr/>
                </a:tc>
                <a:extLst>
                  <a:ext uri="{0D108BD9-81ED-4DB2-BD59-A6C34878D82A}">
                    <a16:rowId xmlns="" xmlns:a16="http://schemas.microsoft.com/office/drawing/2014/main" val="3358619492"/>
                  </a:ext>
                </a:extLst>
              </a:tr>
              <a:tr h="370840">
                <a:tc>
                  <a:txBody>
                    <a:bodyPr/>
                    <a:lstStyle/>
                    <a:p>
                      <a:r>
                        <a:rPr lang="en-US" dirty="0" smtClean="0"/>
                        <a:t>00</a:t>
                      </a:r>
                      <a:endParaRPr lang="en-US" dirty="0"/>
                    </a:p>
                  </a:txBody>
                  <a:tcPr/>
                </a:tc>
                <a:tc>
                  <a:txBody>
                    <a:bodyPr/>
                    <a:lstStyle/>
                    <a:p>
                      <a:r>
                        <a:rPr lang="en-US" dirty="0" smtClean="0"/>
                        <a:t>D1</a:t>
                      </a:r>
                      <a:endParaRPr lang="en-US" dirty="0"/>
                    </a:p>
                  </a:txBody>
                  <a:tcPr/>
                </a:tc>
                <a:extLst>
                  <a:ext uri="{0D108BD9-81ED-4DB2-BD59-A6C34878D82A}">
                    <a16:rowId xmlns="" xmlns:a16="http://schemas.microsoft.com/office/drawing/2014/main" val="1449981881"/>
                  </a:ext>
                </a:extLst>
              </a:tr>
              <a:tr h="370840">
                <a:tc>
                  <a:txBody>
                    <a:bodyPr/>
                    <a:lstStyle/>
                    <a:p>
                      <a:r>
                        <a:rPr lang="en-US" dirty="0" smtClean="0"/>
                        <a:t>11</a:t>
                      </a:r>
                      <a:endParaRPr lang="en-US" dirty="0"/>
                    </a:p>
                  </a:txBody>
                  <a:tcPr/>
                </a:tc>
                <a:tc>
                  <a:txBody>
                    <a:bodyPr/>
                    <a:lstStyle/>
                    <a:p>
                      <a:r>
                        <a:rPr lang="en-US" dirty="0" smtClean="0"/>
                        <a:t>D2</a:t>
                      </a:r>
                      <a:endParaRPr lang="en-US" dirty="0"/>
                    </a:p>
                  </a:txBody>
                  <a:tcPr/>
                </a:tc>
                <a:extLst>
                  <a:ext uri="{0D108BD9-81ED-4DB2-BD59-A6C34878D82A}">
                    <a16:rowId xmlns="" xmlns:a16="http://schemas.microsoft.com/office/drawing/2014/main" val="139251581"/>
                  </a:ext>
                </a:extLst>
              </a:tr>
              <a:tr h="370840">
                <a:tc>
                  <a:txBody>
                    <a:bodyPr/>
                    <a:lstStyle/>
                    <a:p>
                      <a:r>
                        <a:rPr lang="en-US" dirty="0" smtClean="0"/>
                        <a:t>10</a:t>
                      </a:r>
                      <a:endParaRPr lang="en-US" dirty="0"/>
                    </a:p>
                  </a:txBody>
                  <a:tcPr/>
                </a:tc>
                <a:tc>
                  <a:txBody>
                    <a:bodyPr/>
                    <a:lstStyle/>
                    <a:p>
                      <a:r>
                        <a:rPr lang="en-US" dirty="0" smtClean="0"/>
                        <a:t>D3</a:t>
                      </a:r>
                      <a:endParaRPr lang="en-US" dirty="0"/>
                    </a:p>
                  </a:txBody>
                  <a:tcPr/>
                </a:tc>
                <a:extLst>
                  <a:ext uri="{0D108BD9-81ED-4DB2-BD59-A6C34878D82A}">
                    <a16:rowId xmlns="" xmlns:a16="http://schemas.microsoft.com/office/drawing/2014/main" val="1159813104"/>
                  </a:ext>
                </a:extLst>
              </a:tr>
            </a:tbl>
          </a:graphicData>
        </a:graphic>
      </p:graphicFrame>
      <p:sp>
        <p:nvSpPr>
          <p:cNvPr id="6" name="TextBox 5"/>
          <p:cNvSpPr txBox="1"/>
          <p:nvPr/>
        </p:nvSpPr>
        <p:spPr>
          <a:xfrm>
            <a:off x="3094183" y="2471959"/>
            <a:ext cx="4572000" cy="369332"/>
          </a:xfrm>
          <a:prstGeom prst="rect">
            <a:avLst/>
          </a:prstGeom>
          <a:noFill/>
        </p:spPr>
        <p:txBody>
          <a:bodyPr wrap="square" rtlCol="0">
            <a:spAutoFit/>
          </a:bodyPr>
          <a:lstStyle/>
          <a:p>
            <a:r>
              <a:rPr lang="en-US" b="1" dirty="0" smtClean="0"/>
              <a:t>Example : Set “</a:t>
            </a:r>
            <a:r>
              <a:rPr lang="en-US" b="1" dirty="0" err="1" smtClean="0"/>
              <a:t>i</a:t>
            </a:r>
            <a:r>
              <a:rPr lang="en-US" b="1" dirty="0" smtClean="0"/>
              <a:t>” of a 4-way associative cache </a:t>
            </a:r>
            <a:endParaRPr lang="en-US" b="1" dirty="0"/>
          </a:p>
        </p:txBody>
      </p:sp>
      <p:graphicFrame>
        <p:nvGraphicFramePr>
          <p:cNvPr id="8" name="Table 7"/>
          <p:cNvGraphicFramePr>
            <a:graphicFrameLocks noGrp="1"/>
          </p:cNvGraphicFramePr>
          <p:nvPr>
            <p:extLst>
              <p:ext uri="{D42A27DB-BD31-4B8C-83A1-F6EECF244321}">
                <p14:modId xmlns:p14="http://schemas.microsoft.com/office/powerpoint/2010/main" val="3635878222"/>
              </p:ext>
            </p:extLst>
          </p:nvPr>
        </p:nvGraphicFramePr>
        <p:xfrm>
          <a:off x="7398213" y="2871738"/>
          <a:ext cx="2992581" cy="1854200"/>
        </p:xfrm>
        <a:graphic>
          <a:graphicData uri="http://schemas.openxmlformats.org/drawingml/2006/table">
            <a:tbl>
              <a:tblPr firstRow="1" bandRow="1">
                <a:tableStyleId>{7E9639D4-E3E2-4D34-9284-5A2195B3D0D7}</a:tableStyleId>
              </a:tblPr>
              <a:tblGrid>
                <a:gridCol w="1182254">
                  <a:extLst>
                    <a:ext uri="{9D8B030D-6E8A-4147-A177-3AD203B41FA5}">
                      <a16:colId xmlns="" xmlns:a16="http://schemas.microsoft.com/office/drawing/2014/main" val="1932461965"/>
                    </a:ext>
                  </a:extLst>
                </a:gridCol>
                <a:gridCol w="1810327">
                  <a:extLst>
                    <a:ext uri="{9D8B030D-6E8A-4147-A177-3AD203B41FA5}">
                      <a16:colId xmlns="" xmlns:a16="http://schemas.microsoft.com/office/drawing/2014/main" val="2591217572"/>
                    </a:ext>
                  </a:extLst>
                </a:gridCol>
              </a:tblGrid>
              <a:tr h="370840">
                <a:tc>
                  <a:txBody>
                    <a:bodyPr/>
                    <a:lstStyle/>
                    <a:p>
                      <a:r>
                        <a:rPr lang="en-US" dirty="0" smtClean="0"/>
                        <a:t>LRU bit</a:t>
                      </a:r>
                      <a:endParaRPr lang="en-US" dirty="0"/>
                    </a:p>
                  </a:txBody>
                  <a:tcPr/>
                </a:tc>
                <a:tc>
                  <a:txBody>
                    <a:bodyPr/>
                    <a:lstStyle/>
                    <a:p>
                      <a:r>
                        <a:rPr lang="en-US" dirty="0" smtClean="0"/>
                        <a:t>Data block</a:t>
                      </a:r>
                      <a:endParaRPr lang="en-US" dirty="0"/>
                    </a:p>
                  </a:txBody>
                  <a:tcPr/>
                </a:tc>
                <a:extLst>
                  <a:ext uri="{0D108BD9-81ED-4DB2-BD59-A6C34878D82A}">
                    <a16:rowId xmlns="" xmlns:a16="http://schemas.microsoft.com/office/drawing/2014/main" val="3033733715"/>
                  </a:ext>
                </a:extLst>
              </a:tr>
              <a:tr h="370840">
                <a:tc>
                  <a:txBody>
                    <a:bodyPr/>
                    <a:lstStyle/>
                    <a:p>
                      <a:r>
                        <a:rPr lang="en-US" dirty="0" smtClean="0"/>
                        <a:t>10</a:t>
                      </a:r>
                      <a:endParaRPr lang="en-US" dirty="0"/>
                    </a:p>
                  </a:txBody>
                  <a:tcPr/>
                </a:tc>
                <a:tc>
                  <a:txBody>
                    <a:bodyPr/>
                    <a:lstStyle/>
                    <a:p>
                      <a:r>
                        <a:rPr lang="en-US" dirty="0" smtClean="0"/>
                        <a:t>D0</a:t>
                      </a:r>
                      <a:endParaRPr lang="en-US" dirty="0"/>
                    </a:p>
                  </a:txBody>
                  <a:tcPr/>
                </a:tc>
                <a:extLst>
                  <a:ext uri="{0D108BD9-81ED-4DB2-BD59-A6C34878D82A}">
                    <a16:rowId xmlns="" xmlns:a16="http://schemas.microsoft.com/office/drawing/2014/main" val="3358619492"/>
                  </a:ext>
                </a:extLst>
              </a:tr>
              <a:tr h="370840">
                <a:tc>
                  <a:txBody>
                    <a:bodyPr/>
                    <a:lstStyle/>
                    <a:p>
                      <a:r>
                        <a:rPr lang="en-US" dirty="0" smtClean="0"/>
                        <a:t>01</a:t>
                      </a:r>
                      <a:endParaRPr lang="en-US" dirty="0"/>
                    </a:p>
                  </a:txBody>
                  <a:tcPr/>
                </a:tc>
                <a:tc>
                  <a:txBody>
                    <a:bodyPr/>
                    <a:lstStyle/>
                    <a:p>
                      <a:r>
                        <a:rPr lang="en-US" dirty="0" smtClean="0"/>
                        <a:t>D1</a:t>
                      </a:r>
                      <a:endParaRPr lang="en-US" dirty="0"/>
                    </a:p>
                  </a:txBody>
                  <a:tcPr/>
                </a:tc>
                <a:extLst>
                  <a:ext uri="{0D108BD9-81ED-4DB2-BD59-A6C34878D82A}">
                    <a16:rowId xmlns="" xmlns:a16="http://schemas.microsoft.com/office/drawing/2014/main" val="1449981881"/>
                  </a:ext>
                </a:extLst>
              </a:tr>
              <a:tr h="370840">
                <a:tc>
                  <a:txBody>
                    <a:bodyPr/>
                    <a:lstStyle/>
                    <a:p>
                      <a:r>
                        <a:rPr lang="en-US" dirty="0" smtClean="0"/>
                        <a:t>11</a:t>
                      </a:r>
                      <a:endParaRPr lang="en-US" dirty="0"/>
                    </a:p>
                  </a:txBody>
                  <a:tcPr/>
                </a:tc>
                <a:tc>
                  <a:txBody>
                    <a:bodyPr/>
                    <a:lstStyle/>
                    <a:p>
                      <a:r>
                        <a:rPr lang="en-US" dirty="0" smtClean="0"/>
                        <a:t>D2</a:t>
                      </a:r>
                      <a:endParaRPr lang="en-US" dirty="0"/>
                    </a:p>
                  </a:txBody>
                  <a:tcPr/>
                </a:tc>
                <a:extLst>
                  <a:ext uri="{0D108BD9-81ED-4DB2-BD59-A6C34878D82A}">
                    <a16:rowId xmlns="" xmlns:a16="http://schemas.microsoft.com/office/drawing/2014/main" val="139251581"/>
                  </a:ext>
                </a:extLst>
              </a:tr>
              <a:tr h="370840">
                <a:tc>
                  <a:txBody>
                    <a:bodyPr/>
                    <a:lstStyle/>
                    <a:p>
                      <a:r>
                        <a:rPr lang="en-US" dirty="0" smtClean="0"/>
                        <a:t>00</a:t>
                      </a:r>
                      <a:endParaRPr lang="en-US" dirty="0"/>
                    </a:p>
                  </a:txBody>
                  <a:tcPr/>
                </a:tc>
                <a:tc>
                  <a:txBody>
                    <a:bodyPr/>
                    <a:lstStyle/>
                    <a:p>
                      <a:r>
                        <a:rPr lang="en-US" dirty="0" smtClean="0"/>
                        <a:t>D3</a:t>
                      </a:r>
                      <a:endParaRPr lang="en-US" dirty="0"/>
                    </a:p>
                  </a:txBody>
                  <a:tcPr/>
                </a:tc>
                <a:extLst>
                  <a:ext uri="{0D108BD9-81ED-4DB2-BD59-A6C34878D82A}">
                    <a16:rowId xmlns="" xmlns:a16="http://schemas.microsoft.com/office/drawing/2014/main" val="1159813104"/>
                  </a:ext>
                </a:extLst>
              </a:tr>
            </a:tbl>
          </a:graphicData>
        </a:graphic>
      </p:graphicFrame>
      <p:sp>
        <p:nvSpPr>
          <p:cNvPr id="9" name="TextBox 8"/>
          <p:cNvSpPr txBox="1"/>
          <p:nvPr/>
        </p:nvSpPr>
        <p:spPr>
          <a:xfrm>
            <a:off x="4521085" y="3559518"/>
            <a:ext cx="2798734" cy="307777"/>
          </a:xfrm>
          <a:prstGeom prst="rect">
            <a:avLst/>
          </a:prstGeom>
          <a:solidFill>
            <a:schemeClr val="bg1"/>
          </a:solidFill>
        </p:spPr>
        <p:txBody>
          <a:bodyPr wrap="square" rtlCol="0">
            <a:spAutoFit/>
          </a:bodyPr>
          <a:lstStyle/>
          <a:p>
            <a:pPr algn="ctr"/>
            <a:r>
              <a:rPr lang="en-US" sz="1400" dirty="0" smtClean="0">
                <a:solidFill>
                  <a:srgbClr val="0070C0"/>
                </a:solidFill>
              </a:rPr>
              <a:t>After the data D3 is accessed again</a:t>
            </a:r>
            <a:endParaRPr lang="en-US" sz="1400" dirty="0">
              <a:solidFill>
                <a:srgbClr val="0070C0"/>
              </a:solidFill>
            </a:endParaRPr>
          </a:p>
        </p:txBody>
      </p:sp>
      <p:cxnSp>
        <p:nvCxnSpPr>
          <p:cNvPr id="10" name="Straight Arrow Connector 9"/>
          <p:cNvCxnSpPr>
            <a:endCxn id="8" idx="1"/>
          </p:cNvCxnSpPr>
          <p:nvPr/>
        </p:nvCxnSpPr>
        <p:spPr>
          <a:xfrm flipV="1">
            <a:off x="4599479" y="3798838"/>
            <a:ext cx="2798734" cy="23609"/>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398213" y="4756385"/>
            <a:ext cx="2798734" cy="738664"/>
          </a:xfrm>
          <a:prstGeom prst="rect">
            <a:avLst/>
          </a:prstGeom>
          <a:solidFill>
            <a:schemeClr val="bg1"/>
          </a:solidFill>
        </p:spPr>
        <p:txBody>
          <a:bodyPr wrap="square" rtlCol="0">
            <a:spAutoFit/>
          </a:bodyPr>
          <a:lstStyle/>
          <a:p>
            <a:pPr algn="ctr"/>
            <a:r>
              <a:rPr lang="en-US" sz="1400" dirty="0" smtClean="0">
                <a:solidFill>
                  <a:srgbClr val="0070C0"/>
                </a:solidFill>
              </a:rPr>
              <a:t>Set the least recently used D3 to 0 and increment all the remaining bit accordingly</a:t>
            </a:r>
            <a:endParaRPr lang="en-US" sz="1400" dirty="0">
              <a:solidFill>
                <a:srgbClr val="0070C0"/>
              </a:solidFill>
            </a:endParaRPr>
          </a:p>
        </p:txBody>
      </p:sp>
    </p:spTree>
    <p:extLst>
      <p:ext uri="{BB962C8B-B14F-4D97-AF65-F5344CB8AC3E}">
        <p14:creationId xmlns:p14="http://schemas.microsoft.com/office/powerpoint/2010/main" val="10656483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02</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a:t>
            </a:r>
            <a:r>
              <a:rPr lang="en-US" sz="1400" b="1" dirty="0"/>
              <a:t>2</a:t>
            </a:r>
            <a:r>
              <a:rPr lang="en-US" sz="1400" b="1" dirty="0" smtClean="0"/>
              <a:t>B</a:t>
            </a:r>
          </a:p>
          <a:p>
            <a:r>
              <a:rPr lang="en-US" sz="1400" b="1" dirty="0" smtClean="0"/>
              <a:t>C = 16B</a:t>
            </a:r>
          </a:p>
          <a:p>
            <a:r>
              <a:rPr lang="en-US" sz="1400" b="1" dirty="0" smtClean="0"/>
              <a:t>N = 2 (2-way associative)</a:t>
            </a:r>
          </a:p>
          <a:p>
            <a:r>
              <a:rPr lang="en-US" sz="1400" b="1" dirty="0" smtClean="0"/>
              <a:t>Addresses are </a:t>
            </a:r>
            <a:r>
              <a:rPr lang="en-US" sz="1400" b="1" dirty="0"/>
              <a:t>8</a:t>
            </a:r>
            <a:r>
              <a:rPr lang="en-US" sz="1400" b="1" dirty="0" smtClean="0"/>
              <a:t>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258200"/>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16/2 = 8</a:t>
                </a:r>
                <a:endParaRPr lang="en-US" sz="1200" i="1" dirty="0"/>
              </a:p>
              <a:p>
                <a:r>
                  <a:rPr lang="en-US" sz="1200" dirty="0" smtClean="0"/>
                  <a:t>S = B/N = </a:t>
                </a:r>
                <a:r>
                  <a:rPr lang="en-US" sz="1200" dirty="0"/>
                  <a:t>8</a:t>
                </a:r>
                <a:r>
                  <a:rPr lang="en-US" sz="1200" dirty="0" smtClean="0"/>
                  <a:t>/2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solidFill>
                      <a:srgbClr val="FF0000"/>
                    </a:solidFill>
                    <a:latin typeface="Cambria Math" panose="02040503050406030204" pitchFamily="18" charset="0"/>
                  </a:rPr>
                  <a:t>0xFF</a:t>
                </a:r>
              </a:p>
              <a:p>
                <a:pPr marL="342900" indent="-342900">
                  <a:buFont typeface="+mj-lt"/>
                  <a:buAutoNum type="arabicPeriod"/>
                </a:pPr>
                <a:r>
                  <a:rPr lang="en-US" b="1" dirty="0">
                    <a:latin typeface="Cambria Math" panose="02040503050406030204" pitchFamily="18" charset="0"/>
                  </a:rPr>
                  <a:t>0x96</a:t>
                </a:r>
              </a:p>
              <a:p>
                <a:pPr marL="342900" indent="-342900">
                  <a:buFont typeface="+mj-lt"/>
                  <a:buAutoNum type="arabicPeriod"/>
                </a:pPr>
                <a:r>
                  <a:rPr lang="en-US" b="1" dirty="0">
                    <a:latin typeface="Cambria Math" panose="02040503050406030204" pitchFamily="18" charset="0"/>
                  </a:rPr>
                  <a:t>0x1E</a:t>
                </a:r>
              </a:p>
              <a:p>
                <a:pPr marL="342900" indent="-342900">
                  <a:buFont typeface="+mj-lt"/>
                  <a:buAutoNum type="arabicPeriod"/>
                </a:pPr>
                <a:r>
                  <a:rPr lang="en-US" b="1" dirty="0">
                    <a:latin typeface="Cambria Math" panose="02040503050406030204" pitchFamily="18" charset="0"/>
                  </a:rPr>
                  <a:t>0x97</a:t>
                </a:r>
              </a:p>
              <a:p>
                <a:pPr marL="342900" indent="-342900">
                  <a:buFont typeface="+mj-lt"/>
                  <a:buAutoNum type="arabicPeriod"/>
                </a:pPr>
                <a:r>
                  <a:rPr lang="en-US" b="1" dirty="0">
                    <a:latin typeface="Cambria Math" panose="02040503050406030204" pitchFamily="18" charset="0"/>
                  </a:rPr>
                  <a:t>0X07</a:t>
                </a: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258200"/>
              </a:xfrm>
              <a:prstGeom prst="rect">
                <a:avLst/>
              </a:prstGeom>
              <a:blipFill>
                <a:blip r:embed="rId2"/>
                <a:stretch>
                  <a:fillRect l="-1272" t="-187"/>
                </a:stretch>
              </a:blipFill>
            </p:spPr>
            <p:txBody>
              <a:bodyPr/>
              <a:lstStyle/>
              <a:p>
                <a:r>
                  <a:rPr lang="en-US">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1046080307"/>
              </p:ext>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780418" y="5690649"/>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0xFF</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1111 1</a:t>
            </a:r>
            <a:r>
              <a:rPr lang="en-US" sz="2000" b="1" dirty="0" smtClean="0">
                <a:solidFill>
                  <a:srgbClr val="00B0F0"/>
                </a:solidFill>
                <a:latin typeface="Cambria Math" panose="02040503050406030204" pitchFamily="18" charset="0"/>
              </a:rPr>
              <a:t>11</a:t>
            </a:r>
            <a:r>
              <a:rPr lang="en-US" sz="2000" b="1" dirty="0" smtClean="0">
                <a:solidFill>
                  <a:srgbClr val="FFC000"/>
                </a:solidFill>
                <a:latin typeface="Cambria Math" panose="02040503050406030204" pitchFamily="18" charset="0"/>
              </a:rPr>
              <a:t>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57130018"/>
              </p:ext>
            </p:extLst>
          </p:nvPr>
        </p:nvGraphicFramePr>
        <p:xfrm>
          <a:off x="4238473" y="2000471"/>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1	Cache Hit = 0</a:t>
            </a:r>
            <a:endParaRPr lang="en-US" b="1" dirty="0">
              <a:solidFill>
                <a:srgbClr val="FF0000"/>
              </a:solidFill>
            </a:endParaRPr>
          </a:p>
        </p:txBody>
      </p:sp>
      <p:graphicFrame>
        <p:nvGraphicFramePr>
          <p:cNvPr id="21" name="Table 20"/>
          <p:cNvGraphicFramePr>
            <a:graphicFrameLocks noGrp="1"/>
          </p:cNvGraphicFramePr>
          <p:nvPr>
            <p:extLst>
              <p:ext uri="{D42A27DB-BD31-4B8C-83A1-F6EECF244321}">
                <p14:modId xmlns:p14="http://schemas.microsoft.com/office/powerpoint/2010/main" val="49016476"/>
              </p:ext>
            </p:extLst>
          </p:nvPr>
        </p:nvGraphicFramePr>
        <p:xfrm>
          <a:off x="4238473" y="2000471"/>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FE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Tree>
    <p:extLst>
      <p:ext uri="{BB962C8B-B14F-4D97-AF65-F5344CB8AC3E}">
        <p14:creationId xmlns:p14="http://schemas.microsoft.com/office/powerpoint/2010/main" val="27929242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02</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a:t>
            </a:r>
            <a:r>
              <a:rPr lang="en-US" sz="1400" b="1" dirty="0"/>
              <a:t>2</a:t>
            </a:r>
            <a:r>
              <a:rPr lang="en-US" sz="1400" b="1" dirty="0" smtClean="0"/>
              <a:t>B</a:t>
            </a:r>
          </a:p>
          <a:p>
            <a:r>
              <a:rPr lang="en-US" sz="1400" b="1" dirty="0" smtClean="0"/>
              <a:t>C = 16B</a:t>
            </a:r>
          </a:p>
          <a:p>
            <a:r>
              <a:rPr lang="en-US" sz="1400" b="1" dirty="0" smtClean="0"/>
              <a:t>N = 2 (2-way associative)</a:t>
            </a:r>
          </a:p>
          <a:p>
            <a:r>
              <a:rPr lang="en-US" sz="1400" b="1" dirty="0" smtClean="0"/>
              <a:t>Addresses are </a:t>
            </a:r>
            <a:r>
              <a:rPr lang="en-US" sz="1400" b="1" dirty="0"/>
              <a:t>8</a:t>
            </a:r>
            <a:r>
              <a:rPr lang="en-US" sz="1400" b="1" dirty="0" smtClean="0"/>
              <a:t>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2981201"/>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16/2 = 8</a:t>
                </a:r>
                <a:endParaRPr lang="en-US" sz="1200" i="1" dirty="0"/>
              </a:p>
              <a:p>
                <a:r>
                  <a:rPr lang="en-US" sz="1200" dirty="0" smtClean="0"/>
                  <a:t>S = B/N = </a:t>
                </a:r>
                <a:r>
                  <a:rPr lang="en-US" sz="1200" dirty="0"/>
                  <a:t>8</a:t>
                </a:r>
                <a:r>
                  <a:rPr lang="en-US" sz="1200" dirty="0" smtClean="0"/>
                  <a:t>/2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latin typeface="Cambria Math" panose="02040503050406030204" pitchFamily="18" charset="0"/>
                  </a:rPr>
                  <a:t>0xFF</a:t>
                </a:r>
              </a:p>
              <a:p>
                <a:pPr marL="342900" indent="-342900">
                  <a:buFont typeface="+mj-lt"/>
                  <a:buAutoNum type="arabicPeriod"/>
                </a:pPr>
                <a:r>
                  <a:rPr lang="en-US" b="1" dirty="0">
                    <a:solidFill>
                      <a:srgbClr val="FF0000"/>
                    </a:solidFill>
                    <a:latin typeface="Cambria Math" panose="02040503050406030204" pitchFamily="18" charset="0"/>
                  </a:rPr>
                  <a:t>0x96</a:t>
                </a:r>
              </a:p>
              <a:p>
                <a:pPr marL="342900" indent="-342900">
                  <a:buFont typeface="+mj-lt"/>
                  <a:buAutoNum type="arabicPeriod"/>
                </a:pPr>
                <a:r>
                  <a:rPr lang="en-US" b="1" dirty="0">
                    <a:latin typeface="Cambria Math" panose="02040503050406030204" pitchFamily="18" charset="0"/>
                  </a:rPr>
                  <a:t>0x1E</a:t>
                </a:r>
              </a:p>
              <a:p>
                <a:pPr marL="342900" indent="-342900">
                  <a:buFont typeface="+mj-lt"/>
                  <a:buAutoNum type="arabicPeriod"/>
                </a:pPr>
                <a:r>
                  <a:rPr lang="en-US" b="1" dirty="0">
                    <a:latin typeface="Cambria Math" panose="02040503050406030204" pitchFamily="18" charset="0"/>
                  </a:rPr>
                  <a:t>0x97</a:t>
                </a:r>
              </a:p>
              <a:p>
                <a:pPr marL="342900" indent="-342900">
                  <a:buFont typeface="+mj-lt"/>
                  <a:buAutoNum type="arabicPeriod"/>
                </a:pPr>
                <a:r>
                  <a:rPr lang="en-US" b="1" dirty="0" smtClean="0">
                    <a:latin typeface="Cambria Math" panose="02040503050406030204" pitchFamily="18" charset="0"/>
                  </a:rPr>
                  <a:t>0X07</a:t>
                </a:r>
                <a:endParaRPr lang="en-US" b="1" dirty="0">
                  <a:latin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2981201"/>
              </a:xfrm>
              <a:prstGeom prst="rect">
                <a:avLst/>
              </a:prstGeom>
              <a:blipFill>
                <a:blip r:embed="rId2"/>
                <a:stretch>
                  <a:fillRect l="-1272" t="-204" b="-2249"/>
                </a:stretch>
              </a:blipFill>
            </p:spPr>
            <p:txBody>
              <a:bodyPr/>
              <a:lstStyle/>
              <a:p>
                <a:r>
                  <a:rPr lang="en-US">
                    <a:noFill/>
                  </a:rPr>
                  <a:t> </a:t>
                </a:r>
              </a:p>
            </p:txBody>
          </p:sp>
        </mc:Fallback>
      </mc:AlternateContent>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08127" y="5648271"/>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0x96</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1001 0</a:t>
            </a:r>
            <a:r>
              <a:rPr lang="en-US" sz="2000" b="1" dirty="0" smtClean="0">
                <a:solidFill>
                  <a:srgbClr val="00B0F0"/>
                </a:solidFill>
                <a:latin typeface="Cambria Math" panose="02040503050406030204" pitchFamily="18" charset="0"/>
              </a:rPr>
              <a:t>11</a:t>
            </a:r>
            <a:r>
              <a:rPr lang="en-US" sz="2000" b="1" dirty="0" smtClean="0">
                <a:solidFill>
                  <a:srgbClr val="FFC000"/>
                </a:solidFill>
                <a:latin typeface="Cambria Math" panose="02040503050406030204" pitchFamily="18" charset="0"/>
              </a:rPr>
              <a:t>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a:t>
            </a:r>
            <a:r>
              <a:rPr lang="en-US" b="1" dirty="0">
                <a:solidFill>
                  <a:srgbClr val="FF0000"/>
                </a:solidFill>
              </a:rPr>
              <a:t>2</a:t>
            </a:r>
            <a:r>
              <a:rPr lang="en-US" b="1" dirty="0" smtClean="0">
                <a:solidFill>
                  <a:srgbClr val="FF0000"/>
                </a:solidFill>
              </a:rPr>
              <a:t>	Cache Hit = 0</a:t>
            </a:r>
            <a:endParaRPr lang="en-US" b="1" dirty="0">
              <a:solidFill>
                <a:srgbClr val="FF0000"/>
              </a:solidFill>
            </a:endParaRPr>
          </a:p>
        </p:txBody>
      </p:sp>
      <p:graphicFrame>
        <p:nvGraphicFramePr>
          <p:cNvPr id="21" name="Table 20"/>
          <p:cNvGraphicFramePr>
            <a:graphicFrameLocks noGrp="1"/>
          </p:cNvGraphicFramePr>
          <p:nvPr>
            <p:extLst>
              <p:ext uri="{D42A27DB-BD31-4B8C-83A1-F6EECF244321}">
                <p14:modId xmlns:p14="http://schemas.microsoft.com/office/powerpoint/2010/main" val="786675554"/>
              </p:ext>
            </p:extLst>
          </p:nvPr>
        </p:nvGraphicFramePr>
        <p:xfrm>
          <a:off x="4309029" y="2009735"/>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FE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529706682"/>
              </p:ext>
            </p:extLst>
          </p:nvPr>
        </p:nvGraphicFramePr>
        <p:xfrm>
          <a:off x="4309028" y="2009735"/>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FE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96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Tree>
    <p:extLst>
      <p:ext uri="{BB962C8B-B14F-4D97-AF65-F5344CB8AC3E}">
        <p14:creationId xmlns:p14="http://schemas.microsoft.com/office/powerpoint/2010/main" val="34935347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1"/>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02</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a:t>
            </a:r>
            <a:r>
              <a:rPr lang="en-US" sz="1400" b="1" dirty="0"/>
              <a:t>2</a:t>
            </a:r>
            <a:r>
              <a:rPr lang="en-US" sz="1400" b="1" dirty="0" smtClean="0"/>
              <a:t>B</a:t>
            </a:r>
          </a:p>
          <a:p>
            <a:r>
              <a:rPr lang="en-US" sz="1400" b="1" dirty="0" smtClean="0"/>
              <a:t>C = 16B</a:t>
            </a:r>
          </a:p>
          <a:p>
            <a:r>
              <a:rPr lang="en-US" sz="1400" b="1" dirty="0" smtClean="0"/>
              <a:t>N = 2 (2-way associative)</a:t>
            </a:r>
          </a:p>
          <a:p>
            <a:r>
              <a:rPr lang="en-US" sz="1400" b="1" dirty="0" smtClean="0"/>
              <a:t>Addresses are </a:t>
            </a:r>
            <a:r>
              <a:rPr lang="en-US" sz="1400" b="1" dirty="0"/>
              <a:t>8</a:t>
            </a:r>
            <a:r>
              <a:rPr lang="en-US" sz="1400" b="1" dirty="0" smtClean="0"/>
              <a:t>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16/2 = 8</a:t>
                </a:r>
                <a:endParaRPr lang="en-US" sz="1200" i="1" dirty="0"/>
              </a:p>
              <a:p>
                <a:r>
                  <a:rPr lang="en-US" sz="1200" dirty="0" smtClean="0"/>
                  <a:t>S = B/N = </a:t>
                </a:r>
                <a:r>
                  <a:rPr lang="en-US" sz="1200" dirty="0"/>
                  <a:t>8</a:t>
                </a:r>
                <a:r>
                  <a:rPr lang="en-US" sz="1200" dirty="0" smtClean="0"/>
                  <a:t>/2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latin typeface="Cambria Math" panose="02040503050406030204" pitchFamily="18" charset="0"/>
                  </a:rPr>
                  <a:t>0xFF</a:t>
                </a:r>
              </a:p>
              <a:p>
                <a:pPr marL="342900" indent="-342900">
                  <a:buFont typeface="+mj-lt"/>
                  <a:buAutoNum type="arabicPeriod"/>
                </a:pPr>
                <a:r>
                  <a:rPr lang="en-US" b="1" dirty="0">
                    <a:latin typeface="Cambria Math" panose="02040503050406030204" pitchFamily="18" charset="0"/>
                  </a:rPr>
                  <a:t>0x96</a:t>
                </a:r>
              </a:p>
              <a:p>
                <a:pPr marL="342900" indent="-342900">
                  <a:buFont typeface="+mj-lt"/>
                  <a:buAutoNum type="arabicPeriod"/>
                </a:pPr>
                <a:r>
                  <a:rPr lang="en-US" b="1" dirty="0">
                    <a:solidFill>
                      <a:srgbClr val="FF0000"/>
                    </a:solidFill>
                    <a:latin typeface="Cambria Math" panose="02040503050406030204" pitchFamily="18" charset="0"/>
                  </a:rPr>
                  <a:t>0x1E</a:t>
                </a:r>
              </a:p>
              <a:p>
                <a:pPr marL="342900" indent="-342900">
                  <a:buFont typeface="+mj-lt"/>
                  <a:buAutoNum type="arabicPeriod"/>
                </a:pPr>
                <a:r>
                  <a:rPr lang="en-US" b="1" dirty="0">
                    <a:latin typeface="Cambria Math" panose="02040503050406030204" pitchFamily="18" charset="0"/>
                  </a:rPr>
                  <a:t>0x97</a:t>
                </a:r>
              </a:p>
              <a:p>
                <a:pPr marL="342900" indent="-342900">
                  <a:buFont typeface="+mj-lt"/>
                  <a:buAutoNum type="arabicPeriod"/>
                </a:pPr>
                <a:r>
                  <a:rPr lang="en-US" b="1" dirty="0">
                    <a:latin typeface="Cambria Math" panose="02040503050406030204" pitchFamily="18" charset="0"/>
                  </a:rPr>
                  <a:t>0X07</a:t>
                </a:r>
              </a:p>
              <a:p>
                <a:pPr marL="342900" indent="-342900">
                  <a:buFont typeface="+mj-lt"/>
                  <a:buAutoNum type="arabicPeriod"/>
                </a:pPr>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35836" y="5609977"/>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0x1E</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0001 1</a:t>
            </a:r>
            <a:r>
              <a:rPr lang="en-US" sz="2000" b="1" dirty="0" smtClean="0">
                <a:solidFill>
                  <a:srgbClr val="00B0F0"/>
                </a:solidFill>
                <a:latin typeface="Cambria Math" panose="02040503050406030204" pitchFamily="18" charset="0"/>
              </a:rPr>
              <a:t>11</a:t>
            </a:r>
            <a:r>
              <a:rPr lang="en-US" sz="2000" b="1" dirty="0" smtClean="0">
                <a:solidFill>
                  <a:srgbClr val="FFC000"/>
                </a:solidFill>
                <a:latin typeface="Cambria Math" panose="02040503050406030204" pitchFamily="18" charset="0"/>
              </a:rPr>
              <a:t>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3	Cache Hit = 0</a:t>
            </a:r>
            <a:endParaRPr lang="en-US" b="1" dirty="0">
              <a:solidFill>
                <a:srgbClr val="FF0000"/>
              </a:solidFill>
            </a:endParaRPr>
          </a:p>
        </p:txBody>
      </p:sp>
      <p:graphicFrame>
        <p:nvGraphicFramePr>
          <p:cNvPr id="20" name="Table 19"/>
          <p:cNvGraphicFramePr>
            <a:graphicFrameLocks noGrp="1"/>
          </p:cNvGraphicFramePr>
          <p:nvPr>
            <p:extLst>
              <p:ext uri="{D42A27DB-BD31-4B8C-83A1-F6EECF244321}">
                <p14:modId xmlns:p14="http://schemas.microsoft.com/office/powerpoint/2010/main" val="1717017193"/>
              </p:ext>
            </p:extLst>
          </p:nvPr>
        </p:nvGraphicFramePr>
        <p:xfrm>
          <a:off x="4409771" y="2030705"/>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FE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FF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96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336143917"/>
              </p:ext>
            </p:extLst>
          </p:nvPr>
        </p:nvGraphicFramePr>
        <p:xfrm>
          <a:off x="4409771" y="2037233"/>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1E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96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Tree>
    <p:extLst>
      <p:ext uri="{BB962C8B-B14F-4D97-AF65-F5344CB8AC3E}">
        <p14:creationId xmlns:p14="http://schemas.microsoft.com/office/powerpoint/2010/main" val="26340891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02</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a:t>
            </a:r>
            <a:r>
              <a:rPr lang="en-US" sz="1400" b="1" dirty="0"/>
              <a:t>2</a:t>
            </a:r>
            <a:r>
              <a:rPr lang="en-US" sz="1400" b="1" dirty="0" smtClean="0"/>
              <a:t>B</a:t>
            </a:r>
          </a:p>
          <a:p>
            <a:r>
              <a:rPr lang="en-US" sz="1400" b="1" dirty="0" smtClean="0"/>
              <a:t>C = 16B</a:t>
            </a:r>
          </a:p>
          <a:p>
            <a:r>
              <a:rPr lang="en-US" sz="1400" b="1" dirty="0" smtClean="0"/>
              <a:t>N = 2 (2-way associative)</a:t>
            </a:r>
          </a:p>
          <a:p>
            <a:r>
              <a:rPr lang="en-US" sz="1400" b="1" dirty="0" smtClean="0"/>
              <a:t>Addresses are </a:t>
            </a:r>
            <a:r>
              <a:rPr lang="en-US" sz="1400" b="1" dirty="0"/>
              <a:t>8</a:t>
            </a:r>
            <a:r>
              <a:rPr lang="en-US" sz="1400" b="1" dirty="0" smtClean="0"/>
              <a:t>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16/2 = 8</a:t>
                </a:r>
                <a:endParaRPr lang="en-US" sz="1200" i="1" dirty="0"/>
              </a:p>
              <a:p>
                <a:r>
                  <a:rPr lang="en-US" sz="1200" dirty="0" smtClean="0"/>
                  <a:t>S = B/N = </a:t>
                </a:r>
                <a:r>
                  <a:rPr lang="en-US" sz="1200" dirty="0"/>
                  <a:t>8</a:t>
                </a:r>
                <a:r>
                  <a:rPr lang="en-US" sz="1200" dirty="0" smtClean="0"/>
                  <a:t>/2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a:latin typeface="Cambria Math" panose="02040503050406030204" pitchFamily="18" charset="0"/>
                  </a:rPr>
                  <a:t>0xFF</a:t>
                </a:r>
              </a:p>
              <a:p>
                <a:pPr marL="342900" indent="-342900">
                  <a:buFont typeface="+mj-lt"/>
                  <a:buAutoNum type="arabicPeriod"/>
                </a:pPr>
                <a:r>
                  <a:rPr lang="en-US" b="1" dirty="0">
                    <a:latin typeface="Cambria Math" panose="02040503050406030204" pitchFamily="18" charset="0"/>
                  </a:rPr>
                  <a:t>0x96</a:t>
                </a:r>
              </a:p>
              <a:p>
                <a:pPr marL="342900" indent="-342900">
                  <a:buFont typeface="+mj-lt"/>
                  <a:buAutoNum type="arabicPeriod"/>
                </a:pPr>
                <a:r>
                  <a:rPr lang="en-US" b="1" dirty="0">
                    <a:latin typeface="Cambria Math" panose="02040503050406030204" pitchFamily="18" charset="0"/>
                  </a:rPr>
                  <a:t>0x1E</a:t>
                </a:r>
              </a:p>
              <a:p>
                <a:pPr marL="342900" indent="-342900">
                  <a:buFont typeface="+mj-lt"/>
                  <a:buAutoNum type="arabicPeriod"/>
                </a:pPr>
                <a:r>
                  <a:rPr lang="en-US" b="1" dirty="0">
                    <a:solidFill>
                      <a:srgbClr val="FF0000"/>
                    </a:solidFill>
                    <a:latin typeface="Cambria Math" panose="02040503050406030204" pitchFamily="18" charset="0"/>
                  </a:rPr>
                  <a:t>0x97</a:t>
                </a:r>
              </a:p>
              <a:p>
                <a:pPr marL="342900" indent="-342900">
                  <a:buFont typeface="+mj-lt"/>
                  <a:buAutoNum type="arabicPeriod"/>
                </a:pPr>
                <a:r>
                  <a:rPr lang="en-US" b="1" dirty="0">
                    <a:latin typeface="Cambria Math" panose="02040503050406030204" pitchFamily="18" charset="0"/>
                  </a:rPr>
                  <a:t>0X07</a:t>
                </a: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35836" y="5609977"/>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0x97</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1001 0</a:t>
            </a:r>
            <a:r>
              <a:rPr lang="en-US" sz="2000" b="1" dirty="0" smtClean="0">
                <a:solidFill>
                  <a:srgbClr val="00B0F0"/>
                </a:solidFill>
                <a:latin typeface="Cambria Math" panose="02040503050406030204" pitchFamily="18" charset="0"/>
              </a:rPr>
              <a:t>11</a:t>
            </a:r>
            <a:r>
              <a:rPr lang="en-US" sz="2000" b="1" dirty="0">
                <a:solidFill>
                  <a:srgbClr val="FFC000"/>
                </a:solidFill>
                <a:latin typeface="Cambria Math" panose="02040503050406030204" pitchFamily="18" charset="0"/>
              </a:rPr>
              <a:t>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3	Cache Hit = 1</a:t>
            </a:r>
            <a:endParaRPr lang="en-US" b="1" dirty="0">
              <a:solidFill>
                <a:srgbClr val="FF0000"/>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2955220121"/>
              </p:ext>
            </p:extLst>
          </p:nvPr>
        </p:nvGraphicFramePr>
        <p:xfrm>
          <a:off x="4409771" y="1990983"/>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1E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96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692497781"/>
              </p:ext>
            </p:extLst>
          </p:nvPr>
        </p:nvGraphicFramePr>
        <p:xfrm>
          <a:off x="4409770" y="1990983"/>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1E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96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Tree>
    <p:extLst>
      <p:ext uri="{BB962C8B-B14F-4D97-AF65-F5344CB8AC3E}">
        <p14:creationId xmlns:p14="http://schemas.microsoft.com/office/powerpoint/2010/main" val="29767334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6"/>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p:txBody>
          <a:bodyPr/>
          <a:lstStyle/>
          <a:p>
            <a:r>
              <a:rPr lang="en-US" dirty="0" smtClean="0"/>
              <a:t>Example 02</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a:t>
            </a:r>
            <a:r>
              <a:rPr lang="en-US" sz="1400" b="1" dirty="0" smtClean="0"/>
              <a:t> = </a:t>
            </a:r>
            <a:r>
              <a:rPr lang="en-US" sz="1400" b="1" dirty="0"/>
              <a:t>2</a:t>
            </a:r>
            <a:r>
              <a:rPr lang="en-US" sz="1400" b="1" dirty="0" smtClean="0"/>
              <a:t>B</a:t>
            </a:r>
          </a:p>
          <a:p>
            <a:r>
              <a:rPr lang="en-US" sz="1400" b="1" dirty="0" smtClean="0"/>
              <a:t>C = 16B</a:t>
            </a:r>
          </a:p>
          <a:p>
            <a:r>
              <a:rPr lang="en-US" sz="1400" b="1" dirty="0" smtClean="0"/>
              <a:t>N = 2 (2-way associative)</a:t>
            </a:r>
          </a:p>
          <a:p>
            <a:r>
              <a:rPr lang="en-US" sz="1400" b="1" dirty="0" smtClean="0"/>
              <a:t>Addresses are </a:t>
            </a:r>
            <a:r>
              <a:rPr lang="en-US" sz="1400" b="1" dirty="0"/>
              <a:t>8</a:t>
            </a:r>
            <a:r>
              <a:rPr lang="en-US" sz="1400" b="1" dirty="0" smtClean="0"/>
              <a:t> 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535199"/>
              </a:xfrm>
              <a:prstGeom prst="rect">
                <a:avLst/>
              </a:prstGeom>
              <a:noFill/>
            </p:spPr>
            <p:txBody>
              <a:bodyPr wrap="square" rtlCol="0">
                <a:spAutoFit/>
              </a:bodyPr>
              <a:lstStyle/>
              <a:p>
                <a:pPr marL="0" lvl="1"/>
                <a:r>
                  <a:rPr lang="en-US" sz="1200" i="1" dirty="0" smtClean="0"/>
                  <a:t>B</a:t>
                </a:r>
                <a:r>
                  <a:rPr lang="en-US" sz="1200" dirty="0"/>
                  <a:t> = </a:t>
                </a:r>
                <a:r>
                  <a:rPr lang="en-US" sz="1200" i="1" dirty="0" smtClean="0"/>
                  <a:t>C</a:t>
                </a:r>
                <a:r>
                  <a:rPr lang="en-US" sz="1200" dirty="0" smtClean="0"/>
                  <a:t>/</a:t>
                </a:r>
                <a:r>
                  <a:rPr lang="en-US" sz="1200" i="1" dirty="0" smtClean="0"/>
                  <a:t>b = 16/2 = 8</a:t>
                </a:r>
                <a:endParaRPr lang="en-US" sz="1200" i="1" dirty="0"/>
              </a:p>
              <a:p>
                <a:r>
                  <a:rPr lang="en-US" sz="1200" dirty="0" smtClean="0"/>
                  <a:t>S = B/N = </a:t>
                </a:r>
                <a:r>
                  <a:rPr lang="en-US" sz="1200" dirty="0"/>
                  <a:t>8</a:t>
                </a:r>
                <a:r>
                  <a:rPr lang="en-US" sz="1200" dirty="0" smtClean="0"/>
                  <a:t>/2 = 4</a:t>
                </a:r>
              </a:p>
              <a:p>
                <a:pPr/>
                <a14:m>
                  <m:oMathPara xmlns:m="http://schemas.openxmlformats.org/officeDocument/2006/math">
                    <m:oMathParaPr>
                      <m:jc m:val="left"/>
                    </m:oMathParaPr>
                    <m:oMath xmlns:m="http://schemas.openxmlformats.org/officeDocument/2006/math">
                      <m:r>
                        <a:rPr lang="en-US" sz="1200" b="1" i="1">
                          <a:latin typeface="Cambria Math" panose="02040503050406030204" pitchFamily="18" charset="0"/>
                        </a:rPr>
                        <m:t>𝑶𝒇𝒇𝒔𝒆𝒕</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a:latin typeface="Cambria Math" panose="02040503050406030204" pitchFamily="18" charset="0"/>
                            </a:rPr>
                            <m:t>𝒃</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𝟐</m:t>
                              </m:r>
                            </m:e>
                          </m:func>
                        </m:e>
                      </m:func>
                      <m:r>
                        <a:rPr lang="en-US" sz="1200" b="1" i="1">
                          <a:latin typeface="Cambria Math" panose="02040503050406030204" pitchFamily="18" charset="0"/>
                        </a:rPr>
                        <m:t>=</m:t>
                      </m:r>
                      <m:r>
                        <a:rPr lang="en-US" sz="1200" b="1" i="1" smtClean="0">
                          <a:latin typeface="Cambria Math" panose="02040503050406030204" pitchFamily="18" charset="0"/>
                        </a:rPr>
                        <m:t>𝟏</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𝑺𝒆𝒕</m:t>
                      </m:r>
                      <m:r>
                        <a:rPr lang="en-US" sz="1200" b="1" i="1" smtClean="0">
                          <a:latin typeface="Cambria Math" panose="02040503050406030204" pitchFamily="18" charset="0"/>
                        </a:rPr>
                        <m:t>/</m:t>
                      </m:r>
                      <m:r>
                        <a:rPr lang="en-US" sz="1200" b="1" i="1" smtClean="0">
                          <a:latin typeface="Cambria Math" panose="02040503050406030204" pitchFamily="18" charset="0"/>
                        </a:rPr>
                        <m:t>𝒊𝒏𝒅𝒆𝒙</m:t>
                      </m:r>
                      <m:r>
                        <a:rPr lang="en-US" sz="1200" b="1" i="1">
                          <a:latin typeface="Cambria Math" panose="02040503050406030204" pitchFamily="18" charset="0"/>
                        </a:rPr>
                        <m:t> </m:t>
                      </m:r>
                      <m:r>
                        <a:rPr lang="en-US" sz="1200" b="1" i="1">
                          <a:latin typeface="Cambria Math" panose="02040503050406030204" pitchFamily="18" charset="0"/>
                        </a:rPr>
                        <m:t>𝒃𝒊𝒕𝒔</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i="1">
                                  <a:latin typeface="Cambria Math" panose="02040503050406030204" pitchFamily="18" charset="0"/>
                                </a:rPr>
                                <m:t>2</m:t>
                              </m:r>
                            </m:sub>
                          </m:sSub>
                        </m:fName>
                        <m:e>
                          <m:r>
                            <a:rPr lang="en-US" sz="1200" b="1" i="1" smtClean="0">
                              <a:latin typeface="Cambria Math" panose="02040503050406030204" pitchFamily="18" charset="0"/>
                            </a:rPr>
                            <m:t>𝑺</m:t>
                          </m:r>
                          <m:r>
                            <a:rPr lang="en-US" sz="1200" b="1" i="1">
                              <a:latin typeface="Cambria Math" panose="02040503050406030204" pitchFamily="18" charset="0"/>
                            </a:rPr>
                            <m:t>= </m:t>
                          </m:r>
                          <m:func>
                            <m:funcPr>
                              <m:ctrlPr>
                                <a:rPr lang="en-US" sz="1200" b="1" i="1">
                                  <a:latin typeface="Cambria Math"/>
                                </a:rPr>
                              </m:ctrlPr>
                            </m:funcPr>
                            <m:fName>
                              <m:sSub>
                                <m:sSubPr>
                                  <m:ctrlPr>
                                    <a:rPr lang="en-US" sz="1200" b="1" i="1">
                                      <a:latin typeface="Cambria Math"/>
                                    </a:rPr>
                                  </m:ctrlPr>
                                </m:sSubPr>
                                <m:e>
                                  <m:r>
                                    <m:rPr>
                                      <m:sty m:val="p"/>
                                    </m:rPr>
                                    <a:rPr lang="en-US" sz="1200">
                                      <a:latin typeface="Cambria Math" panose="02040503050406030204" pitchFamily="18" charset="0"/>
                                    </a:rPr>
                                    <m:t>log</m:t>
                                  </m:r>
                                </m:e>
                                <m:sub>
                                  <m:r>
                                    <a:rPr lang="en-US" sz="1200" b="1" i="1">
                                      <a:latin typeface="Cambria Math" panose="02040503050406030204" pitchFamily="18" charset="0"/>
                                    </a:rPr>
                                    <m:t>𝟐</m:t>
                                  </m:r>
                                </m:sub>
                              </m:sSub>
                            </m:fName>
                            <m:e>
                              <m:r>
                                <a:rPr lang="en-US" sz="1200" b="1" i="1" smtClean="0">
                                  <a:latin typeface="Cambria Math" panose="02040503050406030204" pitchFamily="18" charset="0"/>
                                </a:rPr>
                                <m:t>𝟒</m:t>
                              </m:r>
                            </m:e>
                          </m:func>
                        </m:e>
                      </m:func>
                      <m:r>
                        <a:rPr lang="en-US" sz="1200" b="1" i="1">
                          <a:latin typeface="Cambria Math" panose="02040503050406030204" pitchFamily="18" charset="0"/>
                        </a:rPr>
                        <m:t>=</m:t>
                      </m:r>
                      <m:r>
                        <a:rPr lang="en-US" sz="1200" b="1" i="1" smtClean="0">
                          <a:latin typeface="Cambria Math" panose="02040503050406030204" pitchFamily="18" charset="0"/>
                        </a:rPr>
                        <m:t>𝟐</m:t>
                      </m:r>
                    </m:oMath>
                  </m:oMathPara>
                </a14:m>
                <a:endParaRPr lang="en-US" sz="12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𝑻𝒂𝒈</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a:latin typeface="Cambria Math" panose="02040503050406030204" pitchFamily="18" charset="0"/>
                        </a:rPr>
                        <m:t>=</m:t>
                      </m:r>
                      <m:r>
                        <a:rPr lang="en-US" sz="1200" b="1" i="1" smtClean="0">
                          <a:latin typeface="Cambria Math" panose="02040503050406030204" pitchFamily="18" charset="0"/>
                        </a:rPr>
                        <m:t>𝑨𝒅𝒅𝒓𝒆𝒔𝒔</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𝑶𝒇𝒇𝒔𝒆𝒕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 −</m:t>
                      </m:r>
                      <m:r>
                        <a:rPr lang="en-US" sz="1200" b="1" i="1" smtClean="0">
                          <a:latin typeface="Cambria Math" panose="02040503050406030204" pitchFamily="18" charset="0"/>
                        </a:rPr>
                        <m:t>𝒔𝒆𝒕</m:t>
                      </m:r>
                      <m:r>
                        <a:rPr lang="en-US" sz="1200" b="1" i="1" smtClean="0">
                          <a:latin typeface="Cambria Math" panose="02040503050406030204" pitchFamily="18" charset="0"/>
                        </a:rPr>
                        <m:t> </m:t>
                      </m:r>
                      <m:r>
                        <a:rPr lang="en-US" sz="1200" b="1" i="1" smtClean="0">
                          <a:latin typeface="Cambria Math" panose="02040503050406030204" pitchFamily="18" charset="0"/>
                        </a:rPr>
                        <m:t>𝒃𝒊𝒕𝒔</m:t>
                      </m:r>
                      <m:r>
                        <a:rPr lang="en-US" sz="1200" b="1" i="1" smtClean="0">
                          <a:latin typeface="Cambria Math" panose="02040503050406030204" pitchFamily="18" charset="0"/>
                        </a:rPr>
                        <m:t>=</m:t>
                      </m:r>
                      <m:r>
                        <a:rPr lang="en-US" sz="1200" b="1" i="1" smtClean="0">
                          <a:latin typeface="Cambria Math" panose="02040503050406030204" pitchFamily="18" charset="0"/>
                        </a:rPr>
                        <m:t>𝟖</m:t>
                      </m:r>
                      <m:r>
                        <a:rPr lang="en-US" sz="1200" b="1" i="1" smtClean="0">
                          <a:latin typeface="Cambria Math" panose="02040503050406030204" pitchFamily="18" charset="0"/>
                        </a:rPr>
                        <m:t> −</m:t>
                      </m:r>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𝟐</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i="1" dirty="0" smtClean="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b="1" dirty="0" smtClean="0">
                    <a:latin typeface="Cambria Math" panose="02040503050406030204" pitchFamily="18" charset="0"/>
                  </a:rPr>
                  <a:t>0xFF</a:t>
                </a:r>
              </a:p>
              <a:p>
                <a:pPr marL="342900" indent="-342900">
                  <a:buFont typeface="+mj-lt"/>
                  <a:buAutoNum type="arabicPeriod"/>
                </a:pPr>
                <a:r>
                  <a:rPr lang="en-US" b="1" dirty="0" smtClean="0">
                    <a:latin typeface="Cambria Math" panose="02040503050406030204" pitchFamily="18" charset="0"/>
                  </a:rPr>
                  <a:t>0x96</a:t>
                </a:r>
              </a:p>
              <a:p>
                <a:pPr marL="342900" indent="-342900">
                  <a:buFont typeface="+mj-lt"/>
                  <a:buAutoNum type="arabicPeriod"/>
                </a:pPr>
                <a:r>
                  <a:rPr lang="en-US" b="1" dirty="0" smtClean="0">
                    <a:latin typeface="Cambria Math" panose="02040503050406030204" pitchFamily="18" charset="0"/>
                  </a:rPr>
                  <a:t>0x1E</a:t>
                </a:r>
              </a:p>
              <a:p>
                <a:pPr marL="342900" indent="-342900">
                  <a:buFont typeface="+mj-lt"/>
                  <a:buAutoNum type="arabicPeriod"/>
                </a:pPr>
                <a:r>
                  <a:rPr lang="en-US" b="1" dirty="0" smtClean="0">
                    <a:latin typeface="Cambria Math" panose="02040503050406030204" pitchFamily="18" charset="0"/>
                  </a:rPr>
                  <a:t>0x97</a:t>
                </a:r>
              </a:p>
              <a:p>
                <a:pPr marL="342900" indent="-342900">
                  <a:buFont typeface="+mj-lt"/>
                  <a:buAutoNum type="arabicPeriod"/>
                </a:pPr>
                <a:r>
                  <a:rPr lang="en-US" b="1" dirty="0" smtClean="0">
                    <a:solidFill>
                      <a:srgbClr val="FF0000"/>
                    </a:solidFill>
                    <a:latin typeface="Cambria Math" panose="02040503050406030204" pitchFamily="18" charset="0"/>
                  </a:rPr>
                  <a:t>0X07</a:t>
                </a:r>
              </a:p>
              <a:p>
                <a:pPr marL="342900" indent="-342900">
                  <a:buFont typeface="+mj-lt"/>
                  <a:buAutoNum type="arabicPeriod"/>
                </a:pPr>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535199"/>
              </a:xfrm>
              <a:prstGeom prst="rect">
                <a:avLst/>
              </a:prstGeom>
              <a:blipFill>
                <a:blip r:embed="rId2"/>
                <a:stretch>
                  <a:fillRect l="-1272" t="-172"/>
                </a:stretch>
              </a:blipFill>
            </p:spPr>
            <p:txBody>
              <a:bodyPr/>
              <a:lstStyle/>
              <a:p>
                <a:r>
                  <a:rPr lang="en-US">
                    <a:noFill/>
                  </a:rPr>
                  <a:t> </a:t>
                </a:r>
              </a:p>
            </p:txBody>
          </p:sp>
        </mc:Fallback>
      </mc:AlternateContent>
      <p:graphicFrame>
        <p:nvGraphicFramePr>
          <p:cNvPr id="8" name="Table 7"/>
          <p:cNvGraphicFramePr>
            <a:graphicFrameLocks noGrp="1"/>
          </p:cNvGraphicFramePr>
          <p:nvPr>
            <p:extLst/>
          </p:nvPr>
        </p:nvGraphicFramePr>
        <p:xfrm>
          <a:off x="9605616" y="1396651"/>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35836" y="5609977"/>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0x07</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0000 0</a:t>
            </a:r>
            <a:r>
              <a:rPr lang="en-US" sz="2000" b="1" dirty="0" smtClean="0">
                <a:solidFill>
                  <a:srgbClr val="00B0F0"/>
                </a:solidFill>
                <a:latin typeface="Cambria Math" panose="02040503050406030204" pitchFamily="18" charset="0"/>
              </a:rPr>
              <a:t>11</a:t>
            </a:r>
            <a:r>
              <a:rPr lang="en-US" sz="2000" b="1" dirty="0">
                <a:solidFill>
                  <a:srgbClr val="FFC000"/>
                </a:solidFill>
                <a:latin typeface="Cambria Math" panose="02040503050406030204" pitchFamily="18" charset="0"/>
              </a:rPr>
              <a:t>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a:t>
            </a:r>
            <a:r>
              <a:rPr lang="en-US" b="1" dirty="0">
                <a:solidFill>
                  <a:srgbClr val="FF0000"/>
                </a:solidFill>
              </a:rPr>
              <a:t>4</a:t>
            </a:r>
            <a:r>
              <a:rPr lang="en-US" b="1" dirty="0" smtClean="0">
                <a:solidFill>
                  <a:srgbClr val="FF0000"/>
                </a:solidFill>
              </a:rPr>
              <a:t>	Cache Hit = 1</a:t>
            </a:r>
            <a:endParaRPr lang="en-US" b="1" dirty="0">
              <a:solidFill>
                <a:srgbClr val="FF0000"/>
              </a:solidFill>
            </a:endParaRPr>
          </a:p>
        </p:txBody>
      </p:sp>
      <p:graphicFrame>
        <p:nvGraphicFramePr>
          <p:cNvPr id="21" name="Table 20"/>
          <p:cNvGraphicFramePr>
            <a:graphicFrameLocks noGrp="1"/>
          </p:cNvGraphicFramePr>
          <p:nvPr>
            <p:extLst>
              <p:ext uri="{D42A27DB-BD31-4B8C-83A1-F6EECF244321}">
                <p14:modId xmlns:p14="http://schemas.microsoft.com/office/powerpoint/2010/main" val="3067403885"/>
              </p:ext>
            </p:extLst>
          </p:nvPr>
        </p:nvGraphicFramePr>
        <p:xfrm>
          <a:off x="4409771" y="2080949"/>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1E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1F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96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398480599"/>
              </p:ext>
            </p:extLst>
          </p:nvPr>
        </p:nvGraphicFramePr>
        <p:xfrm>
          <a:off x="4419866" y="2080949"/>
          <a:ext cx="3939699" cy="3566216"/>
        </p:xfrm>
        <a:graphic>
          <a:graphicData uri="http://schemas.openxmlformats.org/drawingml/2006/table">
            <a:tbl>
              <a:tblPr firstRow="1" bandRow="1">
                <a:tableStyleId>{5940675A-B579-460E-94D1-54222C63F5DA}</a:tableStyleId>
              </a:tblPr>
              <a:tblGrid>
                <a:gridCol w="634874">
                  <a:extLst>
                    <a:ext uri="{9D8B030D-6E8A-4147-A177-3AD203B41FA5}">
                      <a16:colId xmlns="" xmlns:a16="http://schemas.microsoft.com/office/drawing/2014/main" val="4284518099"/>
                    </a:ext>
                  </a:extLst>
                </a:gridCol>
                <a:gridCol w="484509">
                  <a:extLst>
                    <a:ext uri="{9D8B030D-6E8A-4147-A177-3AD203B41FA5}">
                      <a16:colId xmlns="" xmlns:a16="http://schemas.microsoft.com/office/drawing/2014/main" val="3030601287"/>
                    </a:ext>
                  </a:extLst>
                </a:gridCol>
                <a:gridCol w="645780">
                  <a:extLst>
                    <a:ext uri="{9D8B030D-6E8A-4147-A177-3AD203B41FA5}">
                      <a16:colId xmlns="" xmlns:a16="http://schemas.microsoft.com/office/drawing/2014/main" val="330335500"/>
                    </a:ext>
                  </a:extLst>
                </a:gridCol>
                <a:gridCol w="1091770">
                  <a:extLst>
                    <a:ext uri="{9D8B030D-6E8A-4147-A177-3AD203B41FA5}">
                      <a16:colId xmlns="" xmlns:a16="http://schemas.microsoft.com/office/drawing/2014/main" val="1200191126"/>
                    </a:ext>
                  </a:extLst>
                </a:gridCol>
                <a:gridCol w="572437">
                  <a:extLst>
                    <a:ext uri="{9D8B030D-6E8A-4147-A177-3AD203B41FA5}">
                      <a16:colId xmlns="" xmlns:a16="http://schemas.microsoft.com/office/drawing/2014/main" val="1827225863"/>
                    </a:ext>
                  </a:extLst>
                </a:gridCol>
                <a:gridCol w="510329">
                  <a:extLst>
                    <a:ext uri="{9D8B030D-6E8A-4147-A177-3AD203B41FA5}">
                      <a16:colId xmlns="" xmlns:a16="http://schemas.microsoft.com/office/drawing/2014/main" val="2625427107"/>
                    </a:ext>
                  </a:extLst>
                </a:gridCol>
              </a:tblGrid>
              <a:tr h="640136">
                <a:tc>
                  <a:txBody>
                    <a:bodyPr/>
                    <a:lstStyle/>
                    <a:p>
                      <a:pPr algn="r"/>
                      <a:endParaRPr lang="en-US" b="1" dirty="0" smtClean="0"/>
                    </a:p>
                    <a:p>
                      <a:pPr algn="l"/>
                      <a:r>
                        <a:rPr lang="en-US" b="1" dirty="0" smtClean="0"/>
                        <a:t>Sets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b="1" dirty="0" smtClean="0">
                          <a:solidFill>
                            <a:schemeClr val="tx1"/>
                          </a:solidFill>
                        </a:rPr>
                        <a:t>0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2">
                  <a:txBody>
                    <a:bodyPr/>
                    <a:lstStyle/>
                    <a:p>
                      <a:endParaRPr lang="en-US" b="1" dirty="0" smtClean="0"/>
                    </a:p>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rowSpan="2">
                  <a:txBody>
                    <a:bodyPr/>
                    <a:lstStyle/>
                    <a:p>
                      <a:endParaRPr lang="en-US" b="1" dirty="0" smtClean="0"/>
                    </a:p>
                    <a:p>
                      <a:r>
                        <a:rPr lang="en-US" b="1" dirty="0" smtClean="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r h="321503">
                <a:tc rowSpan="2">
                  <a:txBody>
                    <a:bodyPr/>
                    <a:lstStyle/>
                    <a:p>
                      <a:endParaRPr lang="en-US" b="1" dirty="0" smtClean="0"/>
                    </a:p>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6455686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04032231"/>
                  </a:ext>
                </a:extLst>
              </a:tr>
              <a:tr h="321503">
                <a:tc rowSpan="2">
                  <a:txBody>
                    <a:bodyPr/>
                    <a:lstStyle/>
                    <a:p>
                      <a:endParaRPr lang="en-US" b="1" dirty="0" smtClean="0"/>
                    </a:p>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06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07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0110061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96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t>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45103397"/>
                  </a:ext>
                </a:extLst>
              </a:tr>
            </a:tbl>
          </a:graphicData>
        </a:graphic>
      </p:graphicFrame>
    </p:spTree>
    <p:extLst>
      <p:ext uri="{BB962C8B-B14F-4D97-AF65-F5344CB8AC3E}">
        <p14:creationId xmlns:p14="http://schemas.microsoft.com/office/powerpoint/2010/main" val="39353574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1"/>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17" grpId="0"/>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a:xfrm>
            <a:off x="1069571" y="242318"/>
            <a:ext cx="10058400" cy="1450757"/>
          </a:xfrm>
        </p:spPr>
        <p:txBody>
          <a:bodyPr/>
          <a:lstStyle/>
          <a:p>
            <a:r>
              <a:rPr lang="en-US" dirty="0" smtClean="0"/>
              <a:t>Example 03</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a:t>
            </a:r>
            <a:r>
              <a:rPr lang="en-US" sz="1400" b="1" dirty="0" smtClean="0"/>
              <a:t>B</a:t>
            </a:r>
            <a:endParaRPr lang="en-US" sz="1400" b="1" dirty="0"/>
          </a:p>
          <a:p>
            <a:r>
              <a:rPr lang="en-US" sz="1400" b="1" dirty="0"/>
              <a:t>Full Associative Cache</a:t>
            </a:r>
          </a:p>
          <a:p>
            <a:r>
              <a:rPr lang="en-US" sz="1400" b="1" dirty="0"/>
              <a:t>Single set with </a:t>
            </a:r>
            <a:r>
              <a:rPr lang="en-US" sz="1400" b="1" dirty="0" smtClean="0"/>
              <a:t>4-ways</a:t>
            </a:r>
          </a:p>
          <a:p>
            <a:r>
              <a:rPr lang="en-US" sz="1400" b="1" dirty="0" smtClean="0"/>
              <a:t>Address is 8bits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2923877"/>
              </a:xfrm>
              <a:prstGeom prst="rect">
                <a:avLst/>
              </a:prstGeom>
              <a:noFill/>
            </p:spPr>
            <p:txBody>
              <a:bodyPr wrap="square" rtlCol="0">
                <a:spAutoFit/>
              </a:bodyPr>
              <a:lstStyle/>
              <a:p>
                <a:pPr marL="0" lvl="1"/>
                <a:r>
                  <a:rPr lang="en-US" sz="1400" i="1" dirty="0" smtClean="0"/>
                  <a:t>C = 1B * 4 (ways) = 4B</a:t>
                </a:r>
              </a:p>
              <a:p>
                <a:pPr marL="0" lvl="1"/>
                <a:r>
                  <a:rPr lang="en-US" sz="1400" i="1" dirty="0"/>
                  <a:t>B</a:t>
                </a:r>
                <a:r>
                  <a:rPr lang="en-US" sz="1400" dirty="0"/>
                  <a:t> = </a:t>
                </a:r>
                <a:r>
                  <a:rPr lang="en-US" sz="1400" i="1" dirty="0"/>
                  <a:t>C</a:t>
                </a:r>
                <a:r>
                  <a:rPr lang="en-US" sz="1400" dirty="0"/>
                  <a:t>/</a:t>
                </a:r>
                <a:r>
                  <a:rPr lang="en-US" sz="1400" i="1" dirty="0"/>
                  <a:t>b = </a:t>
                </a:r>
                <a:r>
                  <a:rPr lang="en-US" sz="1400" i="1" dirty="0" smtClean="0"/>
                  <a:t>4/1 </a:t>
                </a:r>
                <a:r>
                  <a:rPr lang="en-US" sz="1400" i="1" dirty="0"/>
                  <a:t>=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dirty="0" smtClean="0"/>
                  <a:t>0x06</a:t>
                </a: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2923877"/>
              </a:xfrm>
              <a:prstGeom prst="rect">
                <a:avLst/>
              </a:prstGeom>
              <a:blipFill>
                <a:blip r:embed="rId2"/>
                <a:stretch>
                  <a:fillRect l="-1431" t="-418"/>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0x06</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0000 0110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1	Cache Hit = 0 </a:t>
            </a:r>
            <a:endParaRPr lang="en-US" b="1" dirty="0">
              <a:solidFill>
                <a:srgbClr val="FF0000"/>
              </a:solidFill>
            </a:endParaRPr>
          </a:p>
        </p:txBody>
      </p:sp>
      <p:graphicFrame>
        <p:nvGraphicFramePr>
          <p:cNvPr id="21" name="Table 20"/>
          <p:cNvGraphicFramePr>
            <a:graphicFrameLocks noGrp="1"/>
          </p:cNvGraphicFramePr>
          <p:nvPr>
            <p:extLst>
              <p:ext uri="{D42A27DB-BD31-4B8C-83A1-F6EECF244321}">
                <p14:modId xmlns:p14="http://schemas.microsoft.com/office/powerpoint/2010/main" val="9428335"/>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 xmlns:a16="http://schemas.microsoft.com/office/drawing/2014/main" val="4284518099"/>
                    </a:ext>
                  </a:extLst>
                </a:gridCol>
                <a:gridCol w="636269">
                  <a:extLst>
                    <a:ext uri="{9D8B030D-6E8A-4147-A177-3AD203B41FA5}">
                      <a16:colId xmlns="" xmlns:a16="http://schemas.microsoft.com/office/drawing/2014/main" val="3030601287"/>
                    </a:ext>
                  </a:extLst>
                </a:gridCol>
                <a:gridCol w="886691">
                  <a:extLst>
                    <a:ext uri="{9D8B030D-6E8A-4147-A177-3AD203B41FA5}">
                      <a16:colId xmlns="" xmlns:a16="http://schemas.microsoft.com/office/drawing/2014/main" val="330335500"/>
                    </a:ext>
                  </a:extLst>
                </a:gridCol>
                <a:gridCol w="1413163">
                  <a:extLst>
                    <a:ext uri="{9D8B030D-6E8A-4147-A177-3AD203B41FA5}">
                      <a16:colId xmlns="" xmlns:a16="http://schemas.microsoft.com/office/drawing/2014/main" val="1200191126"/>
                    </a:ext>
                  </a:extLst>
                </a:gridCol>
                <a:gridCol w="2004290">
                  <a:extLst>
                    <a:ext uri="{9D8B030D-6E8A-4147-A177-3AD203B41FA5}">
                      <a16:colId xmlns="" xmlns:a16="http://schemas.microsoft.com/office/drawing/2014/main" val="1827225863"/>
                    </a:ext>
                  </a:extLst>
                </a:gridCol>
              </a:tblGrid>
              <a:tr h="640136">
                <a:tc>
                  <a:txBody>
                    <a:bodyPr/>
                    <a:lstStyle/>
                    <a:p>
                      <a:pPr algn="r"/>
                      <a:endParaRPr lang="en-US" b="1" dirty="0" smtClean="0"/>
                    </a:p>
                    <a:p>
                      <a:pPr algn="l"/>
                      <a:r>
                        <a:rPr lang="en-US" b="1" dirty="0" smtClean="0"/>
                        <a:t>Set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smtClean="0">
                          <a:solidFill>
                            <a:schemeClr val="tx1"/>
                          </a:solidFill>
                        </a:rPr>
                        <a:t>Data </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4">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0000 0110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600" dirty="0" smtClean="0">
                          <a:solidFill>
                            <a:schemeClr val="tx1"/>
                          </a:solidFill>
                        </a:rPr>
                        <a:t>06</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vMerge="1">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709870372"/>
              </p:ext>
            </p:extLst>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r>
                        <a:rPr lang="en-US" b="0" dirty="0" smtClean="0"/>
                        <a:t>…….</a:t>
                      </a:r>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Tree>
    <p:extLst>
      <p:ext uri="{BB962C8B-B14F-4D97-AF65-F5344CB8AC3E}">
        <p14:creationId xmlns:p14="http://schemas.microsoft.com/office/powerpoint/2010/main" val="37129833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a:xfrm>
            <a:off x="1069571" y="242318"/>
            <a:ext cx="10058400" cy="1450757"/>
          </a:xfrm>
        </p:spPr>
        <p:txBody>
          <a:bodyPr/>
          <a:lstStyle/>
          <a:p>
            <a:r>
              <a:rPr lang="en-US" dirty="0" smtClean="0"/>
              <a:t>Example 03</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a:t>
            </a:r>
            <a:r>
              <a:rPr lang="en-US" sz="1400" b="1" dirty="0" smtClean="0"/>
              <a:t>B</a:t>
            </a:r>
            <a:endParaRPr lang="en-US" sz="1400" b="1" dirty="0"/>
          </a:p>
          <a:p>
            <a:r>
              <a:rPr lang="en-US" sz="1400" b="1" dirty="0"/>
              <a:t>Full Associative Cache</a:t>
            </a:r>
          </a:p>
          <a:p>
            <a:r>
              <a:rPr lang="en-US" sz="1400" b="1" dirty="0"/>
              <a:t>Single set with </a:t>
            </a:r>
            <a:r>
              <a:rPr lang="en-US" sz="1400" b="1" dirty="0" smtClean="0"/>
              <a:t>4-ways</a:t>
            </a:r>
          </a:p>
          <a:p>
            <a:r>
              <a:rPr lang="en-US" sz="1400" b="1" dirty="0" smtClean="0"/>
              <a:t>Address is 8bits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2923877"/>
              </a:xfrm>
              <a:prstGeom prst="rect">
                <a:avLst/>
              </a:prstGeom>
              <a:noFill/>
            </p:spPr>
            <p:txBody>
              <a:bodyPr wrap="square" rtlCol="0">
                <a:spAutoFit/>
              </a:bodyPr>
              <a:lstStyle/>
              <a:p>
                <a:pPr marL="0" lvl="1"/>
                <a:r>
                  <a:rPr lang="en-US" sz="1400" i="1" dirty="0" smtClean="0"/>
                  <a:t>C = 1B * 4 (ways) = 4B</a:t>
                </a:r>
              </a:p>
              <a:p>
                <a:pPr marL="0" lvl="1"/>
                <a:r>
                  <a:rPr lang="en-US" sz="1400" i="1" dirty="0"/>
                  <a:t>B</a:t>
                </a:r>
                <a:r>
                  <a:rPr lang="en-US" sz="1400" dirty="0"/>
                  <a:t> = </a:t>
                </a:r>
                <a:r>
                  <a:rPr lang="en-US" sz="1400" i="1" dirty="0"/>
                  <a:t>C</a:t>
                </a:r>
                <a:r>
                  <a:rPr lang="en-US" sz="1400" dirty="0"/>
                  <a:t>/</a:t>
                </a:r>
                <a:r>
                  <a:rPr lang="en-US" sz="1400" i="1" dirty="0"/>
                  <a:t>b = </a:t>
                </a:r>
                <a:r>
                  <a:rPr lang="en-US" sz="1400" i="1" dirty="0" smtClean="0"/>
                  <a:t>4/1 </a:t>
                </a:r>
                <a:r>
                  <a:rPr lang="en-US" sz="1400" i="1" dirty="0"/>
                  <a:t>=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dirty="0" smtClean="0"/>
                  <a:t>0x06</a:t>
                </a:r>
              </a:p>
              <a:p>
                <a:pPr marL="342900" indent="-342900">
                  <a:buFont typeface="+mj-lt"/>
                  <a:buAutoNum type="arabicPeriod"/>
                </a:pPr>
                <a:r>
                  <a:rPr lang="en-US" dirty="0" smtClean="0"/>
                  <a:t>0xEF</a:t>
                </a: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2923877"/>
              </a:xfrm>
              <a:prstGeom prst="rect">
                <a:avLst/>
              </a:prstGeom>
              <a:blipFill>
                <a:blip r:embed="rId2"/>
                <a:stretch>
                  <a:fillRect l="-1431" t="-418"/>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0xEF</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1110 1111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a:t>
            </a:r>
            <a:r>
              <a:rPr lang="en-US" b="1" dirty="0">
                <a:solidFill>
                  <a:srgbClr val="FF0000"/>
                </a:solidFill>
              </a:rPr>
              <a:t>2</a:t>
            </a:r>
            <a:r>
              <a:rPr lang="en-US" b="1" dirty="0" smtClean="0">
                <a:solidFill>
                  <a:srgbClr val="FF0000"/>
                </a:solidFill>
              </a:rPr>
              <a:t>	Cache Hit = 0 </a:t>
            </a:r>
            <a:endParaRPr lang="en-US" b="1" dirty="0">
              <a:solidFill>
                <a:srgbClr val="FF0000"/>
              </a:solidFill>
            </a:endParaRPr>
          </a:p>
        </p:txBody>
      </p:sp>
      <p:graphicFrame>
        <p:nvGraphicFramePr>
          <p:cNvPr id="21" name="Table 20"/>
          <p:cNvGraphicFramePr>
            <a:graphicFrameLocks noGrp="1"/>
          </p:cNvGraphicFramePr>
          <p:nvPr>
            <p:extLst>
              <p:ext uri="{D42A27DB-BD31-4B8C-83A1-F6EECF244321}">
                <p14:modId xmlns:p14="http://schemas.microsoft.com/office/powerpoint/2010/main" val="1080101924"/>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 xmlns:a16="http://schemas.microsoft.com/office/drawing/2014/main" val="4284518099"/>
                    </a:ext>
                  </a:extLst>
                </a:gridCol>
                <a:gridCol w="636269">
                  <a:extLst>
                    <a:ext uri="{9D8B030D-6E8A-4147-A177-3AD203B41FA5}">
                      <a16:colId xmlns="" xmlns:a16="http://schemas.microsoft.com/office/drawing/2014/main" val="3030601287"/>
                    </a:ext>
                  </a:extLst>
                </a:gridCol>
                <a:gridCol w="886691">
                  <a:extLst>
                    <a:ext uri="{9D8B030D-6E8A-4147-A177-3AD203B41FA5}">
                      <a16:colId xmlns="" xmlns:a16="http://schemas.microsoft.com/office/drawing/2014/main" val="330335500"/>
                    </a:ext>
                  </a:extLst>
                </a:gridCol>
                <a:gridCol w="1413163">
                  <a:extLst>
                    <a:ext uri="{9D8B030D-6E8A-4147-A177-3AD203B41FA5}">
                      <a16:colId xmlns="" xmlns:a16="http://schemas.microsoft.com/office/drawing/2014/main" val="1200191126"/>
                    </a:ext>
                  </a:extLst>
                </a:gridCol>
                <a:gridCol w="2004290">
                  <a:extLst>
                    <a:ext uri="{9D8B030D-6E8A-4147-A177-3AD203B41FA5}">
                      <a16:colId xmlns="" xmlns:a16="http://schemas.microsoft.com/office/drawing/2014/main" val="1827225863"/>
                    </a:ext>
                  </a:extLst>
                </a:gridCol>
              </a:tblGrid>
              <a:tr h="640136">
                <a:tc>
                  <a:txBody>
                    <a:bodyPr/>
                    <a:lstStyle/>
                    <a:p>
                      <a:pPr algn="r"/>
                      <a:endParaRPr lang="en-US" b="1" dirty="0" smtClean="0"/>
                    </a:p>
                    <a:p>
                      <a:pPr algn="l"/>
                      <a:r>
                        <a:rPr lang="en-US" b="1" dirty="0" smtClean="0"/>
                        <a:t>Set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smtClean="0">
                          <a:solidFill>
                            <a:schemeClr val="tx1"/>
                          </a:solidFill>
                        </a:rPr>
                        <a:t>Data </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4">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0000 0110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600" dirty="0" smtClean="0">
                          <a:solidFill>
                            <a:schemeClr val="tx1"/>
                          </a:solidFill>
                        </a:rPr>
                        <a:t>06</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1110 1111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EF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vMerge="1">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bl>
          </a:graphicData>
        </a:graphic>
      </p:graphicFrame>
      <p:graphicFrame>
        <p:nvGraphicFramePr>
          <p:cNvPr id="16" name="Table 15"/>
          <p:cNvGraphicFramePr>
            <a:graphicFrameLocks noGrp="1"/>
          </p:cNvGraphicFramePr>
          <p:nvPr>
            <p:extLst/>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r>
                        <a:rPr lang="en-US" b="0" dirty="0" smtClean="0"/>
                        <a:t>…….</a:t>
                      </a:r>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Tree>
    <p:extLst>
      <p:ext uri="{BB962C8B-B14F-4D97-AF65-F5344CB8AC3E}">
        <p14:creationId xmlns:p14="http://schemas.microsoft.com/office/powerpoint/2010/main" val="37020198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a:xfrm>
            <a:off x="1069571" y="242318"/>
            <a:ext cx="10058400" cy="1450757"/>
          </a:xfrm>
        </p:spPr>
        <p:txBody>
          <a:bodyPr/>
          <a:lstStyle/>
          <a:p>
            <a:r>
              <a:rPr lang="en-US" dirty="0" smtClean="0"/>
              <a:t>Example 03</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a:t>
            </a:r>
            <a:r>
              <a:rPr lang="en-US" sz="1400" b="1" dirty="0" smtClean="0"/>
              <a:t>B</a:t>
            </a:r>
            <a:endParaRPr lang="en-US" sz="1400" b="1" dirty="0"/>
          </a:p>
          <a:p>
            <a:r>
              <a:rPr lang="en-US" sz="1400" b="1" dirty="0"/>
              <a:t>Full Associative Cache</a:t>
            </a:r>
          </a:p>
          <a:p>
            <a:r>
              <a:rPr lang="en-US" sz="1400" b="1" dirty="0"/>
              <a:t>Single set with </a:t>
            </a:r>
            <a:r>
              <a:rPr lang="en-US" sz="1400" b="1" dirty="0" smtClean="0"/>
              <a:t>4-ways</a:t>
            </a:r>
          </a:p>
          <a:p>
            <a:r>
              <a:rPr lang="en-US" sz="1400" b="1" dirty="0" smtClean="0"/>
              <a:t>Address is 8bits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200876"/>
              </a:xfrm>
              <a:prstGeom prst="rect">
                <a:avLst/>
              </a:prstGeom>
              <a:noFill/>
            </p:spPr>
            <p:txBody>
              <a:bodyPr wrap="square" rtlCol="0">
                <a:spAutoFit/>
              </a:bodyPr>
              <a:lstStyle/>
              <a:p>
                <a:pPr marL="0" lvl="1"/>
                <a:r>
                  <a:rPr lang="en-US" sz="1400" i="1" dirty="0" smtClean="0"/>
                  <a:t>C = 1B * 4 (ways) = 4B</a:t>
                </a:r>
              </a:p>
              <a:p>
                <a:pPr marL="0" lvl="1"/>
                <a:r>
                  <a:rPr lang="en-US" sz="1400" i="1" dirty="0"/>
                  <a:t>B</a:t>
                </a:r>
                <a:r>
                  <a:rPr lang="en-US" sz="1400" dirty="0"/>
                  <a:t> = </a:t>
                </a:r>
                <a:r>
                  <a:rPr lang="en-US" sz="1400" i="1" dirty="0"/>
                  <a:t>C</a:t>
                </a:r>
                <a:r>
                  <a:rPr lang="en-US" sz="1400" dirty="0"/>
                  <a:t>/</a:t>
                </a:r>
                <a:r>
                  <a:rPr lang="en-US" sz="1400" i="1" dirty="0"/>
                  <a:t>b = </a:t>
                </a:r>
                <a:r>
                  <a:rPr lang="en-US" sz="1400" i="1" dirty="0" smtClean="0"/>
                  <a:t>4/1 </a:t>
                </a:r>
                <a:r>
                  <a:rPr lang="en-US" sz="1400" i="1" dirty="0"/>
                  <a:t>=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dirty="0" smtClean="0"/>
                  <a:t>0x06</a:t>
                </a:r>
              </a:p>
              <a:p>
                <a:pPr marL="342900" indent="-342900">
                  <a:buFont typeface="+mj-lt"/>
                  <a:buAutoNum type="arabicPeriod"/>
                </a:pPr>
                <a:r>
                  <a:rPr lang="en-US" dirty="0" smtClean="0"/>
                  <a:t>0xEF</a:t>
                </a:r>
              </a:p>
              <a:p>
                <a:pPr marL="342900" indent="-342900">
                  <a:buFont typeface="+mj-lt"/>
                  <a:buAutoNum type="arabicPeriod"/>
                </a:pPr>
                <a:r>
                  <a:rPr lang="en-US" dirty="0" smtClean="0"/>
                  <a:t>0xB2</a:t>
                </a: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200876"/>
              </a:xfrm>
              <a:prstGeom prst="rect">
                <a:avLst/>
              </a:prstGeom>
              <a:blipFill>
                <a:blip r:embed="rId2"/>
                <a:stretch>
                  <a:fillRect l="-1431" t="-381"/>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0xB2</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1011 0010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3	Cache Hit = 0 </a:t>
            </a:r>
            <a:endParaRPr lang="en-US" b="1" dirty="0">
              <a:solidFill>
                <a:srgbClr val="FF0000"/>
              </a:solidFill>
            </a:endParaRPr>
          </a:p>
        </p:txBody>
      </p:sp>
      <p:graphicFrame>
        <p:nvGraphicFramePr>
          <p:cNvPr id="21" name="Table 20"/>
          <p:cNvGraphicFramePr>
            <a:graphicFrameLocks noGrp="1"/>
          </p:cNvGraphicFramePr>
          <p:nvPr>
            <p:extLst>
              <p:ext uri="{D42A27DB-BD31-4B8C-83A1-F6EECF244321}">
                <p14:modId xmlns:p14="http://schemas.microsoft.com/office/powerpoint/2010/main" val="1401812648"/>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 xmlns:a16="http://schemas.microsoft.com/office/drawing/2014/main" val="4284518099"/>
                    </a:ext>
                  </a:extLst>
                </a:gridCol>
                <a:gridCol w="636269">
                  <a:extLst>
                    <a:ext uri="{9D8B030D-6E8A-4147-A177-3AD203B41FA5}">
                      <a16:colId xmlns="" xmlns:a16="http://schemas.microsoft.com/office/drawing/2014/main" val="3030601287"/>
                    </a:ext>
                  </a:extLst>
                </a:gridCol>
                <a:gridCol w="886691">
                  <a:extLst>
                    <a:ext uri="{9D8B030D-6E8A-4147-A177-3AD203B41FA5}">
                      <a16:colId xmlns="" xmlns:a16="http://schemas.microsoft.com/office/drawing/2014/main" val="330335500"/>
                    </a:ext>
                  </a:extLst>
                </a:gridCol>
                <a:gridCol w="1413163">
                  <a:extLst>
                    <a:ext uri="{9D8B030D-6E8A-4147-A177-3AD203B41FA5}">
                      <a16:colId xmlns="" xmlns:a16="http://schemas.microsoft.com/office/drawing/2014/main" val="1200191126"/>
                    </a:ext>
                  </a:extLst>
                </a:gridCol>
                <a:gridCol w="2004290">
                  <a:extLst>
                    <a:ext uri="{9D8B030D-6E8A-4147-A177-3AD203B41FA5}">
                      <a16:colId xmlns="" xmlns:a16="http://schemas.microsoft.com/office/drawing/2014/main" val="1827225863"/>
                    </a:ext>
                  </a:extLst>
                </a:gridCol>
              </a:tblGrid>
              <a:tr h="640136">
                <a:tc>
                  <a:txBody>
                    <a:bodyPr/>
                    <a:lstStyle/>
                    <a:p>
                      <a:pPr algn="r"/>
                      <a:endParaRPr lang="en-US" b="1" dirty="0" smtClean="0"/>
                    </a:p>
                    <a:p>
                      <a:pPr algn="l"/>
                      <a:r>
                        <a:rPr lang="en-US" b="1" dirty="0" smtClean="0"/>
                        <a:t>Set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smtClean="0">
                          <a:solidFill>
                            <a:schemeClr val="tx1"/>
                          </a:solidFill>
                        </a:rPr>
                        <a:t>Data </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4">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0000 0110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600" dirty="0" smtClean="0">
                          <a:solidFill>
                            <a:schemeClr val="tx1"/>
                          </a:solidFill>
                        </a:rPr>
                        <a:t>06</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1110 1111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EF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vMerge="1">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1011</a:t>
                      </a:r>
                      <a:r>
                        <a:rPr lang="en-US" b="0" baseline="0" dirty="0" smtClean="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B2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bl>
          </a:graphicData>
        </a:graphic>
      </p:graphicFrame>
      <p:graphicFrame>
        <p:nvGraphicFramePr>
          <p:cNvPr id="16" name="Table 15"/>
          <p:cNvGraphicFramePr>
            <a:graphicFrameLocks noGrp="1"/>
          </p:cNvGraphicFramePr>
          <p:nvPr>
            <p:extLst/>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r>
                        <a:rPr lang="en-US" b="0" dirty="0" smtClean="0"/>
                        <a:t>…….</a:t>
                      </a:r>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spTree>
    <p:extLst>
      <p:ext uri="{BB962C8B-B14F-4D97-AF65-F5344CB8AC3E}">
        <p14:creationId xmlns:p14="http://schemas.microsoft.com/office/powerpoint/2010/main" val="30963883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a:xfrm>
            <a:off x="1069571" y="242318"/>
            <a:ext cx="10058400" cy="1450757"/>
          </a:xfrm>
        </p:spPr>
        <p:txBody>
          <a:bodyPr/>
          <a:lstStyle/>
          <a:p>
            <a:r>
              <a:rPr lang="en-US" dirty="0" smtClean="0"/>
              <a:t>Example 03</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a:t>
            </a:r>
            <a:r>
              <a:rPr lang="en-US" sz="1400" b="1" dirty="0" smtClean="0"/>
              <a:t>B</a:t>
            </a:r>
            <a:endParaRPr lang="en-US" sz="1400" b="1" dirty="0"/>
          </a:p>
          <a:p>
            <a:r>
              <a:rPr lang="en-US" sz="1400" b="1" dirty="0"/>
              <a:t>Full Associative Cache</a:t>
            </a:r>
          </a:p>
          <a:p>
            <a:r>
              <a:rPr lang="en-US" sz="1400" b="1" dirty="0"/>
              <a:t>Single set with </a:t>
            </a:r>
            <a:r>
              <a:rPr lang="en-US" sz="1400" b="1" dirty="0" smtClean="0"/>
              <a:t>4-ways</a:t>
            </a:r>
          </a:p>
          <a:p>
            <a:r>
              <a:rPr lang="en-US" sz="1400" b="1" dirty="0" smtClean="0"/>
              <a:t>Address is 8bits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3754874"/>
              </a:xfrm>
              <a:prstGeom prst="rect">
                <a:avLst/>
              </a:prstGeom>
              <a:noFill/>
            </p:spPr>
            <p:txBody>
              <a:bodyPr wrap="square" rtlCol="0">
                <a:spAutoFit/>
              </a:bodyPr>
              <a:lstStyle/>
              <a:p>
                <a:pPr marL="0" lvl="1"/>
                <a:r>
                  <a:rPr lang="en-US" sz="1400" i="1" dirty="0" smtClean="0"/>
                  <a:t>C = 1B * 4 (ways) = 4B</a:t>
                </a:r>
              </a:p>
              <a:p>
                <a:pPr marL="0" lvl="1"/>
                <a:r>
                  <a:rPr lang="en-US" sz="1400" i="1" dirty="0"/>
                  <a:t>B</a:t>
                </a:r>
                <a:r>
                  <a:rPr lang="en-US" sz="1400" dirty="0"/>
                  <a:t> = </a:t>
                </a:r>
                <a:r>
                  <a:rPr lang="en-US" sz="1400" i="1" dirty="0"/>
                  <a:t>C</a:t>
                </a:r>
                <a:r>
                  <a:rPr lang="en-US" sz="1400" dirty="0"/>
                  <a:t>/</a:t>
                </a:r>
                <a:r>
                  <a:rPr lang="en-US" sz="1400" i="1" dirty="0"/>
                  <a:t>b = </a:t>
                </a:r>
                <a:r>
                  <a:rPr lang="en-US" sz="1400" i="1" dirty="0" smtClean="0"/>
                  <a:t>4/1 </a:t>
                </a:r>
                <a:r>
                  <a:rPr lang="en-US" sz="1400" i="1" dirty="0"/>
                  <a:t>=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dirty="0" smtClean="0"/>
                  <a:t>0x06</a:t>
                </a:r>
              </a:p>
              <a:p>
                <a:pPr marL="342900" indent="-342900">
                  <a:buFont typeface="+mj-lt"/>
                  <a:buAutoNum type="arabicPeriod"/>
                </a:pPr>
                <a:r>
                  <a:rPr lang="en-US" dirty="0"/>
                  <a:t>0xEF</a:t>
                </a:r>
              </a:p>
              <a:p>
                <a:pPr marL="342900" indent="-342900">
                  <a:buFont typeface="+mj-lt"/>
                  <a:buAutoNum type="arabicPeriod"/>
                </a:pPr>
                <a:r>
                  <a:rPr lang="en-US" dirty="0"/>
                  <a:t>0xB2</a:t>
                </a:r>
              </a:p>
              <a:p>
                <a:pPr marL="342900" indent="-342900">
                  <a:buFont typeface="+mj-lt"/>
                  <a:buAutoNum type="arabicPeriod"/>
                </a:pPr>
                <a:r>
                  <a:rPr lang="en-US" dirty="0" smtClean="0"/>
                  <a:t>0x06</a:t>
                </a: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3754874"/>
              </a:xfrm>
              <a:prstGeom prst="rect">
                <a:avLst/>
              </a:prstGeom>
              <a:blipFill>
                <a:blip r:embed="rId2"/>
                <a:stretch>
                  <a:fillRect l="-1431" t="-325"/>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0x06</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0000 0110</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a:t>
            </a:r>
            <a:r>
              <a:rPr lang="en-US" b="1" dirty="0">
                <a:solidFill>
                  <a:srgbClr val="FF0000"/>
                </a:solidFill>
              </a:rPr>
              <a:t>3</a:t>
            </a:r>
            <a:r>
              <a:rPr lang="en-US" b="1" dirty="0" smtClean="0">
                <a:solidFill>
                  <a:srgbClr val="FF0000"/>
                </a:solidFill>
              </a:rPr>
              <a:t>	Cache Hit = 1 </a:t>
            </a:r>
            <a:endParaRPr lang="en-US" b="1" dirty="0">
              <a:solidFill>
                <a:srgbClr val="FF0000"/>
              </a:solidFill>
            </a:endParaRPr>
          </a:p>
        </p:txBody>
      </p:sp>
      <p:graphicFrame>
        <p:nvGraphicFramePr>
          <p:cNvPr id="16" name="Table 15"/>
          <p:cNvGraphicFramePr>
            <a:graphicFrameLocks noGrp="1"/>
          </p:cNvGraphicFramePr>
          <p:nvPr>
            <p:extLst/>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r>
                        <a:rPr lang="en-US" b="0" dirty="0" smtClean="0"/>
                        <a:t>…….</a:t>
                      </a:r>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515726241"/>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 xmlns:a16="http://schemas.microsoft.com/office/drawing/2014/main" val="4284518099"/>
                    </a:ext>
                  </a:extLst>
                </a:gridCol>
                <a:gridCol w="636269">
                  <a:extLst>
                    <a:ext uri="{9D8B030D-6E8A-4147-A177-3AD203B41FA5}">
                      <a16:colId xmlns="" xmlns:a16="http://schemas.microsoft.com/office/drawing/2014/main" val="3030601287"/>
                    </a:ext>
                  </a:extLst>
                </a:gridCol>
                <a:gridCol w="886691">
                  <a:extLst>
                    <a:ext uri="{9D8B030D-6E8A-4147-A177-3AD203B41FA5}">
                      <a16:colId xmlns="" xmlns:a16="http://schemas.microsoft.com/office/drawing/2014/main" val="330335500"/>
                    </a:ext>
                  </a:extLst>
                </a:gridCol>
                <a:gridCol w="1413163">
                  <a:extLst>
                    <a:ext uri="{9D8B030D-6E8A-4147-A177-3AD203B41FA5}">
                      <a16:colId xmlns="" xmlns:a16="http://schemas.microsoft.com/office/drawing/2014/main" val="1200191126"/>
                    </a:ext>
                  </a:extLst>
                </a:gridCol>
                <a:gridCol w="2004290">
                  <a:extLst>
                    <a:ext uri="{9D8B030D-6E8A-4147-A177-3AD203B41FA5}">
                      <a16:colId xmlns="" xmlns:a16="http://schemas.microsoft.com/office/drawing/2014/main" val="1827225863"/>
                    </a:ext>
                  </a:extLst>
                </a:gridCol>
              </a:tblGrid>
              <a:tr h="640136">
                <a:tc>
                  <a:txBody>
                    <a:bodyPr/>
                    <a:lstStyle/>
                    <a:p>
                      <a:pPr algn="r"/>
                      <a:endParaRPr lang="en-US" b="1" dirty="0" smtClean="0"/>
                    </a:p>
                    <a:p>
                      <a:pPr algn="l"/>
                      <a:r>
                        <a:rPr lang="en-US" b="1" dirty="0" smtClean="0"/>
                        <a:t>Set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smtClean="0">
                          <a:solidFill>
                            <a:schemeClr val="tx1"/>
                          </a:solidFill>
                        </a:rPr>
                        <a:t>Data </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4">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0000 0110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800" dirty="0" smtClean="0">
                          <a:solidFill>
                            <a:schemeClr val="tx1"/>
                          </a:solidFill>
                        </a:rPr>
                        <a:t>06</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1110 1111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EF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vMerge="1">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1011</a:t>
                      </a:r>
                      <a:r>
                        <a:rPr lang="en-US" b="0" baseline="0" dirty="0" smtClean="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B2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bl>
          </a:graphicData>
        </a:graphic>
      </p:graphicFrame>
      <p:sp>
        <p:nvSpPr>
          <p:cNvPr id="6" name="TextBox 5"/>
          <p:cNvSpPr txBox="1"/>
          <p:nvPr/>
        </p:nvSpPr>
        <p:spPr>
          <a:xfrm>
            <a:off x="64655" y="6429178"/>
            <a:ext cx="7259781" cy="369332"/>
          </a:xfrm>
          <a:prstGeom prst="rect">
            <a:avLst/>
          </a:prstGeom>
          <a:noFill/>
        </p:spPr>
        <p:txBody>
          <a:bodyPr wrap="square" rtlCol="0">
            <a:spAutoFit/>
          </a:bodyPr>
          <a:lstStyle/>
          <a:p>
            <a:r>
              <a:rPr lang="en-US" dirty="0" smtClean="0">
                <a:solidFill>
                  <a:schemeClr val="bg1"/>
                </a:solidFill>
              </a:rPr>
              <a:t>Respective tag found so it’s a cache hit</a:t>
            </a:r>
            <a:endParaRPr lang="en-US" dirty="0">
              <a:solidFill>
                <a:schemeClr val="bg1"/>
              </a:solidFill>
            </a:endParaRPr>
          </a:p>
        </p:txBody>
      </p:sp>
    </p:spTree>
    <p:extLst>
      <p:ext uri="{BB962C8B-B14F-4D97-AF65-F5344CB8AC3E}">
        <p14:creationId xmlns:p14="http://schemas.microsoft.com/office/powerpoint/2010/main" val="27835167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a:xfrm>
            <a:off x="1069571" y="242318"/>
            <a:ext cx="10058400" cy="1450757"/>
          </a:xfrm>
        </p:spPr>
        <p:txBody>
          <a:bodyPr/>
          <a:lstStyle/>
          <a:p>
            <a:r>
              <a:rPr lang="en-US" dirty="0" smtClean="0"/>
              <a:t>Example 03</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a:t>
            </a:r>
            <a:r>
              <a:rPr lang="en-US" sz="1400" b="1" dirty="0" smtClean="0"/>
              <a:t>B</a:t>
            </a:r>
            <a:endParaRPr lang="en-US" sz="1400" b="1" dirty="0"/>
          </a:p>
          <a:p>
            <a:r>
              <a:rPr lang="en-US" sz="1400" b="1" dirty="0"/>
              <a:t>Full Associative Cache</a:t>
            </a:r>
          </a:p>
          <a:p>
            <a:r>
              <a:rPr lang="en-US" sz="1400" b="1" dirty="0"/>
              <a:t>Single set with </a:t>
            </a:r>
            <a:r>
              <a:rPr lang="en-US" sz="1400" b="1" dirty="0" smtClean="0"/>
              <a:t>4-ways</a:t>
            </a:r>
          </a:p>
          <a:p>
            <a:r>
              <a:rPr lang="en-US" sz="1400" b="1" dirty="0" smtClean="0"/>
              <a:t>Address is 8bits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4031873"/>
              </a:xfrm>
              <a:prstGeom prst="rect">
                <a:avLst/>
              </a:prstGeom>
              <a:noFill/>
            </p:spPr>
            <p:txBody>
              <a:bodyPr wrap="square" rtlCol="0">
                <a:spAutoFit/>
              </a:bodyPr>
              <a:lstStyle/>
              <a:p>
                <a:pPr marL="0" lvl="1"/>
                <a:r>
                  <a:rPr lang="en-US" sz="1400" i="1" dirty="0" smtClean="0"/>
                  <a:t>C = 1B * 4 (ways) = 4B</a:t>
                </a:r>
              </a:p>
              <a:p>
                <a:pPr marL="0" lvl="1"/>
                <a:r>
                  <a:rPr lang="en-US" sz="1400" i="1" dirty="0"/>
                  <a:t>B</a:t>
                </a:r>
                <a:r>
                  <a:rPr lang="en-US" sz="1400" dirty="0"/>
                  <a:t> = </a:t>
                </a:r>
                <a:r>
                  <a:rPr lang="en-US" sz="1400" i="1" dirty="0"/>
                  <a:t>C</a:t>
                </a:r>
                <a:r>
                  <a:rPr lang="en-US" sz="1400" dirty="0"/>
                  <a:t>/</a:t>
                </a:r>
                <a:r>
                  <a:rPr lang="en-US" sz="1400" i="1" dirty="0"/>
                  <a:t>b = </a:t>
                </a:r>
                <a:r>
                  <a:rPr lang="en-US" sz="1400" i="1" dirty="0" smtClean="0"/>
                  <a:t>4/1 </a:t>
                </a:r>
                <a:r>
                  <a:rPr lang="en-US" sz="1400" i="1" dirty="0"/>
                  <a:t>=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dirty="0" smtClean="0"/>
                  <a:t>0x06</a:t>
                </a:r>
              </a:p>
              <a:p>
                <a:pPr marL="342900" indent="-342900">
                  <a:buFont typeface="+mj-lt"/>
                  <a:buAutoNum type="arabicPeriod"/>
                </a:pPr>
                <a:r>
                  <a:rPr lang="en-US" dirty="0"/>
                  <a:t>0xEF</a:t>
                </a:r>
              </a:p>
              <a:p>
                <a:pPr marL="342900" indent="-342900">
                  <a:buFont typeface="+mj-lt"/>
                  <a:buAutoNum type="arabicPeriod"/>
                </a:pPr>
                <a:r>
                  <a:rPr lang="en-US" dirty="0" smtClean="0"/>
                  <a:t>0xB2</a:t>
                </a:r>
              </a:p>
              <a:p>
                <a:pPr marL="342900" indent="-342900">
                  <a:buFont typeface="+mj-lt"/>
                  <a:buAutoNum type="arabicPeriod"/>
                </a:pPr>
                <a:r>
                  <a:rPr lang="en-US" dirty="0" smtClean="0"/>
                  <a:t>0x06</a:t>
                </a:r>
                <a:endParaRPr lang="en-US" dirty="0"/>
              </a:p>
              <a:p>
                <a:pPr marL="342900" indent="-342900">
                  <a:buFont typeface="+mj-lt"/>
                  <a:buAutoNum type="arabicPeriod"/>
                </a:pPr>
                <a:r>
                  <a:rPr lang="en-US" dirty="0" smtClean="0"/>
                  <a:t>0x59</a:t>
                </a: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4031873"/>
              </a:xfrm>
              <a:prstGeom prst="rect">
                <a:avLst/>
              </a:prstGeom>
              <a:blipFill>
                <a:blip r:embed="rId2"/>
                <a:stretch>
                  <a:fillRect l="-1431" t="-303"/>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0x59</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0101 1001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4	Cache Hit = 1 </a:t>
            </a:r>
            <a:endParaRPr lang="en-US" b="1" dirty="0">
              <a:solidFill>
                <a:srgbClr val="FF0000"/>
              </a:solidFill>
            </a:endParaRPr>
          </a:p>
        </p:txBody>
      </p:sp>
      <p:graphicFrame>
        <p:nvGraphicFramePr>
          <p:cNvPr id="16" name="Table 15"/>
          <p:cNvGraphicFramePr>
            <a:graphicFrameLocks noGrp="1"/>
          </p:cNvGraphicFramePr>
          <p:nvPr>
            <p:extLst/>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r>
                        <a:rPr lang="en-US" b="0" dirty="0" smtClean="0"/>
                        <a:t>…….</a:t>
                      </a:r>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333714454"/>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 xmlns:a16="http://schemas.microsoft.com/office/drawing/2014/main" val="4284518099"/>
                    </a:ext>
                  </a:extLst>
                </a:gridCol>
                <a:gridCol w="636269">
                  <a:extLst>
                    <a:ext uri="{9D8B030D-6E8A-4147-A177-3AD203B41FA5}">
                      <a16:colId xmlns="" xmlns:a16="http://schemas.microsoft.com/office/drawing/2014/main" val="3030601287"/>
                    </a:ext>
                  </a:extLst>
                </a:gridCol>
                <a:gridCol w="886691">
                  <a:extLst>
                    <a:ext uri="{9D8B030D-6E8A-4147-A177-3AD203B41FA5}">
                      <a16:colId xmlns="" xmlns:a16="http://schemas.microsoft.com/office/drawing/2014/main" val="330335500"/>
                    </a:ext>
                  </a:extLst>
                </a:gridCol>
                <a:gridCol w="1413163">
                  <a:extLst>
                    <a:ext uri="{9D8B030D-6E8A-4147-A177-3AD203B41FA5}">
                      <a16:colId xmlns="" xmlns:a16="http://schemas.microsoft.com/office/drawing/2014/main" val="1200191126"/>
                    </a:ext>
                  </a:extLst>
                </a:gridCol>
                <a:gridCol w="2004290">
                  <a:extLst>
                    <a:ext uri="{9D8B030D-6E8A-4147-A177-3AD203B41FA5}">
                      <a16:colId xmlns="" xmlns:a16="http://schemas.microsoft.com/office/drawing/2014/main" val="1827225863"/>
                    </a:ext>
                  </a:extLst>
                </a:gridCol>
              </a:tblGrid>
              <a:tr h="640136">
                <a:tc>
                  <a:txBody>
                    <a:bodyPr/>
                    <a:lstStyle/>
                    <a:p>
                      <a:pPr algn="r"/>
                      <a:endParaRPr lang="en-US" b="1" dirty="0" smtClean="0"/>
                    </a:p>
                    <a:p>
                      <a:pPr algn="l"/>
                      <a:r>
                        <a:rPr lang="en-US" b="1" dirty="0" smtClean="0"/>
                        <a:t>Set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smtClean="0">
                          <a:solidFill>
                            <a:schemeClr val="tx1"/>
                          </a:solidFill>
                        </a:rPr>
                        <a:t>Data </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4">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0000 0110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800" dirty="0" smtClean="0">
                          <a:solidFill>
                            <a:schemeClr val="tx1"/>
                          </a:solidFill>
                        </a:rPr>
                        <a:t>06</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1110 1111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EF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vMerge="1">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1011</a:t>
                      </a:r>
                      <a:r>
                        <a:rPr lang="en-US" b="0" baseline="0" dirty="0" smtClean="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B2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0101</a:t>
                      </a:r>
                      <a:r>
                        <a:rPr lang="en-US" b="0" baseline="0" dirty="0" smtClean="0"/>
                        <a:t> 1001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59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bl>
          </a:graphicData>
        </a:graphic>
      </p:graphicFrame>
    </p:spTree>
    <p:extLst>
      <p:ext uri="{BB962C8B-B14F-4D97-AF65-F5344CB8AC3E}">
        <p14:creationId xmlns:p14="http://schemas.microsoft.com/office/powerpoint/2010/main" val="5154411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3"/>
          <p:cNvSpPr txBox="1"/>
          <p:nvPr/>
        </p:nvSpPr>
        <p:spPr>
          <a:xfrm>
            <a:off x="8622030" y="226452"/>
            <a:ext cx="988695" cy="523220"/>
          </a:xfrm>
          <a:prstGeom prst="rect">
            <a:avLst/>
          </a:prstGeom>
          <a:solidFill>
            <a:schemeClr val="bg1"/>
          </a:solidFill>
        </p:spPr>
        <p:txBody>
          <a:bodyPr wrap="square" rtlCol="0">
            <a:spAutoFit/>
          </a:bodyPr>
          <a:lstStyle/>
          <a:p>
            <a:pPr algn="ctr"/>
            <a:r>
              <a:rPr lang="en-US" sz="1400" dirty="0" smtClean="0">
                <a:solidFill>
                  <a:srgbClr val="0070C0"/>
                </a:solidFill>
              </a:rPr>
              <a:t>Convert to </a:t>
            </a:r>
          </a:p>
          <a:p>
            <a:pPr algn="ctr"/>
            <a:r>
              <a:rPr lang="en-US" sz="1400" dirty="0" smtClean="0">
                <a:solidFill>
                  <a:srgbClr val="0070C0"/>
                </a:solidFill>
              </a:rPr>
              <a:t>binary</a:t>
            </a:r>
            <a:endParaRPr lang="en-US" sz="1400" dirty="0">
              <a:solidFill>
                <a:srgbClr val="0070C0"/>
              </a:solidFill>
            </a:endParaRPr>
          </a:p>
        </p:txBody>
      </p:sp>
      <p:sp>
        <p:nvSpPr>
          <p:cNvPr id="2" name="Title 1"/>
          <p:cNvSpPr>
            <a:spLocks noGrp="1"/>
          </p:cNvSpPr>
          <p:nvPr>
            <p:ph type="title"/>
          </p:nvPr>
        </p:nvSpPr>
        <p:spPr>
          <a:xfrm>
            <a:off x="1069571" y="242318"/>
            <a:ext cx="10058400" cy="1450757"/>
          </a:xfrm>
        </p:spPr>
        <p:txBody>
          <a:bodyPr/>
          <a:lstStyle/>
          <a:p>
            <a:r>
              <a:rPr lang="en-US" dirty="0" smtClean="0"/>
              <a:t>Example 03</a:t>
            </a:r>
            <a:endParaRPr lang="en-US" dirty="0"/>
          </a:p>
        </p:txBody>
      </p:sp>
      <p:sp>
        <p:nvSpPr>
          <p:cNvPr id="3" name="TextBox 2"/>
          <p:cNvSpPr txBox="1"/>
          <p:nvPr/>
        </p:nvSpPr>
        <p:spPr>
          <a:xfrm>
            <a:off x="229754" y="1807906"/>
            <a:ext cx="2581275" cy="954107"/>
          </a:xfrm>
          <a:prstGeom prst="rect">
            <a:avLst/>
          </a:prstGeom>
          <a:noFill/>
        </p:spPr>
        <p:txBody>
          <a:bodyPr wrap="square" rtlCol="0">
            <a:spAutoFit/>
          </a:bodyPr>
          <a:lstStyle/>
          <a:p>
            <a:r>
              <a:rPr lang="en-US" sz="1400" b="1" dirty="0"/>
              <a:t>b = 1</a:t>
            </a:r>
            <a:r>
              <a:rPr lang="en-US" sz="1400" b="1" dirty="0" smtClean="0"/>
              <a:t>B</a:t>
            </a:r>
            <a:endParaRPr lang="en-US" sz="1400" b="1" dirty="0"/>
          </a:p>
          <a:p>
            <a:r>
              <a:rPr lang="en-US" sz="1400" b="1" dirty="0"/>
              <a:t>Full Associative Cache</a:t>
            </a:r>
          </a:p>
          <a:p>
            <a:r>
              <a:rPr lang="en-US" sz="1400" b="1" dirty="0"/>
              <a:t>Single set with </a:t>
            </a:r>
            <a:r>
              <a:rPr lang="en-US" sz="1400" b="1" dirty="0" smtClean="0"/>
              <a:t>4-ways</a:t>
            </a:r>
          </a:p>
          <a:p>
            <a:r>
              <a:rPr lang="en-US" sz="1400" b="1" dirty="0" smtClean="0"/>
              <a:t>Address is 8bits</a:t>
            </a:r>
            <a:endParaRPr lang="en-US" sz="1400" b="1" dirty="0"/>
          </a:p>
        </p:txBody>
      </p:sp>
      <mc:AlternateContent xmlns:mc="http://schemas.openxmlformats.org/markup-compatibility/2006" xmlns:a14="http://schemas.microsoft.com/office/drawing/2010/main">
        <mc:Choice Requires="a14">
          <p:sp>
            <p:nvSpPr>
              <p:cNvPr id="4" name="TextBox 3"/>
              <p:cNvSpPr txBox="1"/>
              <p:nvPr/>
            </p:nvSpPr>
            <p:spPr>
              <a:xfrm>
                <a:off x="229754" y="2832559"/>
                <a:ext cx="3837421" cy="4308872"/>
              </a:xfrm>
              <a:prstGeom prst="rect">
                <a:avLst/>
              </a:prstGeom>
              <a:noFill/>
            </p:spPr>
            <p:txBody>
              <a:bodyPr wrap="square" rtlCol="0">
                <a:spAutoFit/>
              </a:bodyPr>
              <a:lstStyle/>
              <a:p>
                <a:pPr marL="0" lvl="1"/>
                <a:r>
                  <a:rPr lang="en-US" sz="1400" i="1" dirty="0" smtClean="0"/>
                  <a:t>C = 1B * 4 (ways) = 4B</a:t>
                </a:r>
              </a:p>
              <a:p>
                <a:pPr marL="0" lvl="1"/>
                <a:r>
                  <a:rPr lang="en-US" sz="1400" i="1" dirty="0"/>
                  <a:t>B</a:t>
                </a:r>
                <a:r>
                  <a:rPr lang="en-US" sz="1400" dirty="0"/>
                  <a:t> = </a:t>
                </a:r>
                <a:r>
                  <a:rPr lang="en-US" sz="1400" i="1" dirty="0"/>
                  <a:t>C</a:t>
                </a:r>
                <a:r>
                  <a:rPr lang="en-US" sz="1400" dirty="0"/>
                  <a:t>/</a:t>
                </a:r>
                <a:r>
                  <a:rPr lang="en-US" sz="1400" i="1" dirty="0"/>
                  <a:t>b = </a:t>
                </a:r>
                <a:r>
                  <a:rPr lang="en-US" sz="1400" i="1" dirty="0" smtClean="0"/>
                  <a:t>4/1 </a:t>
                </a:r>
                <a:r>
                  <a:rPr lang="en-US" sz="1400" i="1" dirty="0"/>
                  <a:t>= 4</a:t>
                </a:r>
              </a:p>
              <a:p>
                <a:r>
                  <a:rPr lang="en-US" sz="1400" dirty="0"/>
                  <a:t>S = B/N = 4/4 = 1</a:t>
                </a: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𝑶𝒇𝒇𝒔𝒆𝒕</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𝒃</m:t>
                          </m:r>
                          <m:r>
                            <a:rPr lang="en-US" sz="1400" b="1" i="1">
                              <a:latin typeface="Cambria Math" panose="02040503050406030204" pitchFamily="18" charset="0"/>
                            </a:rPr>
                            <m:t>= </m:t>
                          </m:r>
                          <m:func>
                            <m:funcPr>
                              <m:ctrlPr>
                                <a:rPr lang="en-US" sz="1400" b="1" i="1" smtClean="0">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smtClean="0">
                                  <a:latin typeface="Cambria Math" panose="02040503050406030204" pitchFamily="18" charset="0"/>
                                </a:rPr>
                                <m:t>𝟏</m:t>
                              </m:r>
                            </m:e>
                          </m:func>
                        </m:e>
                      </m:func>
                      <m:r>
                        <a:rPr lang="en-US" sz="1400" b="1" i="1">
                          <a:latin typeface="Cambria Math" panose="02040503050406030204" pitchFamily="18" charset="0"/>
                        </a:rPr>
                        <m:t>=</m:t>
                      </m:r>
                      <m:r>
                        <a:rPr lang="en-US" sz="1400" b="1" i="1" smtClean="0">
                          <a:latin typeface="Cambria Math" panose="02040503050406030204" pitchFamily="18" charset="0"/>
                        </a:rPr>
                        <m:t>𝟎</m:t>
                      </m:r>
                    </m:oMath>
                  </m:oMathPara>
                </a14:m>
                <a:endParaRPr lang="en-US" sz="1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400" b="1" i="1">
                          <a:latin typeface="Cambria Math" panose="02040503050406030204" pitchFamily="18" charset="0"/>
                        </a:rPr>
                        <m:t>𝑺𝒆𝒕</m:t>
                      </m:r>
                      <m:r>
                        <a:rPr lang="en-US" sz="1400" b="1" i="1">
                          <a:latin typeface="Cambria Math" panose="02040503050406030204" pitchFamily="18" charset="0"/>
                        </a:rPr>
                        <m:t>/</m:t>
                      </m:r>
                      <m:r>
                        <a:rPr lang="en-US" sz="1400" b="1" i="1">
                          <a:latin typeface="Cambria Math" panose="02040503050406030204" pitchFamily="18" charset="0"/>
                        </a:rPr>
                        <m:t>𝒊𝒏𝒅𝒆𝒙</m:t>
                      </m:r>
                      <m:r>
                        <a:rPr lang="en-US" sz="1400" b="1" i="1">
                          <a:latin typeface="Cambria Math" panose="02040503050406030204" pitchFamily="18" charset="0"/>
                        </a:rPr>
                        <m:t> </m:t>
                      </m:r>
                      <m:r>
                        <a:rPr lang="en-US" sz="1400" b="1" i="1">
                          <a:latin typeface="Cambria Math" panose="02040503050406030204" pitchFamily="18" charset="0"/>
                        </a:rPr>
                        <m:t>𝒃𝒊𝒕𝒔</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2</m:t>
                              </m:r>
                            </m:sub>
                          </m:sSub>
                        </m:fName>
                        <m:e>
                          <m:r>
                            <a:rPr lang="en-US" sz="1400" b="1" i="1">
                              <a:latin typeface="Cambria Math" panose="02040503050406030204" pitchFamily="18" charset="0"/>
                            </a:rPr>
                            <m:t>𝑺</m:t>
                          </m:r>
                          <m:r>
                            <a:rPr lang="en-US" sz="1400" b="1" i="1">
                              <a:latin typeface="Cambria Math" panose="02040503050406030204" pitchFamily="18" charset="0"/>
                            </a:rPr>
                            <m:t>= </m:t>
                          </m:r>
                          <m:func>
                            <m:funcPr>
                              <m:ctrlPr>
                                <a:rPr lang="en-US" sz="1400" b="1" i="1">
                                  <a:latin typeface="Cambria Math"/>
                                </a:rPr>
                              </m:ctrlPr>
                            </m:funcPr>
                            <m:fName>
                              <m:sSub>
                                <m:sSubPr>
                                  <m:ctrlPr>
                                    <a:rPr lang="en-US" sz="1400" b="1" i="1">
                                      <a:latin typeface="Cambria Math"/>
                                    </a:rPr>
                                  </m:ctrlPr>
                                </m:sSubPr>
                                <m:e>
                                  <m:r>
                                    <m:rPr>
                                      <m:sty m:val="p"/>
                                    </m:rPr>
                                    <a:rPr lang="en-US" sz="1400">
                                      <a:latin typeface="Cambria Math" panose="02040503050406030204" pitchFamily="18" charset="0"/>
                                    </a:rPr>
                                    <m:t>log</m:t>
                                  </m:r>
                                </m:e>
                                <m:sub>
                                  <m:r>
                                    <a:rPr lang="en-US" sz="1400" b="1" i="1">
                                      <a:latin typeface="Cambria Math" panose="02040503050406030204" pitchFamily="18" charset="0"/>
                                    </a:rPr>
                                    <m:t>𝟐</m:t>
                                  </m:r>
                                </m:sub>
                              </m:sSub>
                            </m:fName>
                            <m:e>
                              <m:r>
                                <a:rPr lang="en-US" sz="1400" b="1" i="1">
                                  <a:latin typeface="Cambria Math" panose="02040503050406030204" pitchFamily="18" charset="0"/>
                                </a:rPr>
                                <m:t>𝟏</m:t>
                              </m:r>
                            </m:e>
                          </m:func>
                        </m:e>
                      </m:func>
                      <m:r>
                        <a:rPr lang="en-US" sz="1400" b="1" i="1">
                          <a:latin typeface="Cambria Math" panose="02040503050406030204" pitchFamily="18" charset="0"/>
                        </a:rPr>
                        <m:t>=</m:t>
                      </m:r>
                      <m:r>
                        <a:rPr lang="en-US" sz="1400" b="1" i="1">
                          <a:latin typeface="Cambria Math" panose="02040503050406030204" pitchFamily="18" charset="0"/>
                        </a:rPr>
                        <m:t>𝟎</m:t>
                      </m:r>
                    </m:oMath>
                  </m:oMathPara>
                </a14:m>
                <a:endParaRPr lang="en-US" sz="14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𝑻𝒂𝒈</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m:t>
                      </m:r>
                      <m:r>
                        <a:rPr lang="en-US" sz="1000" b="1" i="1">
                          <a:latin typeface="Cambria Math" panose="02040503050406030204" pitchFamily="18" charset="0"/>
                        </a:rPr>
                        <m:t>𝑨𝒅𝒅𝒓𝒆𝒔𝒔</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𝑶𝒇𝒇𝒔𝒆𝒕</m:t>
                      </m:r>
                      <m:r>
                        <a:rPr lang="en-US" sz="1000" b="1" i="1">
                          <a:latin typeface="Cambria Math" panose="02040503050406030204" pitchFamily="18" charset="0"/>
                        </a:rPr>
                        <m:t> </m:t>
                      </m:r>
                      <m:r>
                        <a:rPr lang="en-US" sz="1000" b="1" i="1">
                          <a:latin typeface="Cambria Math" panose="02040503050406030204" pitchFamily="18" charset="0"/>
                        </a:rPr>
                        <m:t>𝒃𝒊𝒕𝒔</m:t>
                      </m:r>
                      <m:r>
                        <a:rPr lang="en-US" sz="1000" b="1" i="1">
                          <a:latin typeface="Cambria Math" panose="02040503050406030204" pitchFamily="18" charset="0"/>
                        </a:rPr>
                        <m:t> −</m:t>
                      </m:r>
                      <m:r>
                        <a:rPr lang="en-US" sz="1000" b="1" i="1">
                          <a:latin typeface="Cambria Math" panose="02040503050406030204" pitchFamily="18" charset="0"/>
                        </a:rPr>
                        <m:t>𝒔𝒆𝒕</m:t>
                      </m:r>
                      <m:r>
                        <a:rPr lang="en-US" sz="1000" b="1" i="1">
                          <a:latin typeface="Cambria Math" panose="02040503050406030204" pitchFamily="18" charset="0"/>
                        </a:rPr>
                        <m:t> </m:t>
                      </m:r>
                      <m:r>
                        <a:rPr lang="en-US" sz="1000" b="1" i="1">
                          <a:latin typeface="Cambria Math" panose="02040503050406030204" pitchFamily="18" charset="0"/>
                        </a:rPr>
                        <m:t>𝒃𝒊𝒕𝒔</m:t>
                      </m:r>
                    </m:oMath>
                  </m:oMathPara>
                </a14:m>
                <a:endParaRPr lang="en-US" sz="1000" b="1"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m:t>
                      </m:r>
                      <m:r>
                        <a:rPr lang="en-US" sz="1000" b="1" i="1">
                          <a:latin typeface="Cambria Math" panose="02040503050406030204" pitchFamily="18" charset="0"/>
                        </a:rPr>
                        <m:t>𝟖</m:t>
                      </m:r>
                      <m:r>
                        <a:rPr lang="en-US" sz="1000" b="1" i="1">
                          <a:latin typeface="Cambria Math" panose="02040503050406030204" pitchFamily="18" charset="0"/>
                        </a:rPr>
                        <m:t> −</m:t>
                      </m:r>
                      <m:r>
                        <a:rPr lang="en-US" sz="1000" b="1" i="1" smtClean="0">
                          <a:latin typeface="Cambria Math" panose="02040503050406030204" pitchFamily="18" charset="0"/>
                        </a:rPr>
                        <m:t>𝟎</m:t>
                      </m:r>
                      <m:r>
                        <a:rPr lang="en-US" sz="1000" b="1" i="1" smtClean="0">
                          <a:latin typeface="Cambria Math" panose="02040503050406030204" pitchFamily="18" charset="0"/>
                        </a:rPr>
                        <m:t> −</m:t>
                      </m:r>
                      <m:r>
                        <a:rPr lang="en-US" sz="1000" b="1" i="1" smtClean="0">
                          <a:latin typeface="Cambria Math" panose="02040503050406030204" pitchFamily="18" charset="0"/>
                        </a:rPr>
                        <m:t>𝟎</m:t>
                      </m:r>
                      <m:r>
                        <a:rPr lang="en-US" sz="1000" b="1" i="1">
                          <a:latin typeface="Cambria Math" panose="02040503050406030204" pitchFamily="18" charset="0"/>
                        </a:rPr>
                        <m:t>=</m:t>
                      </m:r>
                      <m:r>
                        <a:rPr lang="en-US" sz="1000" b="1" i="1" smtClean="0">
                          <a:latin typeface="Cambria Math" panose="02040503050406030204" pitchFamily="18" charset="0"/>
                        </a:rPr>
                        <m:t>𝟖</m:t>
                      </m:r>
                    </m:oMath>
                  </m:oMathPara>
                </a14:m>
                <a:endParaRPr lang="en-US" sz="1000" b="1" i="1" dirty="0">
                  <a:latin typeface="Cambria Math" panose="02040503050406030204" pitchFamily="18" charset="0"/>
                </a:endParaRPr>
              </a:p>
              <a:p>
                <a:endParaRPr lang="en-US" sz="1400" b="1" i="1" dirty="0">
                  <a:latin typeface="Cambria Math" panose="02040503050406030204" pitchFamily="18" charset="0"/>
                </a:endParaRPr>
              </a:p>
              <a:p>
                <a:endParaRPr lang="en-US" sz="1200" b="1" i="1" dirty="0">
                  <a:latin typeface="Cambria Math" panose="02040503050406030204" pitchFamily="18" charset="0"/>
                </a:endParaRPr>
              </a:p>
              <a:p>
                <a:r>
                  <a:rPr lang="en-US" sz="1400" b="1" u="sng" dirty="0" smtClean="0"/>
                  <a:t>Processor Memory Access Sequence</a:t>
                </a:r>
              </a:p>
              <a:p>
                <a:pPr marL="342900" indent="-342900">
                  <a:buFont typeface="+mj-lt"/>
                  <a:buAutoNum type="arabicPeriod"/>
                </a:pPr>
                <a:r>
                  <a:rPr lang="en-US" dirty="0" smtClean="0"/>
                  <a:t>0x06</a:t>
                </a:r>
              </a:p>
              <a:p>
                <a:pPr marL="342900" indent="-342900">
                  <a:buFont typeface="+mj-lt"/>
                  <a:buAutoNum type="arabicPeriod"/>
                </a:pPr>
                <a:r>
                  <a:rPr lang="en-US" dirty="0"/>
                  <a:t>0xEF</a:t>
                </a:r>
              </a:p>
              <a:p>
                <a:pPr marL="342900" indent="-342900">
                  <a:buFont typeface="+mj-lt"/>
                  <a:buAutoNum type="arabicPeriod"/>
                </a:pPr>
                <a:r>
                  <a:rPr lang="en-US" dirty="0" smtClean="0"/>
                  <a:t>0xB2</a:t>
                </a:r>
              </a:p>
              <a:p>
                <a:pPr marL="342900" indent="-342900">
                  <a:buFont typeface="+mj-lt"/>
                  <a:buAutoNum type="arabicPeriod"/>
                </a:pPr>
                <a:r>
                  <a:rPr lang="en-US" dirty="0" smtClean="0"/>
                  <a:t>0x06</a:t>
                </a:r>
                <a:endParaRPr lang="en-US" dirty="0"/>
              </a:p>
              <a:p>
                <a:pPr marL="342900" indent="-342900">
                  <a:buFont typeface="+mj-lt"/>
                  <a:buAutoNum type="arabicPeriod"/>
                </a:pPr>
                <a:r>
                  <a:rPr lang="en-US" dirty="0" smtClean="0"/>
                  <a:t>0x59</a:t>
                </a:r>
              </a:p>
              <a:p>
                <a:pPr marL="342900" indent="-342900">
                  <a:buFont typeface="+mj-lt"/>
                  <a:buAutoNum type="arabicPeriod"/>
                </a:pPr>
                <a:r>
                  <a:rPr lang="en-US" dirty="0" smtClean="0"/>
                  <a:t>0x23</a:t>
                </a:r>
              </a:p>
              <a:p>
                <a:endParaRPr lang="en-US" dirty="0" smtClean="0"/>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29754" y="2832559"/>
                <a:ext cx="3837421" cy="4308872"/>
              </a:xfrm>
              <a:prstGeom prst="rect">
                <a:avLst/>
              </a:prstGeom>
              <a:blipFill>
                <a:blip r:embed="rId2"/>
                <a:stretch>
                  <a:fillRect l="-1431" t="-283"/>
                </a:stretch>
              </a:blipFill>
            </p:spPr>
            <p:txBody>
              <a:bodyPr/>
              <a:lstStyle/>
              <a:p>
                <a:r>
                  <a:rPr lang="en-US">
                    <a:noFill/>
                  </a:rPr>
                  <a:t> </a:t>
                </a:r>
              </a:p>
            </p:txBody>
          </p:sp>
        </mc:Fallback>
      </mc:AlternateContent>
      <p:sp>
        <p:nvSpPr>
          <p:cNvPr id="9" name="TextBox 8"/>
          <p:cNvSpPr txBox="1"/>
          <p:nvPr/>
        </p:nvSpPr>
        <p:spPr>
          <a:xfrm>
            <a:off x="10085964" y="6090759"/>
            <a:ext cx="1277678" cy="400110"/>
          </a:xfrm>
          <a:prstGeom prst="rect">
            <a:avLst/>
          </a:prstGeom>
          <a:noFill/>
        </p:spPr>
        <p:txBody>
          <a:bodyPr wrap="square" rtlCol="0">
            <a:spAutoFit/>
          </a:bodyPr>
          <a:lstStyle/>
          <a:p>
            <a:r>
              <a:rPr lang="en-US" sz="2000" b="1" dirty="0" smtClean="0"/>
              <a:t>Memory</a:t>
            </a:r>
            <a:endParaRPr lang="en-US" sz="2000" b="1" dirty="0"/>
          </a:p>
        </p:txBody>
      </p:sp>
      <p:sp>
        <p:nvSpPr>
          <p:cNvPr id="10" name="TextBox 9"/>
          <p:cNvSpPr txBox="1"/>
          <p:nvPr/>
        </p:nvSpPr>
        <p:spPr>
          <a:xfrm>
            <a:off x="5891254" y="4788258"/>
            <a:ext cx="1277678" cy="400110"/>
          </a:xfrm>
          <a:prstGeom prst="rect">
            <a:avLst/>
          </a:prstGeom>
          <a:noFill/>
        </p:spPr>
        <p:txBody>
          <a:bodyPr wrap="square" rtlCol="0">
            <a:spAutoFit/>
          </a:bodyPr>
          <a:lstStyle/>
          <a:p>
            <a:r>
              <a:rPr lang="en-US" sz="2000" b="1" dirty="0" smtClean="0"/>
              <a:t>Cache</a:t>
            </a:r>
            <a:endParaRPr lang="en-US" sz="2000" b="1" dirty="0"/>
          </a:p>
        </p:txBody>
      </p:sp>
      <p:sp>
        <p:nvSpPr>
          <p:cNvPr id="5" name="Rectangle 4"/>
          <p:cNvSpPr/>
          <p:nvPr/>
        </p:nvSpPr>
        <p:spPr>
          <a:xfrm>
            <a:off x="7588225" y="288007"/>
            <a:ext cx="1089050" cy="400110"/>
          </a:xfrm>
          <a:prstGeom prst="rect">
            <a:avLst/>
          </a:prstGeom>
        </p:spPr>
        <p:txBody>
          <a:bodyPr wrap="square">
            <a:spAutoFit/>
          </a:bodyPr>
          <a:lstStyle/>
          <a:p>
            <a:r>
              <a:rPr lang="en-US" sz="2000" b="1" dirty="0" smtClean="0">
                <a:solidFill>
                  <a:srgbClr val="FF0000"/>
                </a:solidFill>
                <a:latin typeface="Cambria Math" panose="02040503050406030204" pitchFamily="18" charset="0"/>
              </a:rPr>
              <a:t>0x59</a:t>
            </a:r>
            <a:endParaRPr lang="en-US" sz="2000" dirty="0">
              <a:solidFill>
                <a:srgbClr val="FF0000"/>
              </a:solidFill>
            </a:endParaRPr>
          </a:p>
        </p:txBody>
      </p:sp>
      <p:cxnSp>
        <p:nvCxnSpPr>
          <p:cNvPr id="12" name="Straight Arrow Connector 11"/>
          <p:cNvCxnSpPr/>
          <p:nvPr/>
        </p:nvCxnSpPr>
        <p:spPr>
          <a:xfrm>
            <a:off x="8622030" y="478537"/>
            <a:ext cx="1064895" cy="8642"/>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60255" y="288007"/>
            <a:ext cx="1969770" cy="400110"/>
          </a:xfrm>
          <a:prstGeom prst="rect">
            <a:avLst/>
          </a:prstGeom>
        </p:spPr>
        <p:txBody>
          <a:bodyPr wrap="square">
            <a:spAutoFit/>
          </a:bodyPr>
          <a:lstStyle/>
          <a:p>
            <a:r>
              <a:rPr lang="en-US" sz="2000" b="1" dirty="0" smtClean="0">
                <a:solidFill>
                  <a:schemeClr val="accent6">
                    <a:lumMod val="60000"/>
                    <a:lumOff val="40000"/>
                  </a:schemeClr>
                </a:solidFill>
                <a:latin typeface="Cambria Math" panose="02040503050406030204" pitchFamily="18" charset="0"/>
              </a:rPr>
              <a:t>0010 0011</a:t>
            </a:r>
            <a:endParaRPr lang="en-US" sz="2000" dirty="0">
              <a:solidFill>
                <a:srgbClr val="FFC000"/>
              </a:solidFill>
            </a:endParaRPr>
          </a:p>
        </p:txBody>
      </p:sp>
      <p:sp>
        <p:nvSpPr>
          <p:cNvPr id="18" name="TextBox 17"/>
          <p:cNvSpPr txBox="1"/>
          <p:nvPr/>
        </p:nvSpPr>
        <p:spPr>
          <a:xfrm>
            <a:off x="9610726" y="23492"/>
            <a:ext cx="2578760" cy="338554"/>
          </a:xfrm>
          <a:prstGeom prst="rect">
            <a:avLst/>
          </a:prstGeom>
          <a:solidFill>
            <a:schemeClr val="bg1"/>
          </a:solidFill>
        </p:spPr>
        <p:txBody>
          <a:bodyPr wrap="square" rtlCol="0">
            <a:spAutoFit/>
          </a:bodyPr>
          <a:lstStyle/>
          <a:p>
            <a:r>
              <a:rPr lang="en-US" sz="1600" b="1" dirty="0" smtClean="0">
                <a:solidFill>
                  <a:schemeClr val="accent6">
                    <a:lumMod val="60000"/>
                    <a:lumOff val="40000"/>
                  </a:schemeClr>
                </a:solidFill>
                <a:latin typeface="Cambria Math" panose="02040503050406030204" pitchFamily="18" charset="0"/>
              </a:rPr>
              <a:t>Tag Bits </a:t>
            </a:r>
            <a:r>
              <a:rPr lang="en-US" sz="1600" b="1" dirty="0" smtClean="0">
                <a:solidFill>
                  <a:srgbClr val="00B0F0"/>
                </a:solidFill>
                <a:latin typeface="Cambria Math" panose="02040503050406030204" pitchFamily="18" charset="0"/>
              </a:rPr>
              <a:t>Set bits</a:t>
            </a:r>
            <a:r>
              <a:rPr lang="en-US" sz="1600" b="1" dirty="0">
                <a:solidFill>
                  <a:srgbClr val="FFC000"/>
                </a:solidFill>
                <a:latin typeface="Cambria Math" panose="02040503050406030204" pitchFamily="18" charset="0"/>
              </a:rPr>
              <a:t> </a:t>
            </a:r>
            <a:r>
              <a:rPr lang="en-US" sz="1600" b="1" dirty="0" smtClean="0">
                <a:solidFill>
                  <a:srgbClr val="FFC000"/>
                </a:solidFill>
                <a:latin typeface="Cambria Math" panose="02040503050406030204" pitchFamily="18" charset="0"/>
              </a:rPr>
              <a:t>Offset bits</a:t>
            </a:r>
            <a:endParaRPr lang="en-US" sz="1600" dirty="0">
              <a:solidFill>
                <a:srgbClr val="FFC000"/>
              </a:solidFill>
            </a:endParaRPr>
          </a:p>
        </p:txBody>
      </p:sp>
      <p:sp>
        <p:nvSpPr>
          <p:cNvPr id="19" name="TextBox 18"/>
          <p:cNvSpPr txBox="1"/>
          <p:nvPr/>
        </p:nvSpPr>
        <p:spPr>
          <a:xfrm>
            <a:off x="8677275" y="6429178"/>
            <a:ext cx="3388808" cy="369332"/>
          </a:xfrm>
          <a:prstGeom prst="rect">
            <a:avLst/>
          </a:prstGeom>
          <a:solidFill>
            <a:schemeClr val="bg1"/>
          </a:solidFill>
        </p:spPr>
        <p:txBody>
          <a:bodyPr wrap="square" rtlCol="0">
            <a:spAutoFit/>
          </a:bodyPr>
          <a:lstStyle/>
          <a:p>
            <a:r>
              <a:rPr lang="en-US" b="1" dirty="0" smtClean="0">
                <a:solidFill>
                  <a:srgbClr val="FF0000"/>
                </a:solidFill>
              </a:rPr>
              <a:t>Cache Miss = 4	Cache Hit = 1 </a:t>
            </a:r>
            <a:endParaRPr lang="en-US" b="1" dirty="0">
              <a:solidFill>
                <a:srgbClr val="FF0000"/>
              </a:solidFill>
            </a:endParaRPr>
          </a:p>
        </p:txBody>
      </p:sp>
      <p:graphicFrame>
        <p:nvGraphicFramePr>
          <p:cNvPr id="16" name="Table 15"/>
          <p:cNvGraphicFramePr>
            <a:graphicFrameLocks noGrp="1"/>
          </p:cNvGraphicFramePr>
          <p:nvPr>
            <p:extLst/>
          </p:nvPr>
        </p:nvGraphicFramePr>
        <p:xfrm>
          <a:off x="9467860" y="1273132"/>
          <a:ext cx="2238375" cy="4754880"/>
        </p:xfrm>
        <a:graphic>
          <a:graphicData uri="http://schemas.openxmlformats.org/drawingml/2006/table">
            <a:tbl>
              <a:tblPr firstRow="1" bandRow="1">
                <a:tableStyleId>{5940675A-B579-460E-94D1-54222C63F5DA}</a:tableStyleId>
              </a:tblPr>
              <a:tblGrid>
                <a:gridCol w="1028700">
                  <a:extLst>
                    <a:ext uri="{9D8B030D-6E8A-4147-A177-3AD203B41FA5}">
                      <a16:colId xmlns="" xmlns:a16="http://schemas.microsoft.com/office/drawing/2014/main" val="1695656520"/>
                    </a:ext>
                  </a:extLst>
                </a:gridCol>
                <a:gridCol w="1209675">
                  <a:extLst>
                    <a:ext uri="{9D8B030D-6E8A-4147-A177-3AD203B41FA5}">
                      <a16:colId xmlns="" xmlns:a16="http://schemas.microsoft.com/office/drawing/2014/main" val="2165372536"/>
                    </a:ext>
                  </a:extLst>
                </a:gridCol>
              </a:tblGrid>
              <a:tr h="362494">
                <a:tc>
                  <a:txBody>
                    <a:bodyPr/>
                    <a:lstStyle/>
                    <a:p>
                      <a:r>
                        <a:rPr lang="en-US" b="1" dirty="0" smtClean="0"/>
                        <a:t>00</a:t>
                      </a:r>
                      <a:endParaRPr lang="en-US" b="1" dirty="0"/>
                    </a:p>
                  </a:txBody>
                  <a:tcPr>
                    <a:solidFill>
                      <a:schemeClr val="accent1">
                        <a:lumMod val="20000"/>
                        <a:lumOff val="80000"/>
                      </a:schemeClr>
                    </a:solidFill>
                  </a:tcPr>
                </a:tc>
                <a:tc>
                  <a:txBody>
                    <a:bodyPr/>
                    <a:lstStyle/>
                    <a:p>
                      <a:r>
                        <a:rPr lang="en-US" b="0" dirty="0" smtClean="0"/>
                        <a:t>00</a:t>
                      </a:r>
                      <a:endParaRPr lang="en-US" b="0" dirty="0"/>
                    </a:p>
                  </a:txBody>
                  <a:tcPr>
                    <a:solidFill>
                      <a:schemeClr val="accent1">
                        <a:lumMod val="20000"/>
                        <a:lumOff val="80000"/>
                      </a:schemeClr>
                    </a:solidFill>
                  </a:tcPr>
                </a:tc>
                <a:extLst>
                  <a:ext uri="{0D108BD9-81ED-4DB2-BD59-A6C34878D82A}">
                    <a16:rowId xmlns="" xmlns:a16="http://schemas.microsoft.com/office/drawing/2014/main" val="2394468888"/>
                  </a:ext>
                </a:extLst>
              </a:tr>
              <a:tr h="362494">
                <a:tc>
                  <a:txBody>
                    <a:bodyPr/>
                    <a:lstStyle/>
                    <a:p>
                      <a:r>
                        <a:rPr lang="en-US" b="1" dirty="0" smtClean="0"/>
                        <a:t>01</a:t>
                      </a:r>
                      <a:endParaRPr lang="en-US" b="1" dirty="0"/>
                    </a:p>
                  </a:txBody>
                  <a:tcPr>
                    <a:solidFill>
                      <a:schemeClr val="accent1">
                        <a:lumMod val="20000"/>
                        <a:lumOff val="80000"/>
                      </a:schemeClr>
                    </a:solidFill>
                  </a:tcPr>
                </a:tc>
                <a:tc>
                  <a:txBody>
                    <a:bodyPr/>
                    <a:lstStyle/>
                    <a:p>
                      <a:r>
                        <a:rPr lang="en-US" b="0" dirty="0" smtClean="0"/>
                        <a:t>01</a:t>
                      </a:r>
                      <a:endParaRPr lang="en-US" b="0" dirty="0"/>
                    </a:p>
                  </a:txBody>
                  <a:tcPr>
                    <a:solidFill>
                      <a:schemeClr val="accent1">
                        <a:lumMod val="20000"/>
                        <a:lumOff val="80000"/>
                      </a:schemeClr>
                    </a:solidFill>
                  </a:tcPr>
                </a:tc>
                <a:extLst>
                  <a:ext uri="{0D108BD9-81ED-4DB2-BD59-A6C34878D82A}">
                    <a16:rowId xmlns="" xmlns:a16="http://schemas.microsoft.com/office/drawing/2014/main" val="2430735079"/>
                  </a:ext>
                </a:extLst>
              </a:tr>
              <a:tr h="362494">
                <a:tc>
                  <a:txBody>
                    <a:bodyPr/>
                    <a:lstStyle/>
                    <a:p>
                      <a:r>
                        <a:rPr lang="en-US" b="1" dirty="0" smtClean="0"/>
                        <a:t>02</a:t>
                      </a:r>
                      <a:endParaRPr lang="en-US" b="1" dirty="0"/>
                    </a:p>
                  </a:txBody>
                  <a:tcPr>
                    <a:solidFill>
                      <a:schemeClr val="accent1">
                        <a:lumMod val="20000"/>
                        <a:lumOff val="80000"/>
                      </a:schemeClr>
                    </a:solidFill>
                  </a:tcPr>
                </a:tc>
                <a:tc>
                  <a:txBody>
                    <a:bodyPr/>
                    <a:lstStyle/>
                    <a:p>
                      <a:r>
                        <a:rPr lang="en-US" b="0" dirty="0" smtClean="0"/>
                        <a:t>02</a:t>
                      </a:r>
                      <a:endParaRPr lang="en-US" b="0" dirty="0"/>
                    </a:p>
                  </a:txBody>
                  <a:tcPr>
                    <a:solidFill>
                      <a:schemeClr val="accent1">
                        <a:lumMod val="20000"/>
                        <a:lumOff val="80000"/>
                      </a:schemeClr>
                    </a:solidFill>
                  </a:tcPr>
                </a:tc>
                <a:extLst>
                  <a:ext uri="{0D108BD9-81ED-4DB2-BD59-A6C34878D82A}">
                    <a16:rowId xmlns="" xmlns:a16="http://schemas.microsoft.com/office/drawing/2014/main" val="2129467674"/>
                  </a:ext>
                </a:extLst>
              </a:tr>
              <a:tr h="362494">
                <a:tc>
                  <a:txBody>
                    <a:bodyPr/>
                    <a:lstStyle/>
                    <a:p>
                      <a:r>
                        <a:rPr lang="en-US" b="1" dirty="0" smtClean="0"/>
                        <a:t>03</a:t>
                      </a:r>
                      <a:endParaRPr lang="en-US" b="1" dirty="0"/>
                    </a:p>
                  </a:txBody>
                  <a:tcPr>
                    <a:solidFill>
                      <a:schemeClr val="accent1">
                        <a:lumMod val="20000"/>
                        <a:lumOff val="80000"/>
                      </a:schemeClr>
                    </a:solidFill>
                  </a:tcPr>
                </a:tc>
                <a:tc>
                  <a:txBody>
                    <a:bodyPr/>
                    <a:lstStyle/>
                    <a:p>
                      <a:r>
                        <a:rPr lang="en-US" b="0" dirty="0" smtClean="0"/>
                        <a:t>03</a:t>
                      </a:r>
                      <a:endParaRPr lang="en-US" b="0" dirty="0"/>
                    </a:p>
                  </a:txBody>
                  <a:tcPr>
                    <a:solidFill>
                      <a:schemeClr val="accent1">
                        <a:lumMod val="20000"/>
                        <a:lumOff val="80000"/>
                      </a:schemeClr>
                    </a:solidFill>
                  </a:tcPr>
                </a:tc>
                <a:extLst>
                  <a:ext uri="{0D108BD9-81ED-4DB2-BD59-A6C34878D82A}">
                    <a16:rowId xmlns="" xmlns:a16="http://schemas.microsoft.com/office/drawing/2014/main" val="3462162992"/>
                  </a:ext>
                </a:extLst>
              </a:tr>
              <a:tr h="362494">
                <a:tc>
                  <a:txBody>
                    <a:bodyPr/>
                    <a:lstStyle/>
                    <a:p>
                      <a:r>
                        <a:rPr lang="en-US" b="1" dirty="0" smtClean="0"/>
                        <a:t>04</a:t>
                      </a:r>
                      <a:endParaRPr lang="en-US" b="1" dirty="0"/>
                    </a:p>
                  </a:txBody>
                  <a:tcPr>
                    <a:solidFill>
                      <a:schemeClr val="accent1">
                        <a:lumMod val="20000"/>
                        <a:lumOff val="80000"/>
                      </a:schemeClr>
                    </a:solidFill>
                  </a:tcPr>
                </a:tc>
                <a:tc>
                  <a:txBody>
                    <a:bodyPr/>
                    <a:lstStyle/>
                    <a:p>
                      <a:r>
                        <a:rPr lang="en-US" b="0" dirty="0" smtClean="0"/>
                        <a:t>04</a:t>
                      </a:r>
                      <a:endParaRPr lang="en-US" b="0" dirty="0"/>
                    </a:p>
                  </a:txBody>
                  <a:tcPr>
                    <a:solidFill>
                      <a:schemeClr val="accent1">
                        <a:lumMod val="20000"/>
                        <a:lumOff val="80000"/>
                      </a:schemeClr>
                    </a:solidFill>
                  </a:tcPr>
                </a:tc>
                <a:extLst>
                  <a:ext uri="{0D108BD9-81ED-4DB2-BD59-A6C34878D82A}">
                    <a16:rowId xmlns="" xmlns:a16="http://schemas.microsoft.com/office/drawing/2014/main" val="2296900417"/>
                  </a:ext>
                </a:extLst>
              </a:tr>
              <a:tr h="362494">
                <a:tc>
                  <a:txBody>
                    <a:bodyPr/>
                    <a:lstStyle/>
                    <a:p>
                      <a:r>
                        <a:rPr lang="en-US" b="1" dirty="0" smtClean="0"/>
                        <a:t>05</a:t>
                      </a:r>
                      <a:endParaRPr lang="en-US" b="1" dirty="0"/>
                    </a:p>
                  </a:txBody>
                  <a:tcPr>
                    <a:solidFill>
                      <a:schemeClr val="accent1">
                        <a:lumMod val="20000"/>
                        <a:lumOff val="80000"/>
                      </a:schemeClr>
                    </a:solidFill>
                  </a:tcPr>
                </a:tc>
                <a:tc>
                  <a:txBody>
                    <a:bodyPr/>
                    <a:lstStyle/>
                    <a:p>
                      <a:r>
                        <a:rPr lang="en-US" b="0" dirty="0" smtClean="0"/>
                        <a:t>05</a:t>
                      </a:r>
                      <a:endParaRPr lang="en-US" b="0" dirty="0"/>
                    </a:p>
                  </a:txBody>
                  <a:tcPr>
                    <a:solidFill>
                      <a:schemeClr val="accent1">
                        <a:lumMod val="20000"/>
                        <a:lumOff val="80000"/>
                      </a:schemeClr>
                    </a:solidFill>
                  </a:tcPr>
                </a:tc>
                <a:extLst>
                  <a:ext uri="{0D108BD9-81ED-4DB2-BD59-A6C34878D82A}">
                    <a16:rowId xmlns="" xmlns:a16="http://schemas.microsoft.com/office/drawing/2014/main" val="2847845332"/>
                  </a:ext>
                </a:extLst>
              </a:tr>
              <a:tr h="362494">
                <a:tc>
                  <a:txBody>
                    <a:bodyPr/>
                    <a:lstStyle/>
                    <a:p>
                      <a:r>
                        <a:rPr lang="en-US" b="1" dirty="0" smtClean="0"/>
                        <a:t>06</a:t>
                      </a:r>
                      <a:endParaRPr lang="en-US" b="1" dirty="0"/>
                    </a:p>
                  </a:txBody>
                  <a:tcPr>
                    <a:solidFill>
                      <a:schemeClr val="accent1">
                        <a:lumMod val="20000"/>
                        <a:lumOff val="80000"/>
                      </a:schemeClr>
                    </a:solidFill>
                  </a:tcPr>
                </a:tc>
                <a:tc>
                  <a:txBody>
                    <a:bodyPr/>
                    <a:lstStyle/>
                    <a:p>
                      <a:r>
                        <a:rPr lang="en-US" b="0" dirty="0" smtClean="0"/>
                        <a:t>06</a:t>
                      </a:r>
                      <a:endParaRPr lang="en-US" b="0" dirty="0"/>
                    </a:p>
                  </a:txBody>
                  <a:tcPr>
                    <a:solidFill>
                      <a:schemeClr val="accent1">
                        <a:lumMod val="20000"/>
                        <a:lumOff val="80000"/>
                      </a:schemeClr>
                    </a:solidFill>
                  </a:tcPr>
                </a:tc>
                <a:extLst>
                  <a:ext uri="{0D108BD9-81ED-4DB2-BD59-A6C34878D82A}">
                    <a16:rowId xmlns="" xmlns:a16="http://schemas.microsoft.com/office/drawing/2014/main" val="3218713041"/>
                  </a:ext>
                </a:extLst>
              </a:tr>
              <a:tr h="362494">
                <a:tc>
                  <a:txBody>
                    <a:bodyPr/>
                    <a:lstStyle/>
                    <a:p>
                      <a:r>
                        <a:rPr lang="en-US" b="1" dirty="0" smtClean="0"/>
                        <a:t>07</a:t>
                      </a:r>
                      <a:endParaRPr lang="en-US" b="1" dirty="0"/>
                    </a:p>
                  </a:txBody>
                  <a:tcPr>
                    <a:solidFill>
                      <a:schemeClr val="accent1">
                        <a:lumMod val="20000"/>
                        <a:lumOff val="80000"/>
                      </a:schemeClr>
                    </a:solidFill>
                  </a:tcPr>
                </a:tc>
                <a:tc>
                  <a:txBody>
                    <a:bodyPr/>
                    <a:lstStyle/>
                    <a:p>
                      <a:r>
                        <a:rPr lang="en-US" b="0" dirty="0" smtClean="0"/>
                        <a:t>07</a:t>
                      </a:r>
                      <a:endParaRPr lang="en-US" b="0" dirty="0"/>
                    </a:p>
                  </a:txBody>
                  <a:tcPr>
                    <a:solidFill>
                      <a:schemeClr val="accent1">
                        <a:lumMod val="20000"/>
                        <a:lumOff val="80000"/>
                      </a:schemeClr>
                    </a:solidFill>
                  </a:tcPr>
                </a:tc>
                <a:extLst>
                  <a:ext uri="{0D108BD9-81ED-4DB2-BD59-A6C34878D82A}">
                    <a16:rowId xmlns="" xmlns:a16="http://schemas.microsoft.com/office/drawing/2014/main" val="4157796138"/>
                  </a:ext>
                </a:extLst>
              </a:tr>
              <a:tr h="362494">
                <a:tc>
                  <a:txBody>
                    <a:bodyPr/>
                    <a:lstStyle/>
                    <a:p>
                      <a:r>
                        <a:rPr lang="en-US" b="1" dirty="0" smtClean="0">
                          <a:solidFill>
                            <a:schemeClr val="tx1"/>
                          </a:solidFill>
                        </a:rPr>
                        <a:t>08</a:t>
                      </a:r>
                      <a:endParaRPr lang="en-US" b="1" dirty="0">
                        <a:solidFill>
                          <a:schemeClr val="tx1"/>
                        </a:solidFill>
                      </a:endParaRPr>
                    </a:p>
                  </a:txBody>
                  <a:tcPr>
                    <a:solidFill>
                      <a:schemeClr val="accent1">
                        <a:lumMod val="20000"/>
                        <a:lumOff val="80000"/>
                      </a:schemeClr>
                    </a:solidFill>
                  </a:tcPr>
                </a:tc>
                <a:tc>
                  <a:txBody>
                    <a:bodyPr/>
                    <a:lstStyle/>
                    <a:p>
                      <a:r>
                        <a:rPr lang="en-US" b="0" dirty="0" smtClean="0">
                          <a:solidFill>
                            <a:schemeClr val="tx1"/>
                          </a:solidFill>
                        </a:rPr>
                        <a:t>08</a:t>
                      </a:r>
                      <a:endParaRPr lang="en-US" b="0" dirty="0">
                        <a:solidFill>
                          <a:schemeClr val="tx1"/>
                        </a:solidFill>
                      </a:endParaRPr>
                    </a:p>
                  </a:txBody>
                  <a:tcPr>
                    <a:solidFill>
                      <a:schemeClr val="accent1">
                        <a:lumMod val="20000"/>
                        <a:lumOff val="80000"/>
                      </a:schemeClr>
                    </a:solidFill>
                  </a:tcPr>
                </a:tc>
                <a:extLst>
                  <a:ext uri="{0D108BD9-81ED-4DB2-BD59-A6C34878D82A}">
                    <a16:rowId xmlns="" xmlns:a16="http://schemas.microsoft.com/office/drawing/2014/main" val="2521264448"/>
                  </a:ext>
                </a:extLst>
              </a:tr>
              <a:tr h="362494">
                <a:tc>
                  <a:txBody>
                    <a:bodyPr/>
                    <a:lstStyle/>
                    <a:p>
                      <a:r>
                        <a:rPr lang="en-US" b="1" dirty="0" smtClean="0"/>
                        <a:t>…….</a:t>
                      </a:r>
                      <a:endParaRPr lang="en-US" b="1" dirty="0"/>
                    </a:p>
                  </a:txBody>
                  <a:tcPr>
                    <a:solidFill>
                      <a:schemeClr val="accent1">
                        <a:lumMod val="20000"/>
                        <a:lumOff val="80000"/>
                      </a:schemeClr>
                    </a:solidFill>
                  </a:tcPr>
                </a:tc>
                <a:tc>
                  <a:txBody>
                    <a:bodyPr/>
                    <a:lstStyle/>
                    <a:p>
                      <a:r>
                        <a:rPr lang="en-US" b="0" dirty="0" smtClean="0"/>
                        <a:t>…….</a:t>
                      </a:r>
                      <a:endParaRPr lang="en-US" b="0" dirty="0"/>
                    </a:p>
                  </a:txBody>
                  <a:tcPr>
                    <a:solidFill>
                      <a:schemeClr val="accent1">
                        <a:lumMod val="20000"/>
                        <a:lumOff val="80000"/>
                      </a:schemeClr>
                    </a:solidFill>
                  </a:tcPr>
                </a:tc>
                <a:extLst>
                  <a:ext uri="{0D108BD9-81ED-4DB2-BD59-A6C34878D82A}">
                    <a16:rowId xmlns="" xmlns:a16="http://schemas.microsoft.com/office/drawing/2014/main" val="46183165"/>
                  </a:ext>
                </a:extLst>
              </a:tr>
              <a:tr h="362494">
                <a:tc>
                  <a:txBody>
                    <a:bodyPr/>
                    <a:lstStyle/>
                    <a:p>
                      <a:r>
                        <a:rPr lang="en-US" b="1" dirty="0" smtClean="0"/>
                        <a:t>FD</a:t>
                      </a:r>
                      <a:endParaRPr lang="en-US" b="1" dirty="0"/>
                    </a:p>
                  </a:txBody>
                  <a:tcPr>
                    <a:solidFill>
                      <a:schemeClr val="accent1">
                        <a:lumMod val="20000"/>
                        <a:lumOff val="80000"/>
                      </a:schemeClr>
                    </a:solidFill>
                  </a:tcPr>
                </a:tc>
                <a:tc>
                  <a:txBody>
                    <a:bodyPr/>
                    <a:lstStyle/>
                    <a:p>
                      <a:r>
                        <a:rPr lang="en-US" b="0" dirty="0" smtClean="0"/>
                        <a:t>FD</a:t>
                      </a:r>
                      <a:endParaRPr lang="en-US" b="0" dirty="0"/>
                    </a:p>
                  </a:txBody>
                  <a:tcPr>
                    <a:solidFill>
                      <a:schemeClr val="accent1">
                        <a:lumMod val="20000"/>
                        <a:lumOff val="80000"/>
                      </a:schemeClr>
                    </a:solidFill>
                  </a:tcPr>
                </a:tc>
                <a:extLst>
                  <a:ext uri="{0D108BD9-81ED-4DB2-BD59-A6C34878D82A}">
                    <a16:rowId xmlns="" xmlns:a16="http://schemas.microsoft.com/office/drawing/2014/main" val="1264938070"/>
                  </a:ext>
                </a:extLst>
              </a:tr>
              <a:tr h="362494">
                <a:tc>
                  <a:txBody>
                    <a:bodyPr/>
                    <a:lstStyle/>
                    <a:p>
                      <a:r>
                        <a:rPr lang="en-US" b="1" dirty="0" smtClean="0"/>
                        <a:t>FE</a:t>
                      </a:r>
                      <a:endParaRPr lang="en-US" b="1" dirty="0"/>
                    </a:p>
                  </a:txBody>
                  <a:tcPr>
                    <a:solidFill>
                      <a:schemeClr val="accent1">
                        <a:lumMod val="20000"/>
                        <a:lumOff val="80000"/>
                      </a:schemeClr>
                    </a:solidFill>
                  </a:tcPr>
                </a:tc>
                <a:tc>
                  <a:txBody>
                    <a:bodyPr/>
                    <a:lstStyle/>
                    <a:p>
                      <a:r>
                        <a:rPr lang="en-US" b="0" dirty="0" smtClean="0"/>
                        <a:t>FE</a:t>
                      </a:r>
                      <a:endParaRPr lang="en-US" b="0" dirty="0"/>
                    </a:p>
                  </a:txBody>
                  <a:tcPr>
                    <a:solidFill>
                      <a:schemeClr val="accent1">
                        <a:lumMod val="20000"/>
                        <a:lumOff val="80000"/>
                      </a:schemeClr>
                    </a:solidFill>
                  </a:tcPr>
                </a:tc>
                <a:extLst>
                  <a:ext uri="{0D108BD9-81ED-4DB2-BD59-A6C34878D82A}">
                    <a16:rowId xmlns="" xmlns:a16="http://schemas.microsoft.com/office/drawing/2014/main" val="215055190"/>
                  </a:ext>
                </a:extLst>
              </a:tr>
              <a:tr h="362494">
                <a:tc>
                  <a:txBody>
                    <a:bodyPr/>
                    <a:lstStyle/>
                    <a:p>
                      <a:r>
                        <a:rPr lang="en-US" b="1" dirty="0" smtClean="0"/>
                        <a:t>FF</a:t>
                      </a:r>
                      <a:endParaRPr lang="en-US" b="1" dirty="0"/>
                    </a:p>
                  </a:txBody>
                  <a:tcPr>
                    <a:solidFill>
                      <a:schemeClr val="accent1">
                        <a:lumMod val="20000"/>
                        <a:lumOff val="80000"/>
                      </a:schemeClr>
                    </a:solidFill>
                  </a:tcPr>
                </a:tc>
                <a:tc>
                  <a:txBody>
                    <a:bodyPr/>
                    <a:lstStyle/>
                    <a:p>
                      <a:r>
                        <a:rPr lang="en-US" b="0" dirty="0" smtClean="0"/>
                        <a:t>FF</a:t>
                      </a:r>
                      <a:endParaRPr lang="en-US" b="0" dirty="0"/>
                    </a:p>
                  </a:txBody>
                  <a:tcPr>
                    <a:solidFill>
                      <a:schemeClr val="accent1">
                        <a:lumMod val="20000"/>
                        <a:lumOff val="80000"/>
                      </a:schemeClr>
                    </a:solidFill>
                  </a:tcPr>
                </a:tc>
                <a:extLst>
                  <a:ext uri="{0D108BD9-81ED-4DB2-BD59-A6C34878D82A}">
                    <a16:rowId xmlns="" xmlns:a16="http://schemas.microsoft.com/office/drawing/2014/main" val="4229255318"/>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606023782"/>
              </p:ext>
            </p:extLst>
          </p:nvPr>
        </p:nvGraphicFramePr>
        <p:xfrm>
          <a:off x="3458306" y="2014814"/>
          <a:ext cx="5390129" cy="2377440"/>
        </p:xfrm>
        <a:graphic>
          <a:graphicData uri="http://schemas.openxmlformats.org/drawingml/2006/table">
            <a:tbl>
              <a:tblPr firstRow="1" bandRow="1">
                <a:tableStyleId>{5940675A-B579-460E-94D1-54222C63F5DA}</a:tableStyleId>
              </a:tblPr>
              <a:tblGrid>
                <a:gridCol w="449716">
                  <a:extLst>
                    <a:ext uri="{9D8B030D-6E8A-4147-A177-3AD203B41FA5}">
                      <a16:colId xmlns="" xmlns:a16="http://schemas.microsoft.com/office/drawing/2014/main" val="4284518099"/>
                    </a:ext>
                  </a:extLst>
                </a:gridCol>
                <a:gridCol w="636269">
                  <a:extLst>
                    <a:ext uri="{9D8B030D-6E8A-4147-A177-3AD203B41FA5}">
                      <a16:colId xmlns="" xmlns:a16="http://schemas.microsoft.com/office/drawing/2014/main" val="3030601287"/>
                    </a:ext>
                  </a:extLst>
                </a:gridCol>
                <a:gridCol w="886691">
                  <a:extLst>
                    <a:ext uri="{9D8B030D-6E8A-4147-A177-3AD203B41FA5}">
                      <a16:colId xmlns="" xmlns:a16="http://schemas.microsoft.com/office/drawing/2014/main" val="330335500"/>
                    </a:ext>
                  </a:extLst>
                </a:gridCol>
                <a:gridCol w="1413163">
                  <a:extLst>
                    <a:ext uri="{9D8B030D-6E8A-4147-A177-3AD203B41FA5}">
                      <a16:colId xmlns="" xmlns:a16="http://schemas.microsoft.com/office/drawing/2014/main" val="1200191126"/>
                    </a:ext>
                  </a:extLst>
                </a:gridCol>
                <a:gridCol w="2004290">
                  <a:extLst>
                    <a:ext uri="{9D8B030D-6E8A-4147-A177-3AD203B41FA5}">
                      <a16:colId xmlns="" xmlns:a16="http://schemas.microsoft.com/office/drawing/2014/main" val="1827225863"/>
                    </a:ext>
                  </a:extLst>
                </a:gridCol>
              </a:tblGrid>
              <a:tr h="640136">
                <a:tc>
                  <a:txBody>
                    <a:bodyPr/>
                    <a:lstStyle/>
                    <a:p>
                      <a:pPr algn="r"/>
                      <a:endParaRPr lang="en-US" b="1" dirty="0" smtClean="0"/>
                    </a:p>
                    <a:p>
                      <a:pPr algn="l"/>
                      <a:r>
                        <a:rPr lang="en-US" b="1" dirty="0" smtClean="0"/>
                        <a:t>Set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en-US" b="1" dirty="0" smtClean="0"/>
                        <a:t>V</a:t>
                      </a:r>
                      <a:r>
                        <a:rPr lang="en-US" b="1" baseline="0" dirty="0" smtClean="0"/>
                        <a:t>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LRU bit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b="1" dirty="0" smtClean="0"/>
                        <a:t>Tags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400" b="1" dirty="0" smtClean="0">
                          <a:solidFill>
                            <a:schemeClr val="tx1"/>
                          </a:solidFill>
                        </a:rPr>
                        <a:t>Data </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770381397"/>
                  </a:ext>
                </a:extLst>
              </a:tr>
              <a:tr h="321503">
                <a:tc rowSpan="4">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10</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0000 0110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sz="1800" dirty="0" smtClean="0">
                          <a:solidFill>
                            <a:schemeClr val="tx1"/>
                          </a:solidFill>
                        </a:rPr>
                        <a:t>06</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08416522"/>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0010</a:t>
                      </a:r>
                      <a:r>
                        <a:rPr lang="en-US" b="0" baseline="0" dirty="0" smtClean="0"/>
                        <a:t> 0011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23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60513756"/>
                  </a:ext>
                </a:extLst>
              </a:tr>
              <a:tr h="321503">
                <a:tc vMerge="1">
                  <a:txBody>
                    <a:bodyPr/>
                    <a:lstStyle/>
                    <a:p>
                      <a:endParaRPr 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11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1011</a:t>
                      </a:r>
                      <a:r>
                        <a:rPr lang="en-US" b="0" baseline="0" dirty="0" smtClean="0"/>
                        <a:t> 0010</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B2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01583137"/>
                  </a:ext>
                </a:extLst>
              </a:tr>
              <a:tr h="321503">
                <a:tc vMerge="1">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r>
                        <a:rPr lang="en-US" b="1" dirty="0" smtClean="0"/>
                        <a:t>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smtClean="0"/>
                        <a:t>01</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0" dirty="0" smtClean="0"/>
                        <a:t>0101</a:t>
                      </a:r>
                      <a:r>
                        <a:rPr lang="en-US" b="0" baseline="0" dirty="0" smtClean="0"/>
                        <a:t> 1001</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r>
                        <a:rPr lang="en-US" dirty="0" smtClean="0"/>
                        <a:t>59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545779383"/>
                  </a:ext>
                </a:extLst>
              </a:tr>
            </a:tbl>
          </a:graphicData>
        </a:graphic>
      </p:graphicFrame>
    </p:spTree>
    <p:extLst>
      <p:ext uri="{BB962C8B-B14F-4D97-AF65-F5344CB8AC3E}">
        <p14:creationId xmlns:p14="http://schemas.microsoft.com/office/powerpoint/2010/main" val="35839414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Cache Misses</a:t>
            </a:r>
            <a:endParaRPr lang="en-US" dirty="0"/>
          </a:p>
        </p:txBody>
      </p:sp>
      <p:sp>
        <p:nvSpPr>
          <p:cNvPr id="3" name="Content Placeholder 2"/>
          <p:cNvSpPr>
            <a:spLocks noGrp="1"/>
          </p:cNvSpPr>
          <p:nvPr>
            <p:ph idx="1"/>
          </p:nvPr>
        </p:nvSpPr>
        <p:spPr/>
        <p:txBody>
          <a:bodyPr/>
          <a:lstStyle/>
          <a:p>
            <a:r>
              <a:rPr lang="en-US" b="1" dirty="0" smtClean="0">
                <a:solidFill>
                  <a:srgbClr val="0070C0"/>
                </a:solidFill>
              </a:rPr>
              <a:t>Compulsory Miss: </a:t>
            </a:r>
          </a:p>
          <a:p>
            <a:r>
              <a:rPr lang="en-US" dirty="0" smtClean="0"/>
              <a:t>The </a:t>
            </a:r>
            <a:r>
              <a:rPr lang="en-US" dirty="0"/>
              <a:t>first request to a cache block is called a compulsory miss, because the block must be read from memory regardless of the cache design. </a:t>
            </a:r>
            <a:endParaRPr lang="en-US" dirty="0" smtClean="0"/>
          </a:p>
          <a:p>
            <a:r>
              <a:rPr lang="en-US" b="1" dirty="0" smtClean="0">
                <a:solidFill>
                  <a:srgbClr val="0070C0"/>
                </a:solidFill>
              </a:rPr>
              <a:t>Capacity </a:t>
            </a:r>
            <a:r>
              <a:rPr lang="en-US" b="1" dirty="0">
                <a:solidFill>
                  <a:srgbClr val="0070C0"/>
                </a:solidFill>
              </a:rPr>
              <a:t>Miss:</a:t>
            </a:r>
            <a:endParaRPr lang="en-US" dirty="0" smtClean="0"/>
          </a:p>
          <a:p>
            <a:r>
              <a:rPr lang="en-US" dirty="0" smtClean="0"/>
              <a:t>Capacity </a:t>
            </a:r>
            <a:r>
              <a:rPr lang="en-US" dirty="0"/>
              <a:t>misses occur when the cache is too small to hold all concurrently used data. </a:t>
            </a:r>
            <a:endParaRPr lang="en-US" dirty="0" smtClean="0"/>
          </a:p>
          <a:p>
            <a:r>
              <a:rPr lang="en-US" b="1" dirty="0" smtClean="0">
                <a:solidFill>
                  <a:srgbClr val="0070C0"/>
                </a:solidFill>
              </a:rPr>
              <a:t>Conflict </a:t>
            </a:r>
            <a:r>
              <a:rPr lang="en-US" b="1" dirty="0">
                <a:solidFill>
                  <a:srgbClr val="0070C0"/>
                </a:solidFill>
              </a:rPr>
              <a:t>Miss: </a:t>
            </a:r>
            <a:endParaRPr lang="en-US" b="1" dirty="0" smtClean="0">
              <a:solidFill>
                <a:srgbClr val="0070C0"/>
              </a:solidFill>
            </a:endParaRPr>
          </a:p>
          <a:p>
            <a:r>
              <a:rPr lang="en-US" dirty="0" smtClean="0"/>
              <a:t>Conflict </a:t>
            </a:r>
            <a:r>
              <a:rPr lang="en-US" dirty="0"/>
              <a:t>misses are caused when several addresses map to the same set and evict blocks that are still needed.</a:t>
            </a:r>
          </a:p>
        </p:txBody>
      </p:sp>
    </p:spTree>
    <p:extLst>
      <p:ext uri="{BB962C8B-B14F-4D97-AF65-F5344CB8AC3E}">
        <p14:creationId xmlns:p14="http://schemas.microsoft.com/office/powerpoint/2010/main" val="35455801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Parameters</a:t>
            </a:r>
            <a:endParaRPr lang="en-US" dirty="0"/>
          </a:p>
        </p:txBody>
      </p:sp>
      <p:sp>
        <p:nvSpPr>
          <p:cNvPr id="3" name="Content Placeholder 2"/>
          <p:cNvSpPr>
            <a:spLocks noGrp="1"/>
          </p:cNvSpPr>
          <p:nvPr>
            <p:ph idx="1"/>
          </p:nvPr>
        </p:nvSpPr>
        <p:spPr/>
        <p:txBody>
          <a:bodyPr/>
          <a:lstStyle/>
          <a:p>
            <a:pPr marL="635508" lvl="1" indent="-342900">
              <a:buFont typeface="+mj-lt"/>
              <a:buAutoNum type="arabicPeriod"/>
            </a:pPr>
            <a:r>
              <a:rPr lang="en-US" dirty="0"/>
              <a:t>I</a:t>
            </a:r>
            <a:r>
              <a:rPr lang="en-US" dirty="0" smtClean="0"/>
              <a:t>ncreasing </a:t>
            </a:r>
            <a:r>
              <a:rPr lang="en-US" dirty="0"/>
              <a:t>cache capacity can reduce conflict and capacity misses, but it does not affect compulsory misses. </a:t>
            </a:r>
            <a:endParaRPr lang="en-US" dirty="0" smtClean="0"/>
          </a:p>
          <a:p>
            <a:pPr marL="635508" lvl="1" indent="-342900">
              <a:buFont typeface="+mj-lt"/>
              <a:buAutoNum type="arabicPeriod"/>
            </a:pPr>
            <a:r>
              <a:rPr lang="en-US" dirty="0" smtClean="0"/>
              <a:t>Increasing </a:t>
            </a:r>
            <a:r>
              <a:rPr lang="en-US" dirty="0"/>
              <a:t>block size could reduce compulsory misses (due to spatial locality</a:t>
            </a:r>
            <a:r>
              <a:rPr lang="en-US" dirty="0" smtClean="0"/>
              <a:t>). </a:t>
            </a:r>
            <a:r>
              <a:rPr lang="en-US" dirty="0"/>
              <a:t>But as block size increases, the number of sets in a fixed-size cache decreases, increasing the probability of </a:t>
            </a:r>
            <a:r>
              <a:rPr lang="en-US" dirty="0" smtClean="0"/>
              <a:t>conflicts.</a:t>
            </a:r>
          </a:p>
          <a:p>
            <a:pPr marL="635508" lvl="1" indent="-342900">
              <a:buFont typeface="+mj-lt"/>
              <a:buAutoNum type="arabicPeriod"/>
            </a:pPr>
            <a:r>
              <a:rPr lang="en-US" dirty="0"/>
              <a:t>An </a:t>
            </a:r>
            <a:r>
              <a:rPr lang="en-US" i="1" dirty="0"/>
              <a:t>N-way set associative</a:t>
            </a:r>
            <a:r>
              <a:rPr lang="en-US" dirty="0"/>
              <a:t> cache reduces conflicts by providing </a:t>
            </a:r>
            <a:r>
              <a:rPr lang="en-US" i="1" dirty="0"/>
              <a:t>N</a:t>
            </a:r>
            <a:r>
              <a:rPr lang="en-US" dirty="0"/>
              <a:t> blocks in each set where data mapping to that set might be found. Each memory address still maps to a specific set, but it can map to any one of the </a:t>
            </a:r>
            <a:r>
              <a:rPr lang="en-US" i="1" dirty="0"/>
              <a:t>N</a:t>
            </a:r>
            <a:r>
              <a:rPr lang="en-US" dirty="0"/>
              <a:t> blocks in the set</a:t>
            </a:r>
            <a:r>
              <a:rPr lang="en-US" dirty="0" smtClean="0"/>
              <a:t>. </a:t>
            </a:r>
            <a:r>
              <a:rPr lang="en-US" dirty="0"/>
              <a:t>However, set associative caches are usually slower and somewhat more expensive to build</a:t>
            </a:r>
            <a:endParaRPr lang="en-US" dirty="0" smtClean="0"/>
          </a:p>
          <a:p>
            <a:pPr marL="635508" lvl="1" indent="-342900">
              <a:buFont typeface="+mj-lt"/>
              <a:buAutoNum type="arabicPeriod"/>
            </a:pPr>
            <a:endParaRPr lang="en-US" b="1" dirty="0" smtClean="0"/>
          </a:p>
          <a:p>
            <a:pPr marL="1184148" lvl="4" indent="-342900">
              <a:buFont typeface="+mj-lt"/>
              <a:buAutoNum type="arabicPeriod"/>
            </a:pPr>
            <a:endParaRPr lang="en-US" b="1" dirty="0"/>
          </a:p>
        </p:txBody>
      </p:sp>
    </p:spTree>
    <p:extLst>
      <p:ext uri="{BB962C8B-B14F-4D97-AF65-F5344CB8AC3E}">
        <p14:creationId xmlns:p14="http://schemas.microsoft.com/office/powerpoint/2010/main" val="14083082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Write Policies</a:t>
            </a:r>
            <a:endParaRPr lang="en-US" dirty="0"/>
          </a:p>
        </p:txBody>
      </p:sp>
      <p:sp>
        <p:nvSpPr>
          <p:cNvPr id="3" name="Content Placeholder 2"/>
          <p:cNvSpPr>
            <a:spLocks noGrp="1"/>
          </p:cNvSpPr>
          <p:nvPr>
            <p:ph idx="1"/>
          </p:nvPr>
        </p:nvSpPr>
        <p:spPr/>
        <p:txBody>
          <a:bodyPr>
            <a:normAutofit/>
          </a:bodyPr>
          <a:lstStyle/>
          <a:p>
            <a:r>
              <a:rPr lang="en-US" dirty="0" smtClean="0"/>
              <a:t>Implemented to handle writes</a:t>
            </a:r>
          </a:p>
          <a:p>
            <a:pPr marL="457200" indent="-457200">
              <a:buFont typeface="+mj-lt"/>
              <a:buAutoNum type="arabicPeriod"/>
            </a:pPr>
            <a:r>
              <a:rPr lang="en-US" sz="2000" b="1" dirty="0" smtClean="0">
                <a:solidFill>
                  <a:schemeClr val="accent2"/>
                </a:solidFill>
              </a:rPr>
              <a:t>Hit Policy</a:t>
            </a:r>
          </a:p>
          <a:p>
            <a:pPr marL="658368" lvl="3" indent="0">
              <a:buNone/>
            </a:pPr>
            <a:r>
              <a:rPr lang="en-US" dirty="0" smtClean="0">
                <a:solidFill>
                  <a:schemeClr val="tx1"/>
                </a:solidFill>
              </a:rPr>
              <a:t>Two methods to handle writes if the data is already present in the cache.</a:t>
            </a:r>
          </a:p>
          <a:p>
            <a:pPr marL="1551460" lvl="6" indent="-342900">
              <a:buFont typeface="+mj-lt"/>
              <a:buAutoNum type="arabicPeriod"/>
            </a:pPr>
            <a:r>
              <a:rPr lang="en-US" b="1" dirty="0" smtClean="0">
                <a:solidFill>
                  <a:schemeClr val="tx1"/>
                </a:solidFill>
              </a:rPr>
              <a:t>Write Through</a:t>
            </a:r>
          </a:p>
          <a:p>
            <a:pPr marL="1551460" lvl="6" indent="-342900">
              <a:buFont typeface="+mj-lt"/>
              <a:buAutoNum type="arabicPeriod"/>
            </a:pPr>
            <a:r>
              <a:rPr lang="en-US" b="1" dirty="0" smtClean="0">
                <a:solidFill>
                  <a:schemeClr val="tx1"/>
                </a:solidFill>
              </a:rPr>
              <a:t>Write Back</a:t>
            </a:r>
            <a:endParaRPr lang="en-US" b="1" dirty="0">
              <a:solidFill>
                <a:schemeClr val="tx1"/>
              </a:solidFill>
            </a:endParaRPr>
          </a:p>
          <a:p>
            <a:pPr marL="457200" indent="-457200">
              <a:buFont typeface="+mj-lt"/>
              <a:buAutoNum type="arabicPeriod"/>
            </a:pPr>
            <a:r>
              <a:rPr lang="en-US" b="1" dirty="0" smtClean="0">
                <a:solidFill>
                  <a:schemeClr val="accent2"/>
                </a:solidFill>
              </a:rPr>
              <a:t>Miss Policy</a:t>
            </a:r>
          </a:p>
          <a:p>
            <a:pPr marL="658368" lvl="3" indent="0">
              <a:buNone/>
            </a:pPr>
            <a:r>
              <a:rPr lang="en-US" dirty="0">
                <a:solidFill>
                  <a:schemeClr val="tx1"/>
                </a:solidFill>
              </a:rPr>
              <a:t>Two methods to handle </a:t>
            </a:r>
            <a:r>
              <a:rPr lang="en-US" dirty="0" smtClean="0">
                <a:solidFill>
                  <a:schemeClr val="tx1"/>
                </a:solidFill>
              </a:rPr>
              <a:t>writes </a:t>
            </a:r>
            <a:r>
              <a:rPr lang="en-US" dirty="0">
                <a:solidFill>
                  <a:schemeClr val="tx1"/>
                </a:solidFill>
              </a:rPr>
              <a:t>if the data is </a:t>
            </a:r>
            <a:r>
              <a:rPr lang="en-US" dirty="0" smtClean="0">
                <a:solidFill>
                  <a:schemeClr val="tx1"/>
                </a:solidFill>
              </a:rPr>
              <a:t>not </a:t>
            </a:r>
            <a:r>
              <a:rPr lang="en-US" dirty="0">
                <a:solidFill>
                  <a:schemeClr val="tx1"/>
                </a:solidFill>
              </a:rPr>
              <a:t>present in the </a:t>
            </a:r>
            <a:r>
              <a:rPr lang="en-US" dirty="0" smtClean="0">
                <a:solidFill>
                  <a:schemeClr val="tx1"/>
                </a:solidFill>
              </a:rPr>
              <a:t>cache.</a:t>
            </a:r>
            <a:endParaRPr lang="en-US" dirty="0">
              <a:solidFill>
                <a:schemeClr val="tx1"/>
              </a:solidFill>
            </a:endParaRPr>
          </a:p>
          <a:p>
            <a:pPr marL="1551460" lvl="6" indent="-342900">
              <a:buFont typeface="+mj-lt"/>
              <a:buAutoNum type="arabicPeriod"/>
            </a:pPr>
            <a:r>
              <a:rPr lang="en-US" b="1" dirty="0">
                <a:solidFill>
                  <a:schemeClr val="tx1"/>
                </a:solidFill>
              </a:rPr>
              <a:t>Write </a:t>
            </a:r>
            <a:r>
              <a:rPr lang="en-US" b="1" dirty="0" smtClean="0">
                <a:solidFill>
                  <a:schemeClr val="tx1"/>
                </a:solidFill>
              </a:rPr>
              <a:t>Allocate</a:t>
            </a:r>
            <a:endParaRPr lang="en-US" b="1" dirty="0">
              <a:solidFill>
                <a:schemeClr val="tx1"/>
              </a:solidFill>
            </a:endParaRPr>
          </a:p>
          <a:p>
            <a:pPr marL="1551460" lvl="6" indent="-342900">
              <a:buFont typeface="+mj-lt"/>
              <a:buAutoNum type="arabicPeriod"/>
            </a:pPr>
            <a:r>
              <a:rPr lang="en-US" b="1" dirty="0">
                <a:solidFill>
                  <a:schemeClr val="tx1"/>
                </a:solidFill>
              </a:rPr>
              <a:t>Write </a:t>
            </a:r>
            <a:r>
              <a:rPr lang="en-US" b="1" dirty="0" smtClean="0">
                <a:solidFill>
                  <a:schemeClr val="tx1"/>
                </a:solidFill>
              </a:rPr>
              <a:t>Around</a:t>
            </a:r>
            <a:endParaRPr lang="en-US" b="1" dirty="0">
              <a:solidFill>
                <a:schemeClr val="tx1"/>
              </a:solidFill>
            </a:endParaRPr>
          </a:p>
          <a:p>
            <a:pPr marL="658368" lvl="3" indent="0">
              <a:buNone/>
            </a:pPr>
            <a:endParaRPr lang="en-US" b="1" dirty="0" smtClean="0">
              <a:solidFill>
                <a:schemeClr val="accent2"/>
              </a:solidFill>
            </a:endParaRPr>
          </a:p>
        </p:txBody>
      </p:sp>
    </p:spTree>
    <p:extLst>
      <p:ext uri="{BB962C8B-B14F-4D97-AF65-F5344CB8AC3E}">
        <p14:creationId xmlns:p14="http://schemas.microsoft.com/office/powerpoint/2010/main" val="319319866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Through</a:t>
            </a:r>
            <a:endParaRPr lang="en-US" dirty="0"/>
          </a:p>
        </p:txBody>
      </p:sp>
      <p:sp>
        <p:nvSpPr>
          <p:cNvPr id="3" name="Content Placeholder 2"/>
          <p:cNvSpPr>
            <a:spLocks noGrp="1"/>
          </p:cNvSpPr>
          <p:nvPr>
            <p:ph idx="1"/>
          </p:nvPr>
        </p:nvSpPr>
        <p:spPr/>
        <p:txBody>
          <a:bodyPr>
            <a:normAutofit/>
          </a:bodyPr>
          <a:lstStyle/>
          <a:p>
            <a:pPr marL="292608" lvl="1" indent="0">
              <a:buNone/>
            </a:pPr>
            <a:r>
              <a:rPr lang="en-US" sz="1600" dirty="0" smtClean="0">
                <a:solidFill>
                  <a:schemeClr val="tx1"/>
                </a:solidFill>
              </a:rPr>
              <a:t>Update </a:t>
            </a:r>
            <a:r>
              <a:rPr lang="en-US" sz="1600" dirty="0">
                <a:solidFill>
                  <a:schemeClr val="tx1"/>
                </a:solidFill>
              </a:rPr>
              <a:t>cache as well as memory</a:t>
            </a:r>
          </a:p>
          <a:p>
            <a:pPr marL="292608" lvl="1" indent="0">
              <a:buNone/>
            </a:pPr>
            <a:r>
              <a:rPr lang="en-US" sz="1400" b="1" i="1" dirty="0"/>
              <a:t>Advantage:</a:t>
            </a:r>
            <a:r>
              <a:rPr lang="en-US" sz="1600" dirty="0"/>
              <a:t/>
            </a:r>
            <a:br>
              <a:rPr lang="en-US" sz="1600" dirty="0"/>
            </a:br>
            <a:r>
              <a:rPr lang="en-US" sz="1400" dirty="0"/>
              <a:t> - read miss never results in writes to main memory</a:t>
            </a:r>
            <a:r>
              <a:rPr lang="en-US" sz="1600" dirty="0"/>
              <a:t/>
            </a:r>
            <a:br>
              <a:rPr lang="en-US" sz="1600" dirty="0"/>
            </a:br>
            <a:r>
              <a:rPr lang="en-US" sz="1400" dirty="0"/>
              <a:t> - easy to implement</a:t>
            </a:r>
            <a:r>
              <a:rPr lang="en-US" sz="1600" dirty="0"/>
              <a:t/>
            </a:r>
            <a:br>
              <a:rPr lang="en-US" sz="1600" dirty="0"/>
            </a:br>
            <a:r>
              <a:rPr lang="en-US" sz="1400" dirty="0"/>
              <a:t> - main memory always has the most current copy of the data (consistent)</a:t>
            </a:r>
            <a:r>
              <a:rPr lang="en-US" sz="1600" dirty="0"/>
              <a:t/>
            </a:r>
            <a:br>
              <a:rPr lang="en-US" sz="1600" dirty="0"/>
            </a:br>
            <a:r>
              <a:rPr lang="en-US" sz="1400" b="1" i="1" dirty="0"/>
              <a:t>Disadvantage:</a:t>
            </a:r>
            <a:r>
              <a:rPr lang="en-US" sz="1600" dirty="0"/>
              <a:t/>
            </a:r>
            <a:br>
              <a:rPr lang="en-US" sz="1600" dirty="0"/>
            </a:br>
            <a:r>
              <a:rPr lang="en-US" sz="1400" dirty="0"/>
              <a:t> - write is </a:t>
            </a:r>
            <a:r>
              <a:rPr lang="en-US" sz="1400" dirty="0" smtClean="0"/>
              <a:t>slower </a:t>
            </a:r>
            <a:r>
              <a:rPr lang="en-US" sz="1600" dirty="0"/>
              <a:t/>
            </a:r>
            <a:br>
              <a:rPr lang="en-US" sz="1600" dirty="0"/>
            </a:br>
            <a:r>
              <a:rPr lang="en-US" sz="1400" dirty="0"/>
              <a:t> - every write needs a main memory </a:t>
            </a:r>
            <a:r>
              <a:rPr lang="en-US" sz="1400" dirty="0" smtClean="0"/>
              <a:t>access</a:t>
            </a:r>
          </a:p>
          <a:p>
            <a:pPr marL="292608" lvl="1" indent="0">
              <a:buNone/>
            </a:pPr>
            <a:r>
              <a:rPr lang="en-US" sz="1600" dirty="0" smtClean="0">
                <a:solidFill>
                  <a:srgbClr val="7030A0"/>
                </a:solidFill>
              </a:rPr>
              <a:t>Example: Set bits = 3; Tag bits = 5; Offset bits =0; Address bits = 8</a:t>
            </a:r>
            <a:endParaRPr lang="en-US" sz="1600" dirty="0">
              <a:solidFill>
                <a:srgbClr val="7030A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232259194"/>
              </p:ext>
            </p:extLst>
          </p:nvPr>
        </p:nvGraphicFramePr>
        <p:xfrm>
          <a:off x="4165600"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10100</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729473789"/>
              </p:ext>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04377879"/>
              </p:ext>
            </p:extLst>
          </p:nvPr>
        </p:nvGraphicFramePr>
        <p:xfrm>
          <a:off x="411941" y="4707466"/>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 xmlns:a16="http://schemas.microsoft.com/office/drawing/2014/main" val="1382876023"/>
                    </a:ext>
                  </a:extLst>
                </a:gridCol>
              </a:tblGrid>
              <a:tr h="351328">
                <a:tc>
                  <a:txBody>
                    <a:bodyPr/>
                    <a:lstStyle/>
                    <a:p>
                      <a:r>
                        <a:rPr lang="en-US" dirty="0" smtClean="0"/>
                        <a:t>Processor</a:t>
                      </a:r>
                      <a:endParaRPr lang="en-US" dirty="0"/>
                    </a:p>
                  </a:txBody>
                  <a:tcPr/>
                </a:tc>
                <a:extLst>
                  <a:ext uri="{0D108BD9-81ED-4DB2-BD59-A6C34878D82A}">
                    <a16:rowId xmlns="" xmlns:a16="http://schemas.microsoft.com/office/drawing/2014/main" val="1334566635"/>
                  </a:ext>
                </a:extLst>
              </a:tr>
              <a:tr h="351328">
                <a:tc>
                  <a:txBody>
                    <a:bodyPr/>
                    <a:lstStyle/>
                    <a:p>
                      <a:r>
                        <a:rPr lang="en-US" dirty="0" smtClean="0">
                          <a:solidFill>
                            <a:srgbClr val="FF0000"/>
                          </a:solidFill>
                        </a:rPr>
                        <a:t>MOV [A4], 68</a:t>
                      </a:r>
                    </a:p>
                    <a:p>
                      <a:r>
                        <a:rPr lang="en-US" dirty="0" smtClean="0"/>
                        <a:t>MOV AL, [0C]</a:t>
                      </a:r>
                      <a:endParaRPr lang="en-US" dirty="0"/>
                    </a:p>
                  </a:txBody>
                  <a:tcPr/>
                </a:tc>
                <a:extLst>
                  <a:ext uri="{0D108BD9-81ED-4DB2-BD59-A6C34878D82A}">
                    <a16:rowId xmlns="" xmlns:a16="http://schemas.microsoft.com/office/drawing/2014/main" val="1325533494"/>
                  </a:ext>
                </a:extLst>
              </a:tr>
            </a:tbl>
          </a:graphicData>
        </a:graphic>
      </p:graphicFrame>
      <p:cxnSp>
        <p:nvCxnSpPr>
          <p:cNvPr id="11" name="Straight Arrow Connector 10"/>
          <p:cNvCxnSpPr>
            <a:endCxn id="4" idx="1"/>
          </p:cNvCxnSpPr>
          <p:nvPr/>
        </p:nvCxnSpPr>
        <p:spPr>
          <a:xfrm>
            <a:off x="2142836" y="5210386"/>
            <a:ext cx="20227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837409" y="4936004"/>
            <a:ext cx="685339" cy="646331"/>
          </a:xfrm>
          <a:prstGeom prst="rect">
            <a:avLst/>
          </a:prstGeom>
          <a:noFill/>
        </p:spPr>
        <p:txBody>
          <a:bodyPr wrap="square" rtlCol="0">
            <a:spAutoFit/>
          </a:bodyPr>
          <a:lstStyle/>
          <a:p>
            <a:r>
              <a:rPr lang="en-US" dirty="0" smtClean="0"/>
              <a:t>Hit </a:t>
            </a:r>
          </a:p>
          <a:p>
            <a:endParaRPr lang="en-US" dirty="0"/>
          </a:p>
        </p:txBody>
      </p:sp>
      <p:sp>
        <p:nvSpPr>
          <p:cNvPr id="13" name="TextBox 12"/>
          <p:cNvSpPr txBox="1"/>
          <p:nvPr/>
        </p:nvSpPr>
        <p:spPr>
          <a:xfrm>
            <a:off x="4230255" y="6391564"/>
            <a:ext cx="3380509" cy="369332"/>
          </a:xfrm>
          <a:prstGeom prst="rect">
            <a:avLst/>
          </a:prstGeom>
          <a:noFill/>
        </p:spPr>
        <p:txBody>
          <a:bodyPr wrap="square" rtlCol="0">
            <a:spAutoFit/>
          </a:bodyPr>
          <a:lstStyle/>
          <a:p>
            <a:r>
              <a:rPr lang="en-US" b="1" dirty="0" smtClean="0">
                <a:solidFill>
                  <a:schemeClr val="bg1"/>
                </a:solidFill>
              </a:rPr>
              <a:t>Update both cache and memory</a:t>
            </a:r>
            <a:endParaRPr lang="en-US" b="1" dirty="0">
              <a:solidFill>
                <a:schemeClr val="bg1"/>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2007449822"/>
              </p:ext>
            </p:extLst>
          </p:nvPr>
        </p:nvGraphicFramePr>
        <p:xfrm>
          <a:off x="4165600" y="4468859"/>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10100</a:t>
                      </a:r>
                      <a:endParaRPr lang="en-US" dirty="0"/>
                    </a:p>
                  </a:txBody>
                  <a:tcPr/>
                </a:tc>
                <a:tc>
                  <a:txBody>
                    <a:bodyPr/>
                    <a:lstStyle/>
                    <a:p>
                      <a:r>
                        <a:rPr lang="en-US" b="1"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138354912"/>
              </p:ext>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b="1" baseline="0"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spTree>
    <p:extLst>
      <p:ext uri="{BB962C8B-B14F-4D97-AF65-F5344CB8AC3E}">
        <p14:creationId xmlns:p14="http://schemas.microsoft.com/office/powerpoint/2010/main" val="389796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Through</a:t>
            </a:r>
          </a:p>
        </p:txBody>
      </p:sp>
      <p:sp>
        <p:nvSpPr>
          <p:cNvPr id="3" name="Content Placeholder 2"/>
          <p:cNvSpPr>
            <a:spLocks noGrp="1"/>
          </p:cNvSpPr>
          <p:nvPr>
            <p:ph idx="1"/>
          </p:nvPr>
        </p:nvSpPr>
        <p:spPr/>
        <p:txBody>
          <a:bodyPr>
            <a:normAutofit/>
          </a:bodyPr>
          <a:lstStyle/>
          <a:p>
            <a:pPr marL="292608" lvl="1" indent="0">
              <a:buNone/>
            </a:pPr>
            <a:r>
              <a:rPr lang="en-US" sz="1600" dirty="0" smtClean="0">
                <a:solidFill>
                  <a:schemeClr val="tx1"/>
                </a:solidFill>
              </a:rPr>
              <a:t>Update </a:t>
            </a:r>
            <a:r>
              <a:rPr lang="en-US" sz="1600" dirty="0">
                <a:solidFill>
                  <a:schemeClr val="tx1"/>
                </a:solidFill>
              </a:rPr>
              <a:t>cache as well as memory</a:t>
            </a:r>
          </a:p>
          <a:p>
            <a:pPr marL="292608" lvl="1" indent="0">
              <a:buNone/>
            </a:pPr>
            <a:r>
              <a:rPr lang="en-US" sz="1400" b="1" i="1" dirty="0"/>
              <a:t>Advantage:</a:t>
            </a:r>
            <a:r>
              <a:rPr lang="en-US" sz="1600" dirty="0"/>
              <a:t/>
            </a:r>
            <a:br>
              <a:rPr lang="en-US" sz="1600" dirty="0"/>
            </a:br>
            <a:r>
              <a:rPr lang="en-US" sz="1400" dirty="0"/>
              <a:t> - </a:t>
            </a:r>
            <a:r>
              <a:rPr lang="en-US" sz="1400" b="1" dirty="0">
                <a:solidFill>
                  <a:srgbClr val="FF0000"/>
                </a:solidFill>
              </a:rPr>
              <a:t>read miss never results in writes to main memory</a:t>
            </a:r>
            <a:r>
              <a:rPr lang="en-US" sz="1600" dirty="0"/>
              <a:t/>
            </a:r>
            <a:br>
              <a:rPr lang="en-US" sz="1600" dirty="0"/>
            </a:br>
            <a:r>
              <a:rPr lang="en-US" sz="1400" dirty="0"/>
              <a:t> - easy to implement</a:t>
            </a:r>
            <a:r>
              <a:rPr lang="en-US" sz="1600" dirty="0"/>
              <a:t/>
            </a:r>
            <a:br>
              <a:rPr lang="en-US" sz="1600" dirty="0"/>
            </a:br>
            <a:r>
              <a:rPr lang="en-US" sz="1400" dirty="0"/>
              <a:t> - </a:t>
            </a:r>
            <a:r>
              <a:rPr lang="en-US" sz="1400" b="1" dirty="0">
                <a:solidFill>
                  <a:srgbClr val="FF0000"/>
                </a:solidFill>
              </a:rPr>
              <a:t>main memory always has the most current copy of the data (consistent)</a:t>
            </a:r>
            <a:r>
              <a:rPr lang="en-US" sz="1600" dirty="0">
                <a:solidFill>
                  <a:srgbClr val="FF0000"/>
                </a:solidFill>
              </a:rPr>
              <a:t/>
            </a:r>
            <a:br>
              <a:rPr lang="en-US" sz="1600" dirty="0">
                <a:solidFill>
                  <a:srgbClr val="FF0000"/>
                </a:solidFill>
              </a:rPr>
            </a:br>
            <a:r>
              <a:rPr lang="en-US" sz="1400" b="1" i="1" dirty="0"/>
              <a:t>Disadvantage:</a:t>
            </a:r>
            <a:r>
              <a:rPr lang="en-US" sz="1600" dirty="0"/>
              <a:t/>
            </a:r>
            <a:br>
              <a:rPr lang="en-US" sz="1600" dirty="0"/>
            </a:br>
            <a:r>
              <a:rPr lang="en-US" sz="1400" dirty="0"/>
              <a:t> - write is </a:t>
            </a:r>
            <a:r>
              <a:rPr lang="en-US" sz="1400" dirty="0" smtClean="0"/>
              <a:t>slower </a:t>
            </a:r>
            <a:r>
              <a:rPr lang="en-US" sz="1600" dirty="0"/>
              <a:t/>
            </a:r>
            <a:br>
              <a:rPr lang="en-US" sz="1600" dirty="0"/>
            </a:br>
            <a:r>
              <a:rPr lang="en-US" sz="1400" dirty="0"/>
              <a:t> - every write needs a main memory </a:t>
            </a:r>
            <a:r>
              <a:rPr lang="en-US" sz="1400" dirty="0" smtClean="0"/>
              <a:t>access</a:t>
            </a:r>
          </a:p>
          <a:p>
            <a:pPr marL="292608" lvl="1" indent="0">
              <a:buNone/>
            </a:pPr>
            <a:r>
              <a:rPr lang="en-US" sz="1600" dirty="0" smtClean="0">
                <a:solidFill>
                  <a:srgbClr val="7030A0"/>
                </a:solidFill>
              </a:rPr>
              <a:t>Example: Set bits = 3; Tag bits = 5; Offset bits =0; Address bits = 8</a:t>
            </a:r>
            <a:endParaRPr lang="en-US" sz="1600" dirty="0">
              <a:solidFill>
                <a:srgbClr val="7030A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129943022"/>
              </p:ext>
            </p:extLst>
          </p:nvPr>
        </p:nvGraphicFramePr>
        <p:xfrm>
          <a:off x="4165600"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10100</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graphicFrame>
        <p:nvGraphicFramePr>
          <p:cNvPr id="5" name="Table 4"/>
          <p:cNvGraphicFramePr>
            <a:graphicFrameLocks noGrp="1"/>
          </p:cNvGraphicFramePr>
          <p:nvPr>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A2</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A3</a:t>
                      </a:r>
                      <a:endParaRPr lang="en-US" dirty="0"/>
                    </a:p>
                  </a:txBody>
                  <a:tcPr/>
                </a:tc>
                <a:tc>
                  <a:txBody>
                    <a:bodyPr/>
                    <a:lstStyle/>
                    <a:p>
                      <a:r>
                        <a:rPr lang="en-US" dirty="0" smtClean="0"/>
                        <a:t>FF</a:t>
                      </a:r>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73</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79283545"/>
              </p:ext>
            </p:extLst>
          </p:nvPr>
        </p:nvGraphicFramePr>
        <p:xfrm>
          <a:off x="411941" y="4707466"/>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 xmlns:a16="http://schemas.microsoft.com/office/drawing/2014/main" val="1382876023"/>
                    </a:ext>
                  </a:extLst>
                </a:gridCol>
              </a:tblGrid>
              <a:tr h="351328">
                <a:tc>
                  <a:txBody>
                    <a:bodyPr/>
                    <a:lstStyle/>
                    <a:p>
                      <a:r>
                        <a:rPr lang="en-US" dirty="0" smtClean="0"/>
                        <a:t>Processor</a:t>
                      </a:r>
                      <a:endParaRPr lang="en-US" dirty="0"/>
                    </a:p>
                  </a:txBody>
                  <a:tcPr/>
                </a:tc>
                <a:extLst>
                  <a:ext uri="{0D108BD9-81ED-4DB2-BD59-A6C34878D82A}">
                    <a16:rowId xmlns="" xmlns:a16="http://schemas.microsoft.com/office/drawing/2014/main" val="1334566635"/>
                  </a:ext>
                </a:extLst>
              </a:tr>
              <a:tr h="351328">
                <a:tc>
                  <a:txBody>
                    <a:bodyPr/>
                    <a:lstStyle/>
                    <a:p>
                      <a:r>
                        <a:rPr lang="en-US" dirty="0" smtClean="0">
                          <a:solidFill>
                            <a:schemeClr val="tx1"/>
                          </a:solidFill>
                        </a:rPr>
                        <a:t>MOV [A4], 68</a:t>
                      </a:r>
                    </a:p>
                    <a:p>
                      <a:r>
                        <a:rPr lang="en-US" b="1" dirty="0" smtClean="0">
                          <a:solidFill>
                            <a:srgbClr val="FF0000"/>
                          </a:solidFill>
                        </a:rPr>
                        <a:t>MOV AL, [0C]</a:t>
                      </a:r>
                      <a:endParaRPr lang="en-US" b="1" dirty="0">
                        <a:solidFill>
                          <a:srgbClr val="FF0000"/>
                        </a:solidFill>
                      </a:endParaRPr>
                    </a:p>
                  </a:txBody>
                  <a:tcPr/>
                </a:tc>
                <a:extLst>
                  <a:ext uri="{0D108BD9-81ED-4DB2-BD59-A6C34878D82A}">
                    <a16:rowId xmlns="" xmlns:a16="http://schemas.microsoft.com/office/drawing/2014/main" val="1325533494"/>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204889976"/>
              </p:ext>
            </p:extLst>
          </p:nvPr>
        </p:nvGraphicFramePr>
        <p:xfrm>
          <a:off x="4174834"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10100</a:t>
                      </a:r>
                      <a:endParaRPr lang="en-US" dirty="0"/>
                    </a:p>
                  </a:txBody>
                  <a:tcPr/>
                </a:tc>
                <a:tc>
                  <a:txBody>
                    <a:bodyPr/>
                    <a:lstStyle/>
                    <a:p>
                      <a:r>
                        <a:rPr lang="en-US" b="1"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757548204"/>
              </p:ext>
            </p:extLst>
          </p:nvPr>
        </p:nvGraphicFramePr>
        <p:xfrm>
          <a:off x="8624913"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b="0" baseline="0" dirty="0" smtClean="0">
                          <a:solidFill>
                            <a:schemeClr val="tx1"/>
                          </a:solidFill>
                        </a:rPr>
                        <a:t>68</a:t>
                      </a:r>
                      <a:endParaRPr lang="en-US" b="0" dirty="0">
                        <a:solidFill>
                          <a:schemeClr val="tx1"/>
                        </a:solidFill>
                      </a:endParaRPr>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cxnSp>
        <p:nvCxnSpPr>
          <p:cNvPr id="16" name="Straight Arrow Connector 15"/>
          <p:cNvCxnSpPr/>
          <p:nvPr/>
        </p:nvCxnSpPr>
        <p:spPr>
          <a:xfrm>
            <a:off x="2110508" y="5533551"/>
            <a:ext cx="20227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805081" y="5259169"/>
            <a:ext cx="685339" cy="646331"/>
          </a:xfrm>
          <a:prstGeom prst="rect">
            <a:avLst/>
          </a:prstGeom>
          <a:noFill/>
        </p:spPr>
        <p:txBody>
          <a:bodyPr wrap="square" rtlCol="0">
            <a:spAutoFit/>
          </a:bodyPr>
          <a:lstStyle/>
          <a:p>
            <a:r>
              <a:rPr lang="en-US" dirty="0" smtClean="0"/>
              <a:t>Miss </a:t>
            </a:r>
          </a:p>
          <a:p>
            <a:endParaRPr lang="en-US" dirty="0"/>
          </a:p>
        </p:txBody>
      </p:sp>
      <p:graphicFrame>
        <p:nvGraphicFramePr>
          <p:cNvPr id="18" name="Table 17"/>
          <p:cNvGraphicFramePr>
            <a:graphicFrameLocks noGrp="1"/>
          </p:cNvGraphicFramePr>
          <p:nvPr>
            <p:extLst>
              <p:ext uri="{D42A27DB-BD31-4B8C-83A1-F6EECF244321}">
                <p14:modId xmlns:p14="http://schemas.microsoft.com/office/powerpoint/2010/main" val="919758668"/>
              </p:ext>
            </p:extLst>
          </p:nvPr>
        </p:nvGraphicFramePr>
        <p:xfrm>
          <a:off x="4184068"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smtClean="0"/>
                        <a:t>00001</a:t>
                      </a:r>
                      <a:endParaRPr lang="en-US" dirty="0"/>
                    </a:p>
                  </a:txBody>
                  <a:tcPr/>
                </a:tc>
                <a:tc>
                  <a:txBody>
                    <a:bodyPr/>
                    <a:lstStyle/>
                    <a:p>
                      <a:r>
                        <a:rPr lang="en-US" b="0" dirty="0" smtClean="0">
                          <a:solidFill>
                            <a:schemeClr val="tx1"/>
                          </a:solidFill>
                        </a:rPr>
                        <a:t>99</a:t>
                      </a:r>
                      <a:endParaRPr lang="en-US" b="0" dirty="0">
                        <a:solidFill>
                          <a:schemeClr val="tx1"/>
                        </a:solidFill>
                      </a:endParaRPr>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spTree>
    <p:extLst>
      <p:ext uri="{BB962C8B-B14F-4D97-AF65-F5344CB8AC3E}">
        <p14:creationId xmlns:p14="http://schemas.microsoft.com/office/powerpoint/2010/main" val="99106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Back</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smtClean="0">
                <a:solidFill>
                  <a:schemeClr val="tx1"/>
                </a:solidFill>
              </a:rPr>
              <a:t>Update </a:t>
            </a:r>
            <a:r>
              <a:rPr lang="en-US" sz="1600" dirty="0">
                <a:solidFill>
                  <a:schemeClr val="tx1"/>
                </a:solidFill>
              </a:rPr>
              <a:t>cache only. Update memory only in case of data eviction and a dirty bit is used. </a:t>
            </a:r>
            <a:r>
              <a:rPr lang="en-US" sz="1400" dirty="0"/>
              <a:t> </a:t>
            </a:r>
            <a:r>
              <a:rPr lang="en-US" sz="1600" dirty="0"/>
              <a:t>This status bit indicates whether the block is dirty (modified while in the cache) or clean (not modified). If it is clean the block is not written on a miss.</a:t>
            </a:r>
            <a:endParaRPr lang="en-US" sz="1400" dirty="0"/>
          </a:p>
          <a:p>
            <a:pPr marL="0" indent="0">
              <a:buNone/>
            </a:pPr>
            <a:r>
              <a:rPr lang="en-US" sz="1400" b="1" i="1" dirty="0"/>
              <a:t>Advantage:</a:t>
            </a:r>
            <a:r>
              <a:rPr lang="en-US" sz="1600" dirty="0"/>
              <a:t/>
            </a:r>
            <a:br>
              <a:rPr lang="en-US" sz="1600" dirty="0"/>
            </a:br>
            <a:r>
              <a:rPr lang="en-US" sz="1400" dirty="0"/>
              <a:t> - writes occur at the speed of the cache memory</a:t>
            </a:r>
            <a:r>
              <a:rPr lang="en-US" sz="1600" dirty="0"/>
              <a:t/>
            </a:r>
            <a:br>
              <a:rPr lang="en-US" sz="1600" dirty="0"/>
            </a:br>
            <a:r>
              <a:rPr lang="en-US" sz="1400" dirty="0"/>
              <a:t> - multiple writes within a block require only one write to main memory</a:t>
            </a:r>
            <a:r>
              <a:rPr lang="en-US" sz="1600" dirty="0"/>
              <a:t/>
            </a:r>
            <a:br>
              <a:rPr lang="en-US" sz="1600" dirty="0"/>
            </a:br>
            <a:r>
              <a:rPr lang="en-US" sz="1400" dirty="0"/>
              <a:t> - as a result uses less memory bandwidth</a:t>
            </a:r>
            <a:r>
              <a:rPr lang="en-US" sz="1600" dirty="0"/>
              <a:t/>
            </a:r>
            <a:br>
              <a:rPr lang="en-US" sz="1600" dirty="0"/>
            </a:br>
            <a:r>
              <a:rPr lang="en-US" sz="1400" b="1" i="1" dirty="0"/>
              <a:t>Disadvantage:</a:t>
            </a:r>
            <a:r>
              <a:rPr lang="en-US" sz="1600" dirty="0"/>
              <a:t/>
            </a:r>
            <a:br>
              <a:rPr lang="en-US" sz="1600" dirty="0"/>
            </a:br>
            <a:r>
              <a:rPr lang="en-US" sz="1400" dirty="0"/>
              <a:t>  - harder to implement</a:t>
            </a:r>
            <a:r>
              <a:rPr lang="en-US" sz="1600" dirty="0"/>
              <a:t/>
            </a:r>
            <a:br>
              <a:rPr lang="en-US" sz="1600" dirty="0"/>
            </a:br>
            <a:r>
              <a:rPr lang="en-US" sz="1400" dirty="0"/>
              <a:t>  - main memory is not always consistent with cache</a:t>
            </a:r>
            <a:r>
              <a:rPr lang="en-US" sz="1600" dirty="0"/>
              <a:t/>
            </a:r>
            <a:br>
              <a:rPr lang="en-US" sz="1600" dirty="0"/>
            </a:br>
            <a:r>
              <a:rPr lang="en-US" sz="1400" dirty="0"/>
              <a:t>  - reads that result in replacement may cause writes of dirty blocks to main memory</a:t>
            </a:r>
            <a:endParaRPr lang="en-US" sz="1600"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67602330"/>
              </p:ext>
            </p:extLst>
          </p:nvPr>
        </p:nvGraphicFramePr>
        <p:xfrm>
          <a:off x="8569497" y="4270124"/>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96737411"/>
              </p:ext>
            </p:extLst>
          </p:nvPr>
        </p:nvGraphicFramePr>
        <p:xfrm>
          <a:off x="365759" y="4864484"/>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 xmlns:a16="http://schemas.microsoft.com/office/drawing/2014/main" val="1382876023"/>
                    </a:ext>
                  </a:extLst>
                </a:gridCol>
              </a:tblGrid>
              <a:tr h="351328">
                <a:tc>
                  <a:txBody>
                    <a:bodyPr/>
                    <a:lstStyle/>
                    <a:p>
                      <a:r>
                        <a:rPr lang="en-US" dirty="0" smtClean="0"/>
                        <a:t>Processor</a:t>
                      </a:r>
                      <a:endParaRPr lang="en-US" dirty="0"/>
                    </a:p>
                  </a:txBody>
                  <a:tcPr/>
                </a:tc>
                <a:extLst>
                  <a:ext uri="{0D108BD9-81ED-4DB2-BD59-A6C34878D82A}">
                    <a16:rowId xmlns="" xmlns:a16="http://schemas.microsoft.com/office/drawing/2014/main" val="1334566635"/>
                  </a:ext>
                </a:extLst>
              </a:tr>
              <a:tr h="351328">
                <a:tc>
                  <a:txBody>
                    <a:bodyPr/>
                    <a:lstStyle/>
                    <a:p>
                      <a:r>
                        <a:rPr lang="en-US" dirty="0" smtClean="0">
                          <a:solidFill>
                            <a:srgbClr val="FF0000"/>
                          </a:solidFill>
                        </a:rPr>
                        <a:t>MOV [A4], 68</a:t>
                      </a:r>
                    </a:p>
                    <a:p>
                      <a:r>
                        <a:rPr lang="en-US" dirty="0" smtClean="0"/>
                        <a:t>MOV AL, [0C]</a:t>
                      </a:r>
                      <a:endParaRPr lang="en-US" dirty="0"/>
                    </a:p>
                  </a:txBody>
                  <a:tcPr/>
                </a:tc>
                <a:extLst>
                  <a:ext uri="{0D108BD9-81ED-4DB2-BD59-A6C34878D82A}">
                    <a16:rowId xmlns="" xmlns:a16="http://schemas.microsoft.com/office/drawing/2014/main" val="1325533494"/>
                  </a:ext>
                </a:extLst>
              </a:tr>
            </a:tbl>
          </a:graphicData>
        </a:graphic>
      </p:graphicFrame>
      <p:cxnSp>
        <p:nvCxnSpPr>
          <p:cNvPr id="7" name="Straight Arrow Connector 6"/>
          <p:cNvCxnSpPr/>
          <p:nvPr/>
        </p:nvCxnSpPr>
        <p:spPr>
          <a:xfrm>
            <a:off x="2096654" y="5367404"/>
            <a:ext cx="20227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791227" y="5093022"/>
            <a:ext cx="685339" cy="646331"/>
          </a:xfrm>
          <a:prstGeom prst="rect">
            <a:avLst/>
          </a:prstGeom>
          <a:noFill/>
        </p:spPr>
        <p:txBody>
          <a:bodyPr wrap="square" rtlCol="0">
            <a:spAutoFit/>
          </a:bodyPr>
          <a:lstStyle/>
          <a:p>
            <a:r>
              <a:rPr lang="en-US" dirty="0" smtClean="0"/>
              <a:t>Hit </a:t>
            </a:r>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506009604"/>
              </p:ext>
            </p:extLst>
          </p:nvPr>
        </p:nvGraphicFramePr>
        <p:xfrm>
          <a:off x="4119419" y="4498724"/>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 xmlns:a16="http://schemas.microsoft.com/office/drawing/2014/main" val="3802157089"/>
                    </a:ext>
                  </a:extLst>
                </a:gridCol>
                <a:gridCol w="663240">
                  <a:extLst>
                    <a:ext uri="{9D8B030D-6E8A-4147-A177-3AD203B41FA5}">
                      <a16:colId xmlns="" xmlns:a16="http://schemas.microsoft.com/office/drawing/2014/main" val="2673251631"/>
                    </a:ext>
                  </a:extLst>
                </a:gridCol>
                <a:gridCol w="1478633">
                  <a:extLst>
                    <a:ext uri="{9D8B030D-6E8A-4147-A177-3AD203B41FA5}">
                      <a16:colId xmlns="" xmlns:a16="http://schemas.microsoft.com/office/drawing/2014/main" val="1195665480"/>
                    </a:ext>
                  </a:extLst>
                </a:gridCol>
                <a:gridCol w="701150">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Dirty bit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0</a:t>
                      </a:r>
                      <a:endParaRPr lang="en-US" dirty="0"/>
                    </a:p>
                  </a:txBody>
                  <a:tcPr/>
                </a:tc>
                <a:tc>
                  <a:txBody>
                    <a:bodyPr/>
                    <a:lstStyle/>
                    <a:p>
                      <a:r>
                        <a:rPr lang="en-US" dirty="0" smtClean="0"/>
                        <a:t>10100</a:t>
                      </a:r>
                      <a:endParaRPr lang="en-US" dirty="0"/>
                    </a:p>
                  </a:txBody>
                  <a:tcPr/>
                </a:tc>
                <a:tc>
                  <a:txBody>
                    <a:bodyPr/>
                    <a:lstStyle/>
                    <a:p>
                      <a:r>
                        <a:rPr lang="en-US" b="0" dirty="0" smtClean="0">
                          <a:solidFill>
                            <a:schemeClr val="tx1"/>
                          </a:solidFill>
                        </a:rPr>
                        <a:t>45</a:t>
                      </a:r>
                      <a:endParaRPr lang="en-US" b="0" dirty="0">
                        <a:solidFill>
                          <a:schemeClr val="tx1"/>
                        </a:solidFill>
                      </a:endParaRPr>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sp>
        <p:nvSpPr>
          <p:cNvPr id="11" name="TextBox 10"/>
          <p:cNvSpPr txBox="1"/>
          <p:nvPr/>
        </p:nvSpPr>
        <p:spPr>
          <a:xfrm>
            <a:off x="3856181" y="6372014"/>
            <a:ext cx="3971637" cy="369332"/>
          </a:xfrm>
          <a:prstGeom prst="rect">
            <a:avLst/>
          </a:prstGeom>
          <a:noFill/>
        </p:spPr>
        <p:txBody>
          <a:bodyPr wrap="square" rtlCol="0">
            <a:spAutoFit/>
          </a:bodyPr>
          <a:lstStyle/>
          <a:p>
            <a:r>
              <a:rPr lang="en-US" b="1" dirty="0" smtClean="0">
                <a:solidFill>
                  <a:schemeClr val="bg1"/>
                </a:solidFill>
              </a:rPr>
              <a:t>Update only cache and set dirty bit to 1</a:t>
            </a:r>
            <a:endParaRPr lang="en-US" b="1" dirty="0">
              <a:solidFill>
                <a:schemeClr val="bg1"/>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3996801745"/>
              </p:ext>
            </p:extLst>
          </p:nvPr>
        </p:nvGraphicFramePr>
        <p:xfrm>
          <a:off x="4119416" y="4498724"/>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 xmlns:a16="http://schemas.microsoft.com/office/drawing/2014/main" val="3802157089"/>
                    </a:ext>
                  </a:extLst>
                </a:gridCol>
                <a:gridCol w="663240">
                  <a:extLst>
                    <a:ext uri="{9D8B030D-6E8A-4147-A177-3AD203B41FA5}">
                      <a16:colId xmlns="" xmlns:a16="http://schemas.microsoft.com/office/drawing/2014/main" val="2673251631"/>
                    </a:ext>
                  </a:extLst>
                </a:gridCol>
                <a:gridCol w="1478633">
                  <a:extLst>
                    <a:ext uri="{9D8B030D-6E8A-4147-A177-3AD203B41FA5}">
                      <a16:colId xmlns="" xmlns:a16="http://schemas.microsoft.com/office/drawing/2014/main" val="1195665480"/>
                    </a:ext>
                  </a:extLst>
                </a:gridCol>
                <a:gridCol w="701150">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Dirty bit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a:t>
                      </a:r>
                      <a:endParaRPr lang="en-US" dirty="0"/>
                    </a:p>
                  </a:txBody>
                  <a:tcPr/>
                </a:tc>
                <a:tc>
                  <a:txBody>
                    <a:bodyPr/>
                    <a:lstStyle/>
                    <a:p>
                      <a:r>
                        <a:rPr lang="en-US" dirty="0" smtClean="0"/>
                        <a:t>10100</a:t>
                      </a:r>
                      <a:endParaRPr lang="en-US" dirty="0"/>
                    </a:p>
                  </a:txBody>
                  <a:tcPr/>
                </a:tc>
                <a:tc>
                  <a:txBody>
                    <a:bodyPr/>
                    <a:lstStyle/>
                    <a:p>
                      <a:r>
                        <a:rPr lang="en-US" b="1"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spTree>
    <p:extLst>
      <p:ext uri="{BB962C8B-B14F-4D97-AF65-F5344CB8AC3E}">
        <p14:creationId xmlns:p14="http://schemas.microsoft.com/office/powerpoint/2010/main" val="387170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Back</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smtClean="0">
                <a:solidFill>
                  <a:schemeClr val="tx1"/>
                </a:solidFill>
              </a:rPr>
              <a:t>Update </a:t>
            </a:r>
            <a:r>
              <a:rPr lang="en-US" sz="1600" dirty="0">
                <a:solidFill>
                  <a:schemeClr val="tx1"/>
                </a:solidFill>
              </a:rPr>
              <a:t>cache only. Update memory only in case of data eviction and a dirty bit is used. </a:t>
            </a:r>
            <a:r>
              <a:rPr lang="en-US" sz="1400" dirty="0"/>
              <a:t> </a:t>
            </a:r>
            <a:r>
              <a:rPr lang="en-US" sz="1600" dirty="0"/>
              <a:t>This status bit indicates whether the block is dirty (modified while in the cache) or clean (not modified). If it is clean the block is not written on a miss.</a:t>
            </a:r>
            <a:endParaRPr lang="en-US" sz="1400" dirty="0"/>
          </a:p>
          <a:p>
            <a:pPr marL="0" indent="0">
              <a:buNone/>
            </a:pPr>
            <a:r>
              <a:rPr lang="en-US" sz="1400" b="1" i="1" dirty="0"/>
              <a:t>Advantage:</a:t>
            </a:r>
            <a:r>
              <a:rPr lang="en-US" sz="1600" dirty="0"/>
              <a:t/>
            </a:r>
            <a:br>
              <a:rPr lang="en-US" sz="1600" dirty="0"/>
            </a:br>
            <a:r>
              <a:rPr lang="en-US" sz="1400" dirty="0"/>
              <a:t> - writes occur at the speed of the cache memory</a:t>
            </a:r>
            <a:r>
              <a:rPr lang="en-US" sz="1600" dirty="0"/>
              <a:t/>
            </a:r>
            <a:br>
              <a:rPr lang="en-US" sz="1600" dirty="0"/>
            </a:br>
            <a:r>
              <a:rPr lang="en-US" sz="1400" dirty="0"/>
              <a:t> - multiple writes within a block require only one write to main memory</a:t>
            </a:r>
            <a:r>
              <a:rPr lang="en-US" sz="1600" dirty="0"/>
              <a:t/>
            </a:r>
            <a:br>
              <a:rPr lang="en-US" sz="1600" dirty="0"/>
            </a:br>
            <a:r>
              <a:rPr lang="en-US" sz="1400" dirty="0"/>
              <a:t> - as a result uses less memory bandwidth</a:t>
            </a:r>
            <a:r>
              <a:rPr lang="en-US" sz="1600" dirty="0"/>
              <a:t/>
            </a:r>
            <a:br>
              <a:rPr lang="en-US" sz="1600" dirty="0"/>
            </a:br>
            <a:r>
              <a:rPr lang="en-US" sz="1400" b="1" i="1" dirty="0"/>
              <a:t>Disadvantage:</a:t>
            </a:r>
            <a:r>
              <a:rPr lang="en-US" sz="1600" dirty="0"/>
              <a:t/>
            </a:r>
            <a:br>
              <a:rPr lang="en-US" sz="1600" dirty="0"/>
            </a:br>
            <a:r>
              <a:rPr lang="en-US" sz="1400" dirty="0"/>
              <a:t>  - harder to implement</a:t>
            </a:r>
            <a:r>
              <a:rPr lang="en-US" sz="1600" dirty="0"/>
              <a:t/>
            </a:r>
            <a:br>
              <a:rPr lang="en-US" sz="1600" dirty="0"/>
            </a:br>
            <a:r>
              <a:rPr lang="en-US" sz="1400" dirty="0"/>
              <a:t>  </a:t>
            </a:r>
            <a:r>
              <a:rPr lang="en-US" sz="1400" b="1" dirty="0">
                <a:solidFill>
                  <a:srgbClr val="FF0000"/>
                </a:solidFill>
              </a:rPr>
              <a:t>-</a:t>
            </a:r>
            <a:r>
              <a:rPr lang="en-US" sz="1400" dirty="0"/>
              <a:t> </a:t>
            </a:r>
            <a:r>
              <a:rPr lang="en-US" sz="1400" b="1" dirty="0">
                <a:solidFill>
                  <a:srgbClr val="FF0000"/>
                </a:solidFill>
              </a:rPr>
              <a:t>main memory is not always consistent with cache</a:t>
            </a:r>
            <a:r>
              <a:rPr lang="en-US" sz="1600" b="1" dirty="0">
                <a:solidFill>
                  <a:srgbClr val="FF0000"/>
                </a:solidFill>
              </a:rPr>
              <a:t/>
            </a:r>
            <a:br>
              <a:rPr lang="en-US" sz="1600" b="1" dirty="0">
                <a:solidFill>
                  <a:srgbClr val="FF0000"/>
                </a:solidFill>
              </a:rPr>
            </a:br>
            <a:r>
              <a:rPr lang="en-US" sz="1400" b="1" dirty="0">
                <a:solidFill>
                  <a:srgbClr val="FF0000"/>
                </a:solidFill>
              </a:rPr>
              <a:t>  - reads that result in replacement may cause writes of dirty blocks to main memory</a:t>
            </a:r>
            <a:endParaRPr lang="en-US" sz="1600" b="1" dirty="0">
              <a:solidFill>
                <a:srgbClr val="FF0000"/>
              </a:solidFill>
            </a:endParaRPr>
          </a:p>
        </p:txBody>
      </p:sp>
      <p:graphicFrame>
        <p:nvGraphicFramePr>
          <p:cNvPr id="5" name="Table 4"/>
          <p:cNvGraphicFramePr>
            <a:graphicFrameLocks noGrp="1"/>
          </p:cNvGraphicFramePr>
          <p:nvPr>
            <p:extLst/>
          </p:nvPr>
        </p:nvGraphicFramePr>
        <p:xfrm>
          <a:off x="8569497" y="4270124"/>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15157611"/>
              </p:ext>
            </p:extLst>
          </p:nvPr>
        </p:nvGraphicFramePr>
        <p:xfrm>
          <a:off x="365759" y="4864484"/>
          <a:ext cx="1730895" cy="1005840"/>
        </p:xfrm>
        <a:graphic>
          <a:graphicData uri="http://schemas.openxmlformats.org/drawingml/2006/table">
            <a:tbl>
              <a:tblPr firstRow="1" bandRow="1">
                <a:tableStyleId>{5C22544A-7EE6-4342-B048-85BDC9FD1C3A}</a:tableStyleId>
              </a:tblPr>
              <a:tblGrid>
                <a:gridCol w="1730895">
                  <a:extLst>
                    <a:ext uri="{9D8B030D-6E8A-4147-A177-3AD203B41FA5}">
                      <a16:colId xmlns="" xmlns:a16="http://schemas.microsoft.com/office/drawing/2014/main" val="1382876023"/>
                    </a:ext>
                  </a:extLst>
                </a:gridCol>
              </a:tblGrid>
              <a:tr h="351328">
                <a:tc>
                  <a:txBody>
                    <a:bodyPr/>
                    <a:lstStyle/>
                    <a:p>
                      <a:r>
                        <a:rPr lang="en-US" dirty="0" smtClean="0"/>
                        <a:t>Processor</a:t>
                      </a:r>
                      <a:endParaRPr lang="en-US" dirty="0"/>
                    </a:p>
                  </a:txBody>
                  <a:tcPr/>
                </a:tc>
                <a:extLst>
                  <a:ext uri="{0D108BD9-81ED-4DB2-BD59-A6C34878D82A}">
                    <a16:rowId xmlns="" xmlns:a16="http://schemas.microsoft.com/office/drawing/2014/main" val="1334566635"/>
                  </a:ext>
                </a:extLst>
              </a:tr>
              <a:tr h="351328">
                <a:tc>
                  <a:txBody>
                    <a:bodyPr/>
                    <a:lstStyle/>
                    <a:p>
                      <a:r>
                        <a:rPr lang="en-US" dirty="0" smtClean="0">
                          <a:solidFill>
                            <a:schemeClr val="tx1"/>
                          </a:solidFill>
                        </a:rPr>
                        <a:t>MOV [A4], 68</a:t>
                      </a:r>
                    </a:p>
                    <a:p>
                      <a:r>
                        <a:rPr lang="en-US" b="1" dirty="0" smtClean="0">
                          <a:solidFill>
                            <a:srgbClr val="FF0000"/>
                          </a:solidFill>
                        </a:rPr>
                        <a:t>MOV AL, [0C]</a:t>
                      </a:r>
                      <a:endParaRPr lang="en-US" b="1" dirty="0">
                        <a:solidFill>
                          <a:srgbClr val="FF0000"/>
                        </a:solidFill>
                      </a:endParaRPr>
                    </a:p>
                  </a:txBody>
                  <a:tcPr/>
                </a:tc>
                <a:extLst>
                  <a:ext uri="{0D108BD9-81ED-4DB2-BD59-A6C34878D82A}">
                    <a16:rowId xmlns="" xmlns:a16="http://schemas.microsoft.com/office/drawing/2014/main" val="1325533494"/>
                  </a:ext>
                </a:extLst>
              </a:tr>
            </a:tbl>
          </a:graphicData>
        </a:graphic>
      </p:graphicFrame>
      <p:cxnSp>
        <p:nvCxnSpPr>
          <p:cNvPr id="7" name="Straight Arrow Connector 6"/>
          <p:cNvCxnSpPr/>
          <p:nvPr/>
        </p:nvCxnSpPr>
        <p:spPr>
          <a:xfrm>
            <a:off x="2161767" y="5644494"/>
            <a:ext cx="983443" cy="9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394758" y="5331137"/>
            <a:ext cx="685339" cy="646331"/>
          </a:xfrm>
          <a:prstGeom prst="rect">
            <a:avLst/>
          </a:prstGeom>
          <a:noFill/>
        </p:spPr>
        <p:txBody>
          <a:bodyPr wrap="square" rtlCol="0">
            <a:spAutoFit/>
          </a:bodyPr>
          <a:lstStyle/>
          <a:p>
            <a:r>
              <a:rPr lang="en-US" dirty="0" smtClean="0"/>
              <a:t>Miss</a:t>
            </a:r>
          </a:p>
          <a:p>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3499238024"/>
              </p:ext>
            </p:extLst>
          </p:nvPr>
        </p:nvGraphicFramePr>
        <p:xfrm>
          <a:off x="3145210" y="4498724"/>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 xmlns:a16="http://schemas.microsoft.com/office/drawing/2014/main" val="3802157089"/>
                    </a:ext>
                  </a:extLst>
                </a:gridCol>
                <a:gridCol w="663240">
                  <a:extLst>
                    <a:ext uri="{9D8B030D-6E8A-4147-A177-3AD203B41FA5}">
                      <a16:colId xmlns="" xmlns:a16="http://schemas.microsoft.com/office/drawing/2014/main" val="2673251631"/>
                    </a:ext>
                  </a:extLst>
                </a:gridCol>
                <a:gridCol w="1478633">
                  <a:extLst>
                    <a:ext uri="{9D8B030D-6E8A-4147-A177-3AD203B41FA5}">
                      <a16:colId xmlns="" xmlns:a16="http://schemas.microsoft.com/office/drawing/2014/main" val="1195665480"/>
                    </a:ext>
                  </a:extLst>
                </a:gridCol>
                <a:gridCol w="701150">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Dirty bit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a:t>
                      </a:r>
                      <a:endParaRPr lang="en-US" dirty="0"/>
                    </a:p>
                  </a:txBody>
                  <a:tcPr/>
                </a:tc>
                <a:tc>
                  <a:txBody>
                    <a:bodyPr/>
                    <a:lstStyle/>
                    <a:p>
                      <a:r>
                        <a:rPr lang="en-US" dirty="0" smtClean="0"/>
                        <a:t>10100</a:t>
                      </a:r>
                      <a:endParaRPr lang="en-US" dirty="0"/>
                    </a:p>
                  </a:txBody>
                  <a:tcPr/>
                </a:tc>
                <a:tc>
                  <a:txBody>
                    <a:bodyPr/>
                    <a:lstStyle/>
                    <a:p>
                      <a:r>
                        <a:rPr lang="en-US" b="1"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sp>
        <p:nvSpPr>
          <p:cNvPr id="13" name="Oval 12"/>
          <p:cNvSpPr/>
          <p:nvPr/>
        </p:nvSpPr>
        <p:spPr>
          <a:xfrm>
            <a:off x="3722255" y="5523345"/>
            <a:ext cx="341745" cy="3457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367049" y="6430740"/>
            <a:ext cx="5345084" cy="369332"/>
          </a:xfrm>
          <a:prstGeom prst="rect">
            <a:avLst/>
          </a:prstGeom>
          <a:noFill/>
        </p:spPr>
        <p:txBody>
          <a:bodyPr wrap="square" rtlCol="0">
            <a:spAutoFit/>
          </a:bodyPr>
          <a:lstStyle/>
          <a:p>
            <a:r>
              <a:rPr lang="en-US" b="1" dirty="0" smtClean="0">
                <a:solidFill>
                  <a:schemeClr val="bg1"/>
                </a:solidFill>
              </a:rPr>
              <a:t>As dirty bit is 1, before eviction update the memory</a:t>
            </a:r>
            <a:endParaRPr lang="en-US" b="1" dirty="0">
              <a:solidFill>
                <a:schemeClr val="bg1"/>
              </a:solidFill>
            </a:endParaRPr>
          </a:p>
        </p:txBody>
      </p:sp>
      <p:cxnSp>
        <p:nvCxnSpPr>
          <p:cNvPr id="15" name="Straight Arrow Connector 14"/>
          <p:cNvCxnSpPr/>
          <p:nvPr/>
        </p:nvCxnSpPr>
        <p:spPr>
          <a:xfrm>
            <a:off x="6592567" y="5251927"/>
            <a:ext cx="188537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825558" y="4938570"/>
            <a:ext cx="1652382" cy="584775"/>
          </a:xfrm>
          <a:prstGeom prst="rect">
            <a:avLst/>
          </a:prstGeom>
          <a:noFill/>
        </p:spPr>
        <p:txBody>
          <a:bodyPr wrap="square" rtlCol="0">
            <a:spAutoFit/>
          </a:bodyPr>
          <a:lstStyle/>
          <a:p>
            <a:r>
              <a:rPr lang="en-US" sz="1400" dirty="0" smtClean="0"/>
              <a:t>Update the memory</a:t>
            </a:r>
          </a:p>
          <a:p>
            <a:endParaRPr lang="en-US" dirty="0"/>
          </a:p>
        </p:txBody>
      </p:sp>
      <p:graphicFrame>
        <p:nvGraphicFramePr>
          <p:cNvPr id="18" name="Table 17"/>
          <p:cNvGraphicFramePr>
            <a:graphicFrameLocks noGrp="1"/>
          </p:cNvGraphicFramePr>
          <p:nvPr>
            <p:extLst>
              <p:ext uri="{D42A27DB-BD31-4B8C-83A1-F6EECF244321}">
                <p14:modId xmlns:p14="http://schemas.microsoft.com/office/powerpoint/2010/main" val="1319262116"/>
              </p:ext>
            </p:extLst>
          </p:nvPr>
        </p:nvGraphicFramePr>
        <p:xfrm>
          <a:off x="8586352" y="427766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b="1"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cxnSp>
        <p:nvCxnSpPr>
          <p:cNvPr id="22" name="Straight Arrow Connector 21"/>
          <p:cNvCxnSpPr/>
          <p:nvPr/>
        </p:nvCxnSpPr>
        <p:spPr>
          <a:xfrm flipH="1">
            <a:off x="6590375" y="5763491"/>
            <a:ext cx="1979122" cy="9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709062" y="5760147"/>
            <a:ext cx="1652382" cy="307777"/>
          </a:xfrm>
          <a:prstGeom prst="rect">
            <a:avLst/>
          </a:prstGeom>
          <a:noFill/>
        </p:spPr>
        <p:txBody>
          <a:bodyPr wrap="square" rtlCol="0">
            <a:spAutoFit/>
          </a:bodyPr>
          <a:lstStyle/>
          <a:p>
            <a:r>
              <a:rPr lang="en-US" sz="1400" dirty="0" smtClean="0"/>
              <a:t>Place [0C] in cache</a:t>
            </a:r>
            <a:endParaRPr lang="en-US" sz="1400" dirty="0"/>
          </a:p>
        </p:txBody>
      </p:sp>
      <p:graphicFrame>
        <p:nvGraphicFramePr>
          <p:cNvPr id="24" name="Table 23"/>
          <p:cNvGraphicFramePr>
            <a:graphicFrameLocks noGrp="1"/>
          </p:cNvGraphicFramePr>
          <p:nvPr>
            <p:extLst>
              <p:ext uri="{D42A27DB-BD31-4B8C-83A1-F6EECF244321}">
                <p14:modId xmlns:p14="http://schemas.microsoft.com/office/powerpoint/2010/main" val="1115624979"/>
              </p:ext>
            </p:extLst>
          </p:nvPr>
        </p:nvGraphicFramePr>
        <p:xfrm>
          <a:off x="3143018" y="4494550"/>
          <a:ext cx="3445165" cy="1737360"/>
        </p:xfrm>
        <a:graphic>
          <a:graphicData uri="http://schemas.openxmlformats.org/drawingml/2006/table">
            <a:tbl>
              <a:tblPr firstRow="1" bandRow="1">
                <a:tableStyleId>{073A0DAA-6AF3-43AB-8588-CEC1D06C72B9}</a:tableStyleId>
              </a:tblPr>
              <a:tblGrid>
                <a:gridCol w="602142">
                  <a:extLst>
                    <a:ext uri="{9D8B030D-6E8A-4147-A177-3AD203B41FA5}">
                      <a16:colId xmlns="" xmlns:a16="http://schemas.microsoft.com/office/drawing/2014/main" val="3802157089"/>
                    </a:ext>
                  </a:extLst>
                </a:gridCol>
                <a:gridCol w="663240">
                  <a:extLst>
                    <a:ext uri="{9D8B030D-6E8A-4147-A177-3AD203B41FA5}">
                      <a16:colId xmlns="" xmlns:a16="http://schemas.microsoft.com/office/drawing/2014/main" val="2673251631"/>
                    </a:ext>
                  </a:extLst>
                </a:gridCol>
                <a:gridCol w="1478633">
                  <a:extLst>
                    <a:ext uri="{9D8B030D-6E8A-4147-A177-3AD203B41FA5}">
                      <a16:colId xmlns="" xmlns:a16="http://schemas.microsoft.com/office/drawing/2014/main" val="1195665480"/>
                    </a:ext>
                  </a:extLst>
                </a:gridCol>
                <a:gridCol w="701150">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Dirty bit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0</a:t>
                      </a:r>
                      <a:endParaRPr lang="en-US" dirty="0"/>
                    </a:p>
                  </a:txBody>
                  <a:tcPr/>
                </a:tc>
                <a:tc>
                  <a:txBody>
                    <a:bodyPr/>
                    <a:lstStyle/>
                    <a:p>
                      <a:r>
                        <a:rPr lang="en-US" dirty="0" smtClean="0"/>
                        <a:t>00001</a:t>
                      </a:r>
                      <a:endParaRPr lang="en-US" dirty="0"/>
                    </a:p>
                  </a:txBody>
                  <a:tcPr/>
                </a:tc>
                <a:tc>
                  <a:txBody>
                    <a:bodyPr/>
                    <a:lstStyle/>
                    <a:p>
                      <a:r>
                        <a:rPr lang="en-US" b="0" dirty="0" smtClean="0">
                          <a:solidFill>
                            <a:schemeClr val="tx1"/>
                          </a:solidFill>
                        </a:rPr>
                        <a:t>99</a:t>
                      </a:r>
                      <a:endParaRPr lang="en-US" b="0" dirty="0">
                        <a:solidFill>
                          <a:schemeClr val="tx1"/>
                        </a:solidFill>
                      </a:endParaRPr>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spTree>
    <p:extLst>
      <p:ext uri="{BB962C8B-B14F-4D97-AF65-F5344CB8AC3E}">
        <p14:creationId xmlns:p14="http://schemas.microsoft.com/office/powerpoint/2010/main" val="351378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6" grpId="0"/>
      <p:bldP spid="2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Allocate</a:t>
            </a:r>
            <a:endParaRPr lang="en-US" dirty="0"/>
          </a:p>
        </p:txBody>
      </p:sp>
      <p:sp>
        <p:nvSpPr>
          <p:cNvPr id="3" name="Content Placeholder 2"/>
          <p:cNvSpPr>
            <a:spLocks noGrp="1"/>
          </p:cNvSpPr>
          <p:nvPr>
            <p:ph idx="1"/>
          </p:nvPr>
        </p:nvSpPr>
        <p:spPr/>
        <p:txBody>
          <a:bodyPr>
            <a:normAutofit/>
          </a:bodyPr>
          <a:lstStyle/>
          <a:p>
            <a:pPr marL="292608" lvl="1" indent="0">
              <a:buNone/>
            </a:pPr>
            <a:r>
              <a:rPr lang="en-US" sz="1600" dirty="0" smtClean="0">
                <a:solidFill>
                  <a:schemeClr val="tx1"/>
                </a:solidFill>
              </a:rPr>
              <a:t>Bring data in the cache</a:t>
            </a:r>
          </a:p>
          <a:p>
            <a:pPr marL="292608" lvl="1" indent="0">
              <a:buNone/>
            </a:pPr>
            <a:r>
              <a:rPr lang="en-US" sz="1600" dirty="0" smtClean="0">
                <a:solidFill>
                  <a:srgbClr val="7030A0"/>
                </a:solidFill>
              </a:rPr>
              <a:t>Example: Set bits = 3; Tag bits = 5; Offset bits =0; Address bits = 8</a:t>
            </a:r>
            <a:endParaRPr lang="en-US" sz="1600" dirty="0">
              <a:solidFill>
                <a:srgbClr val="7030A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349813800"/>
              </p:ext>
            </p:extLst>
          </p:nvPr>
        </p:nvGraphicFramePr>
        <p:xfrm>
          <a:off x="3167148"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10100</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92294966"/>
              </p:ext>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13986659"/>
              </p:ext>
            </p:extLst>
          </p:nvPr>
        </p:nvGraphicFramePr>
        <p:xfrm>
          <a:off x="411941" y="4707466"/>
          <a:ext cx="1730895" cy="731520"/>
        </p:xfrm>
        <a:graphic>
          <a:graphicData uri="http://schemas.openxmlformats.org/drawingml/2006/table">
            <a:tbl>
              <a:tblPr firstRow="1" bandRow="1">
                <a:tableStyleId>{5C22544A-7EE6-4342-B048-85BDC9FD1C3A}</a:tableStyleId>
              </a:tblPr>
              <a:tblGrid>
                <a:gridCol w="1730895">
                  <a:extLst>
                    <a:ext uri="{9D8B030D-6E8A-4147-A177-3AD203B41FA5}">
                      <a16:colId xmlns="" xmlns:a16="http://schemas.microsoft.com/office/drawing/2014/main" val="1382876023"/>
                    </a:ext>
                  </a:extLst>
                </a:gridCol>
              </a:tblGrid>
              <a:tr h="351328">
                <a:tc>
                  <a:txBody>
                    <a:bodyPr/>
                    <a:lstStyle/>
                    <a:p>
                      <a:r>
                        <a:rPr lang="en-US" dirty="0" smtClean="0"/>
                        <a:t>Processor</a:t>
                      </a:r>
                      <a:endParaRPr lang="en-US" dirty="0"/>
                    </a:p>
                  </a:txBody>
                  <a:tcPr/>
                </a:tc>
                <a:extLst>
                  <a:ext uri="{0D108BD9-81ED-4DB2-BD59-A6C34878D82A}">
                    <a16:rowId xmlns="" xmlns:a16="http://schemas.microsoft.com/office/drawing/2014/main" val="1334566635"/>
                  </a:ext>
                </a:extLst>
              </a:tr>
              <a:tr h="351328">
                <a:tc>
                  <a:txBody>
                    <a:bodyPr/>
                    <a:lstStyle/>
                    <a:p>
                      <a:r>
                        <a:rPr lang="en-US" b="1" dirty="0" smtClean="0">
                          <a:solidFill>
                            <a:schemeClr val="tx1"/>
                          </a:solidFill>
                        </a:rPr>
                        <a:t>MOV [0C], 68</a:t>
                      </a:r>
                    </a:p>
                  </a:txBody>
                  <a:tcPr/>
                </a:tc>
                <a:extLst>
                  <a:ext uri="{0D108BD9-81ED-4DB2-BD59-A6C34878D82A}">
                    <a16:rowId xmlns="" xmlns:a16="http://schemas.microsoft.com/office/drawing/2014/main" val="1325533494"/>
                  </a:ext>
                </a:extLst>
              </a:tr>
            </a:tbl>
          </a:graphicData>
        </a:graphic>
      </p:graphicFrame>
      <p:cxnSp>
        <p:nvCxnSpPr>
          <p:cNvPr id="11" name="Straight Arrow Connector 10"/>
          <p:cNvCxnSpPr/>
          <p:nvPr/>
        </p:nvCxnSpPr>
        <p:spPr>
          <a:xfrm>
            <a:off x="2142836" y="5210386"/>
            <a:ext cx="979055" cy="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322021" y="4936004"/>
            <a:ext cx="685339" cy="646331"/>
          </a:xfrm>
          <a:prstGeom prst="rect">
            <a:avLst/>
          </a:prstGeom>
          <a:noFill/>
        </p:spPr>
        <p:txBody>
          <a:bodyPr wrap="square" rtlCol="0">
            <a:spAutoFit/>
          </a:bodyPr>
          <a:lstStyle/>
          <a:p>
            <a:r>
              <a:rPr lang="en-US" dirty="0" smtClean="0"/>
              <a:t>Miss </a:t>
            </a:r>
          </a:p>
          <a:p>
            <a:endParaRPr lang="en-US" dirty="0"/>
          </a:p>
        </p:txBody>
      </p:sp>
      <p:sp>
        <p:nvSpPr>
          <p:cNvPr id="17" name="TextBox 16"/>
          <p:cNvSpPr txBox="1"/>
          <p:nvPr/>
        </p:nvSpPr>
        <p:spPr>
          <a:xfrm>
            <a:off x="6612312" y="5033925"/>
            <a:ext cx="2126443" cy="646331"/>
          </a:xfrm>
          <a:prstGeom prst="rect">
            <a:avLst/>
          </a:prstGeom>
          <a:noFill/>
        </p:spPr>
        <p:txBody>
          <a:bodyPr wrap="square" rtlCol="0">
            <a:spAutoFit/>
          </a:bodyPr>
          <a:lstStyle/>
          <a:p>
            <a:r>
              <a:rPr lang="en-US" dirty="0" smtClean="0"/>
              <a:t>Bring data in cache </a:t>
            </a:r>
          </a:p>
          <a:p>
            <a:endParaRPr lang="en-US" dirty="0"/>
          </a:p>
        </p:txBody>
      </p:sp>
      <p:cxnSp>
        <p:nvCxnSpPr>
          <p:cNvPr id="21" name="Straight Arrow Connector 20"/>
          <p:cNvCxnSpPr/>
          <p:nvPr/>
        </p:nvCxnSpPr>
        <p:spPr>
          <a:xfrm flipH="1">
            <a:off x="6642791" y="5347855"/>
            <a:ext cx="1972888" cy="9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extLst>
              <p:ext uri="{D42A27DB-BD31-4B8C-83A1-F6EECF244321}">
                <p14:modId xmlns:p14="http://schemas.microsoft.com/office/powerpoint/2010/main" val="3138178153"/>
              </p:ext>
            </p:extLst>
          </p:nvPr>
        </p:nvGraphicFramePr>
        <p:xfrm>
          <a:off x="3159759"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00001</a:t>
                      </a:r>
                      <a:endParaRPr lang="en-US" dirty="0"/>
                    </a:p>
                  </a:txBody>
                  <a:tcPr/>
                </a:tc>
                <a:tc>
                  <a:txBody>
                    <a:bodyPr/>
                    <a:lstStyle/>
                    <a:p>
                      <a:r>
                        <a:rPr lang="en-US" dirty="0" smtClean="0"/>
                        <a:t>68</a:t>
                      </a:r>
                      <a:endParaRPr lang="en-US" dirty="0"/>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935378260"/>
              </p:ext>
            </p:extLst>
          </p:nvPr>
        </p:nvGraphicFramePr>
        <p:xfrm>
          <a:off x="8617987" y="4121265"/>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b="1" dirty="0" smtClean="0">
                          <a:solidFill>
                            <a:srgbClr val="FF0000"/>
                          </a:solidFill>
                        </a:rPr>
                        <a:t>0C</a:t>
                      </a:r>
                      <a:endParaRPr lang="en-US" b="1" dirty="0">
                        <a:solidFill>
                          <a:srgbClr val="FF0000"/>
                        </a:solidFill>
                      </a:endParaRPr>
                    </a:p>
                  </a:txBody>
                  <a:tcPr/>
                </a:tc>
                <a:tc>
                  <a:txBody>
                    <a:bodyPr/>
                    <a:lstStyle/>
                    <a:p>
                      <a:r>
                        <a:rPr lang="en-US" b="1"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spTree>
    <p:extLst>
      <p:ext uri="{BB962C8B-B14F-4D97-AF65-F5344CB8AC3E}">
        <p14:creationId xmlns:p14="http://schemas.microsoft.com/office/powerpoint/2010/main" val="43974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Around</a:t>
            </a:r>
            <a:endParaRPr lang="en-US" dirty="0"/>
          </a:p>
        </p:txBody>
      </p:sp>
      <p:sp>
        <p:nvSpPr>
          <p:cNvPr id="3" name="Content Placeholder 2"/>
          <p:cNvSpPr>
            <a:spLocks noGrp="1"/>
          </p:cNvSpPr>
          <p:nvPr>
            <p:ph idx="1"/>
          </p:nvPr>
        </p:nvSpPr>
        <p:spPr/>
        <p:txBody>
          <a:bodyPr>
            <a:normAutofit/>
          </a:bodyPr>
          <a:lstStyle/>
          <a:p>
            <a:pPr marL="292608" lvl="1" indent="0">
              <a:buNone/>
            </a:pPr>
            <a:r>
              <a:rPr lang="en-US" sz="1600" dirty="0" smtClean="0">
                <a:solidFill>
                  <a:schemeClr val="tx1"/>
                </a:solidFill>
              </a:rPr>
              <a:t>Also called Write No-Allocate</a:t>
            </a:r>
          </a:p>
          <a:p>
            <a:pPr marL="292608" lvl="1" indent="0">
              <a:buNone/>
            </a:pPr>
            <a:r>
              <a:rPr lang="en-US" sz="1600" dirty="0" smtClean="0">
                <a:solidFill>
                  <a:schemeClr val="tx1"/>
                </a:solidFill>
              </a:rPr>
              <a:t>Update data block in memory</a:t>
            </a:r>
          </a:p>
          <a:p>
            <a:pPr marL="292608" lvl="1" indent="0">
              <a:buNone/>
            </a:pPr>
            <a:r>
              <a:rPr lang="en-US" sz="1600" dirty="0" smtClean="0">
                <a:solidFill>
                  <a:srgbClr val="7030A0"/>
                </a:solidFill>
              </a:rPr>
              <a:t>Example: Set bits = 3; Tag bits = 5; Offset bits =0; Address bits = 8</a:t>
            </a:r>
            <a:endParaRPr lang="en-US" sz="1600" dirty="0">
              <a:solidFill>
                <a:srgbClr val="7030A0"/>
              </a:solidFill>
            </a:endParaRPr>
          </a:p>
        </p:txBody>
      </p:sp>
      <p:graphicFrame>
        <p:nvGraphicFramePr>
          <p:cNvPr id="4" name="Table 3"/>
          <p:cNvGraphicFramePr>
            <a:graphicFrameLocks noGrp="1"/>
          </p:cNvGraphicFramePr>
          <p:nvPr>
            <p:extLst/>
          </p:nvPr>
        </p:nvGraphicFramePr>
        <p:xfrm>
          <a:off x="3167148" y="4478866"/>
          <a:ext cx="3445164" cy="1463040"/>
        </p:xfrm>
        <a:graphic>
          <a:graphicData uri="http://schemas.openxmlformats.org/drawingml/2006/table">
            <a:tbl>
              <a:tblPr firstRow="1" bandRow="1">
                <a:tableStyleId>{073A0DAA-6AF3-43AB-8588-CEC1D06C72B9}</a:tableStyleId>
              </a:tblPr>
              <a:tblGrid>
                <a:gridCol w="729673">
                  <a:extLst>
                    <a:ext uri="{9D8B030D-6E8A-4147-A177-3AD203B41FA5}">
                      <a16:colId xmlns="" xmlns:a16="http://schemas.microsoft.com/office/drawing/2014/main" val="3802157089"/>
                    </a:ext>
                  </a:extLst>
                </a:gridCol>
                <a:gridCol w="1865840">
                  <a:extLst>
                    <a:ext uri="{9D8B030D-6E8A-4147-A177-3AD203B41FA5}">
                      <a16:colId xmlns="" xmlns:a16="http://schemas.microsoft.com/office/drawing/2014/main" val="1195665480"/>
                    </a:ext>
                  </a:extLst>
                </a:gridCol>
                <a:gridCol w="849651">
                  <a:extLst>
                    <a:ext uri="{9D8B030D-6E8A-4147-A177-3AD203B41FA5}">
                      <a16:colId xmlns="" xmlns:a16="http://schemas.microsoft.com/office/drawing/2014/main" val="2130184446"/>
                    </a:ext>
                  </a:extLst>
                </a:gridCol>
              </a:tblGrid>
              <a:tr h="289663">
                <a:tc>
                  <a:txBody>
                    <a:bodyPr/>
                    <a:lstStyle/>
                    <a:p>
                      <a:r>
                        <a:rPr lang="en-US" dirty="0" smtClean="0"/>
                        <a:t>Set</a:t>
                      </a:r>
                      <a:endParaRPr lang="en-US" dirty="0"/>
                    </a:p>
                  </a:txBody>
                  <a:tcPr/>
                </a:tc>
                <a:tc>
                  <a:txBody>
                    <a:bodyPr/>
                    <a:lstStyle/>
                    <a:p>
                      <a:r>
                        <a:rPr lang="en-US" dirty="0" smtClean="0"/>
                        <a:t>Tag bits</a:t>
                      </a:r>
                      <a:endParaRPr lang="en-US" dirty="0"/>
                    </a:p>
                  </a:txBody>
                  <a:tcPr/>
                </a:tc>
                <a:tc>
                  <a:txBody>
                    <a:bodyPr/>
                    <a:lstStyle/>
                    <a:p>
                      <a:r>
                        <a:rPr lang="en-US" dirty="0" smtClean="0"/>
                        <a:t>Data</a:t>
                      </a:r>
                      <a:endParaRPr lang="en-US" dirty="0"/>
                    </a:p>
                  </a:txBody>
                  <a:tcPr/>
                </a:tc>
                <a:extLst>
                  <a:ext uri="{0D108BD9-81ED-4DB2-BD59-A6C34878D82A}">
                    <a16:rowId xmlns="" xmlns:a16="http://schemas.microsoft.com/office/drawing/2014/main" val="258467004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3305402944"/>
                  </a:ext>
                </a:extLst>
              </a:tr>
              <a:tr h="289663">
                <a:tc>
                  <a:txBody>
                    <a:bodyPr/>
                    <a:lstStyle/>
                    <a:p>
                      <a:r>
                        <a:rPr lang="en-US" dirty="0" smtClean="0"/>
                        <a:t>100</a:t>
                      </a:r>
                      <a:endParaRPr lang="en-US" dirty="0"/>
                    </a:p>
                  </a:txBody>
                  <a:tcPr/>
                </a:tc>
                <a:tc>
                  <a:txBody>
                    <a:bodyPr/>
                    <a:lstStyle/>
                    <a:p>
                      <a:r>
                        <a:rPr lang="en-US" dirty="0" smtClean="0"/>
                        <a:t>10100</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4016068037"/>
                  </a:ext>
                </a:extLst>
              </a:tr>
              <a:tr h="289663">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 xmlns:a16="http://schemas.microsoft.com/office/drawing/2014/main" val="2140515681"/>
                  </a:ext>
                </a:extLst>
              </a:tr>
            </a:tbl>
          </a:graphicData>
        </a:graphic>
      </p:graphicFrame>
      <p:graphicFrame>
        <p:nvGraphicFramePr>
          <p:cNvPr id="5" name="Table 4"/>
          <p:cNvGraphicFramePr>
            <a:graphicFrameLocks noGrp="1"/>
          </p:cNvGraphicFramePr>
          <p:nvPr>
            <p:extLst/>
          </p:nvPr>
        </p:nvGraphicFramePr>
        <p:xfrm>
          <a:off x="8615679" y="4113106"/>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dirty="0" smtClean="0"/>
                        <a:t>0C</a:t>
                      </a:r>
                      <a:endParaRPr lang="en-US" dirty="0"/>
                    </a:p>
                  </a:txBody>
                  <a:tcPr/>
                </a:tc>
                <a:tc>
                  <a:txBody>
                    <a:bodyPr/>
                    <a:lstStyle/>
                    <a:p>
                      <a:r>
                        <a:rPr lang="en-US" dirty="0" smtClean="0"/>
                        <a:t>99</a:t>
                      </a:r>
                      <a:endParaRPr lang="en-US" dirty="0"/>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graphicFrame>
        <p:nvGraphicFramePr>
          <p:cNvPr id="6" name="Table 5"/>
          <p:cNvGraphicFramePr>
            <a:graphicFrameLocks noGrp="1"/>
          </p:cNvGraphicFramePr>
          <p:nvPr>
            <p:extLst/>
          </p:nvPr>
        </p:nvGraphicFramePr>
        <p:xfrm>
          <a:off x="411941" y="4707466"/>
          <a:ext cx="1730895" cy="731520"/>
        </p:xfrm>
        <a:graphic>
          <a:graphicData uri="http://schemas.openxmlformats.org/drawingml/2006/table">
            <a:tbl>
              <a:tblPr firstRow="1" bandRow="1">
                <a:tableStyleId>{5C22544A-7EE6-4342-B048-85BDC9FD1C3A}</a:tableStyleId>
              </a:tblPr>
              <a:tblGrid>
                <a:gridCol w="1730895">
                  <a:extLst>
                    <a:ext uri="{9D8B030D-6E8A-4147-A177-3AD203B41FA5}">
                      <a16:colId xmlns="" xmlns:a16="http://schemas.microsoft.com/office/drawing/2014/main" val="1382876023"/>
                    </a:ext>
                  </a:extLst>
                </a:gridCol>
              </a:tblGrid>
              <a:tr h="351328">
                <a:tc>
                  <a:txBody>
                    <a:bodyPr/>
                    <a:lstStyle/>
                    <a:p>
                      <a:r>
                        <a:rPr lang="en-US" dirty="0" smtClean="0"/>
                        <a:t>Processor</a:t>
                      </a:r>
                      <a:endParaRPr lang="en-US" dirty="0"/>
                    </a:p>
                  </a:txBody>
                  <a:tcPr/>
                </a:tc>
                <a:extLst>
                  <a:ext uri="{0D108BD9-81ED-4DB2-BD59-A6C34878D82A}">
                    <a16:rowId xmlns="" xmlns:a16="http://schemas.microsoft.com/office/drawing/2014/main" val="1334566635"/>
                  </a:ext>
                </a:extLst>
              </a:tr>
              <a:tr h="351328">
                <a:tc>
                  <a:txBody>
                    <a:bodyPr/>
                    <a:lstStyle/>
                    <a:p>
                      <a:r>
                        <a:rPr lang="en-US" b="1" dirty="0" smtClean="0">
                          <a:solidFill>
                            <a:schemeClr val="tx1"/>
                          </a:solidFill>
                        </a:rPr>
                        <a:t>MOV [0C], 68</a:t>
                      </a:r>
                    </a:p>
                  </a:txBody>
                  <a:tcPr/>
                </a:tc>
                <a:extLst>
                  <a:ext uri="{0D108BD9-81ED-4DB2-BD59-A6C34878D82A}">
                    <a16:rowId xmlns="" xmlns:a16="http://schemas.microsoft.com/office/drawing/2014/main" val="1325533494"/>
                  </a:ext>
                </a:extLst>
              </a:tr>
            </a:tbl>
          </a:graphicData>
        </a:graphic>
      </p:graphicFrame>
      <p:cxnSp>
        <p:nvCxnSpPr>
          <p:cNvPr id="11" name="Straight Arrow Connector 10"/>
          <p:cNvCxnSpPr/>
          <p:nvPr/>
        </p:nvCxnSpPr>
        <p:spPr>
          <a:xfrm>
            <a:off x="2142836" y="5210386"/>
            <a:ext cx="979055" cy="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322021" y="4936004"/>
            <a:ext cx="685339" cy="646331"/>
          </a:xfrm>
          <a:prstGeom prst="rect">
            <a:avLst/>
          </a:prstGeom>
          <a:noFill/>
        </p:spPr>
        <p:txBody>
          <a:bodyPr wrap="square" rtlCol="0">
            <a:spAutoFit/>
          </a:bodyPr>
          <a:lstStyle/>
          <a:p>
            <a:r>
              <a:rPr lang="en-US" dirty="0" smtClean="0"/>
              <a:t>Miss </a:t>
            </a:r>
          </a:p>
          <a:p>
            <a:endParaRPr lang="en-US" dirty="0"/>
          </a:p>
        </p:txBody>
      </p:sp>
      <p:sp>
        <p:nvSpPr>
          <p:cNvPr id="17" name="TextBox 16"/>
          <p:cNvSpPr txBox="1"/>
          <p:nvPr/>
        </p:nvSpPr>
        <p:spPr>
          <a:xfrm>
            <a:off x="6612312" y="4869472"/>
            <a:ext cx="2126443" cy="1107996"/>
          </a:xfrm>
          <a:prstGeom prst="rect">
            <a:avLst/>
          </a:prstGeom>
          <a:noFill/>
        </p:spPr>
        <p:txBody>
          <a:bodyPr wrap="square" rtlCol="0">
            <a:spAutoFit/>
          </a:bodyPr>
          <a:lstStyle/>
          <a:p>
            <a:r>
              <a:rPr lang="en-US" sz="1600" dirty="0" smtClean="0"/>
              <a:t>Update memory</a:t>
            </a:r>
          </a:p>
          <a:p>
            <a:r>
              <a:rPr lang="en-US" sz="1600" dirty="0" smtClean="0"/>
              <a:t>Don’t bring data in cache</a:t>
            </a:r>
          </a:p>
          <a:p>
            <a:endParaRPr lang="en-US" dirty="0"/>
          </a:p>
        </p:txBody>
      </p:sp>
      <p:graphicFrame>
        <p:nvGraphicFramePr>
          <p:cNvPr id="25" name="Table 24"/>
          <p:cNvGraphicFramePr>
            <a:graphicFrameLocks noGrp="1"/>
          </p:cNvGraphicFramePr>
          <p:nvPr>
            <p:extLst>
              <p:ext uri="{D42A27DB-BD31-4B8C-83A1-F6EECF244321}">
                <p14:modId xmlns:p14="http://schemas.microsoft.com/office/powerpoint/2010/main" val="400539440"/>
              </p:ext>
            </p:extLst>
          </p:nvPr>
        </p:nvGraphicFramePr>
        <p:xfrm>
          <a:off x="8617987" y="4121265"/>
          <a:ext cx="3225340" cy="2194560"/>
        </p:xfrm>
        <a:graphic>
          <a:graphicData uri="http://schemas.openxmlformats.org/drawingml/2006/table">
            <a:tbl>
              <a:tblPr firstRow="1" bandRow="1">
                <a:tableStyleId>{D7AC3CCA-C797-4891-BE02-D94E43425B78}</a:tableStyleId>
              </a:tblPr>
              <a:tblGrid>
                <a:gridCol w="1612670">
                  <a:extLst>
                    <a:ext uri="{9D8B030D-6E8A-4147-A177-3AD203B41FA5}">
                      <a16:colId xmlns="" xmlns:a16="http://schemas.microsoft.com/office/drawing/2014/main" val="154310909"/>
                    </a:ext>
                  </a:extLst>
                </a:gridCol>
                <a:gridCol w="1612670">
                  <a:extLst>
                    <a:ext uri="{9D8B030D-6E8A-4147-A177-3AD203B41FA5}">
                      <a16:colId xmlns="" xmlns:a16="http://schemas.microsoft.com/office/drawing/2014/main" val="1365862170"/>
                    </a:ext>
                  </a:extLst>
                </a:gridCol>
              </a:tblGrid>
              <a:tr h="282364">
                <a:tc>
                  <a:txBody>
                    <a:bodyPr/>
                    <a:lstStyle/>
                    <a:p>
                      <a:r>
                        <a:rPr lang="en-US" dirty="0" smtClean="0"/>
                        <a:t>……</a:t>
                      </a:r>
                      <a:endParaRPr lang="en-US" dirty="0"/>
                    </a:p>
                  </a:txBody>
                  <a:tcPr/>
                </a:tc>
                <a:tc>
                  <a:txBody>
                    <a:bodyPr/>
                    <a:lstStyle/>
                    <a:p>
                      <a:endParaRPr lang="en-US"/>
                    </a:p>
                  </a:txBody>
                  <a:tcPr/>
                </a:tc>
                <a:extLst>
                  <a:ext uri="{0D108BD9-81ED-4DB2-BD59-A6C34878D82A}">
                    <a16:rowId xmlns="" xmlns:a16="http://schemas.microsoft.com/office/drawing/2014/main" val="3218232194"/>
                  </a:ext>
                </a:extLst>
              </a:tr>
              <a:tr h="282364">
                <a:tc>
                  <a:txBody>
                    <a:bodyPr/>
                    <a:lstStyle/>
                    <a:p>
                      <a:r>
                        <a:rPr lang="en-US" b="1" dirty="0" smtClean="0">
                          <a:solidFill>
                            <a:srgbClr val="FF0000"/>
                          </a:solidFill>
                        </a:rPr>
                        <a:t>0C</a:t>
                      </a:r>
                      <a:endParaRPr lang="en-US" b="1" dirty="0">
                        <a:solidFill>
                          <a:srgbClr val="FF0000"/>
                        </a:solidFill>
                      </a:endParaRPr>
                    </a:p>
                  </a:txBody>
                  <a:tcPr/>
                </a:tc>
                <a:tc>
                  <a:txBody>
                    <a:bodyPr/>
                    <a:lstStyle/>
                    <a:p>
                      <a:r>
                        <a:rPr lang="en-US" b="1" dirty="0" smtClean="0">
                          <a:solidFill>
                            <a:srgbClr val="FF0000"/>
                          </a:solidFill>
                        </a:rPr>
                        <a:t>68</a:t>
                      </a:r>
                      <a:endParaRPr lang="en-US" b="1" dirty="0">
                        <a:solidFill>
                          <a:srgbClr val="FF0000"/>
                        </a:solidFill>
                      </a:endParaRPr>
                    </a:p>
                  </a:txBody>
                  <a:tcPr/>
                </a:tc>
                <a:extLst>
                  <a:ext uri="{0D108BD9-81ED-4DB2-BD59-A6C34878D82A}">
                    <a16:rowId xmlns="" xmlns:a16="http://schemas.microsoft.com/office/drawing/2014/main" val="194784877"/>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2413281980"/>
                  </a:ext>
                </a:extLst>
              </a:tr>
              <a:tr h="282364">
                <a:tc>
                  <a:txBody>
                    <a:bodyPr/>
                    <a:lstStyle/>
                    <a:p>
                      <a:r>
                        <a:rPr lang="en-US" dirty="0" smtClean="0"/>
                        <a:t>A4</a:t>
                      </a:r>
                      <a:endParaRPr lang="en-US" dirty="0"/>
                    </a:p>
                  </a:txBody>
                  <a:tcPr/>
                </a:tc>
                <a:tc>
                  <a:txBody>
                    <a:bodyPr/>
                    <a:lstStyle/>
                    <a:p>
                      <a:r>
                        <a:rPr lang="en-US" dirty="0" smtClean="0"/>
                        <a:t>45</a:t>
                      </a:r>
                      <a:endParaRPr lang="en-US" dirty="0"/>
                    </a:p>
                  </a:txBody>
                  <a:tcPr/>
                </a:tc>
                <a:extLst>
                  <a:ext uri="{0D108BD9-81ED-4DB2-BD59-A6C34878D82A}">
                    <a16:rowId xmlns="" xmlns:a16="http://schemas.microsoft.com/office/drawing/2014/main" val="2710879429"/>
                  </a:ext>
                </a:extLst>
              </a:tr>
              <a:tr h="282364">
                <a:tc>
                  <a:txBody>
                    <a:bodyPr/>
                    <a:lstStyle/>
                    <a:p>
                      <a:r>
                        <a:rPr lang="en-US" dirty="0" smtClean="0"/>
                        <a:t>A5</a:t>
                      </a:r>
                      <a:endParaRPr lang="en-US" dirty="0"/>
                    </a:p>
                  </a:txBody>
                  <a:tcPr/>
                </a:tc>
                <a:tc>
                  <a:txBody>
                    <a:bodyPr/>
                    <a:lstStyle/>
                    <a:p>
                      <a:r>
                        <a:rPr lang="en-US" dirty="0" smtClean="0"/>
                        <a:t>27</a:t>
                      </a:r>
                      <a:endParaRPr lang="en-US" dirty="0"/>
                    </a:p>
                  </a:txBody>
                  <a:tcPr/>
                </a:tc>
                <a:extLst>
                  <a:ext uri="{0D108BD9-81ED-4DB2-BD59-A6C34878D82A}">
                    <a16:rowId xmlns="" xmlns:a16="http://schemas.microsoft.com/office/drawing/2014/main" val="2307251065"/>
                  </a:ext>
                </a:extLst>
              </a:tr>
              <a:tr h="282364">
                <a:tc>
                  <a:txBody>
                    <a:bodyPr/>
                    <a:lstStyle/>
                    <a:p>
                      <a:r>
                        <a:rPr lang="en-US" dirty="0" smtClean="0"/>
                        <a:t>……</a:t>
                      </a:r>
                      <a:endParaRPr lang="en-US" dirty="0"/>
                    </a:p>
                  </a:txBody>
                  <a:tcPr/>
                </a:tc>
                <a:tc>
                  <a:txBody>
                    <a:bodyPr/>
                    <a:lstStyle/>
                    <a:p>
                      <a:endParaRPr lang="en-US" dirty="0"/>
                    </a:p>
                  </a:txBody>
                  <a:tcPr/>
                </a:tc>
                <a:extLst>
                  <a:ext uri="{0D108BD9-81ED-4DB2-BD59-A6C34878D82A}">
                    <a16:rowId xmlns="" xmlns:a16="http://schemas.microsoft.com/office/drawing/2014/main" val="1109009389"/>
                  </a:ext>
                </a:extLst>
              </a:tr>
            </a:tbl>
          </a:graphicData>
        </a:graphic>
      </p:graphicFrame>
      <p:cxnSp>
        <p:nvCxnSpPr>
          <p:cNvPr id="8" name="Straight Arrow Connector 7"/>
          <p:cNvCxnSpPr/>
          <p:nvPr/>
        </p:nvCxnSpPr>
        <p:spPr>
          <a:xfrm>
            <a:off x="6612312" y="5192637"/>
            <a:ext cx="20033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275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1421</TotalTime>
  <Words>5587</Words>
  <Application>Microsoft Office PowerPoint</Application>
  <PresentationFormat>Custom</PresentationFormat>
  <Paragraphs>2374</Paragraphs>
  <Slides>49</Slides>
  <Notes>0</Notes>
  <HiddenSlides>41</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Retrospect</vt:lpstr>
      <vt:lpstr>Cache </vt:lpstr>
      <vt:lpstr>Cache Miss</vt:lpstr>
      <vt:lpstr>Cache Hit</vt:lpstr>
      <vt:lpstr>Cache Miss</vt:lpstr>
      <vt:lpstr>Cache Miss</vt:lpstr>
      <vt:lpstr>Locality</vt:lpstr>
      <vt:lpstr>Locality</vt:lpstr>
      <vt:lpstr>What data is held in cache?</vt:lpstr>
      <vt:lpstr>Cache Performance Analysis</vt:lpstr>
      <vt:lpstr>Cache Performance Analysis</vt:lpstr>
      <vt:lpstr>Cache Terminologies </vt:lpstr>
      <vt:lpstr>Cache Terminologies </vt:lpstr>
      <vt:lpstr>Block Size</vt:lpstr>
      <vt:lpstr>Block Size</vt:lpstr>
      <vt:lpstr>Offset Bits</vt:lpstr>
      <vt:lpstr>Cache Terminology</vt:lpstr>
      <vt:lpstr>Cache Types</vt:lpstr>
      <vt:lpstr>Design Cache</vt:lpstr>
      <vt:lpstr>Design Cache</vt:lpstr>
      <vt:lpstr>Design Cache</vt:lpstr>
      <vt:lpstr>Design Cache</vt:lpstr>
      <vt:lpstr>Cache Terminologies</vt:lpstr>
      <vt:lpstr>Example 01</vt:lpstr>
      <vt:lpstr>Example 01</vt:lpstr>
      <vt:lpstr>Example 01</vt:lpstr>
      <vt:lpstr>Example 01</vt:lpstr>
      <vt:lpstr>Example 01</vt:lpstr>
      <vt:lpstr>LRU bit</vt:lpstr>
      <vt:lpstr>LRU bit</vt:lpstr>
      <vt:lpstr>Example 02</vt:lpstr>
      <vt:lpstr>Example 02</vt:lpstr>
      <vt:lpstr>Example 02</vt:lpstr>
      <vt:lpstr>Example 02</vt:lpstr>
      <vt:lpstr>Example 02</vt:lpstr>
      <vt:lpstr>Example 03</vt:lpstr>
      <vt:lpstr>Example 03</vt:lpstr>
      <vt:lpstr>Example 03</vt:lpstr>
      <vt:lpstr>Example 03</vt:lpstr>
      <vt:lpstr>Example 03</vt:lpstr>
      <vt:lpstr>Example 03</vt:lpstr>
      <vt:lpstr>Types of Cache Misses</vt:lpstr>
      <vt:lpstr>Cache Parameters</vt:lpstr>
      <vt:lpstr>Cache Write Policies</vt:lpstr>
      <vt:lpstr>Write Through</vt:lpstr>
      <vt:lpstr>Write Through</vt:lpstr>
      <vt:lpstr>Write Back</vt:lpstr>
      <vt:lpstr>Write Back</vt:lpstr>
      <vt:lpstr>Write Allocate</vt:lpstr>
      <vt:lpstr>Write Around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dc:title>
  <dc:creator>saroshshahid@gmail.com</dc:creator>
  <cp:lastModifiedBy>chilwan</cp:lastModifiedBy>
  <cp:revision>84</cp:revision>
  <dcterms:created xsi:type="dcterms:W3CDTF">2020-03-26T04:42:27Z</dcterms:created>
  <dcterms:modified xsi:type="dcterms:W3CDTF">2020-04-09T19:23:16Z</dcterms:modified>
</cp:coreProperties>
</file>