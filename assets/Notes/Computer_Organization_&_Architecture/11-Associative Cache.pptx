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90" r:id="rId4"/>
    <p:sldId id="283" r:id="rId5"/>
    <p:sldId id="284" r:id="rId6"/>
    <p:sldId id="286" r:id="rId7"/>
    <p:sldId id="287" r:id="rId8"/>
    <p:sldId id="288" r:id="rId9"/>
    <p:sldId id="293" r:id="rId10"/>
    <p:sldId id="294" r:id="rId11"/>
    <p:sldId id="295" r:id="rId12"/>
    <p:sldId id="296" r:id="rId13"/>
    <p:sldId id="297" r:id="rId14"/>
    <p:sldId id="298" r:id="rId15"/>
    <p:sldId id="300" r:id="rId16"/>
    <p:sldId id="2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-96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49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4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C3E18F-3CB7-46A0-8301-0008DA77D65A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Cache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Compiled by: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Sarosh</a:t>
            </a:r>
            <a:r>
              <a:rPr lang="en-US" dirty="0" smtClean="0"/>
              <a:t> </a:t>
            </a:r>
            <a:r>
              <a:rPr lang="en-US" dirty="0" err="1" smtClean="0"/>
              <a:t>shahid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LRU bit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0070C0"/>
                </a:solidFill>
              </a:rPr>
              <a:t>Least recently used (LRU) replacement: </a:t>
            </a:r>
            <a:r>
              <a:rPr lang="en-US" dirty="0"/>
              <a:t>the least recently used block in a set </a:t>
            </a:r>
            <a:r>
              <a:rPr lang="en-US" dirty="0" smtClean="0"/>
              <a:t>evicted in case of N-associative and fully associative caches.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In case of 2-way associative cache, 1-bit is required to keep check of recently used data block.</a:t>
            </a:r>
          </a:p>
          <a:p>
            <a:pPr marL="544068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dirty="0" smtClean="0"/>
              <a:t>When a block is accessed its LRU bit will be set to zero (now it’s the least recently used data) and increment all the other values of LRU bit accordingly.</a:t>
            </a:r>
          </a:p>
          <a:p>
            <a:pPr marL="544068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dirty="0" smtClean="0"/>
              <a:t>When data is to be evicted from a block, replace the block with maximum value of LRU bit (1 in 2-way associative</a:t>
            </a:r>
            <a:r>
              <a:rPr lang="en-US" smtClean="0"/>
              <a:t>, </a:t>
            </a:r>
            <a:r>
              <a:rPr lang="en-US" smtClean="0"/>
              <a:t>2 </a:t>
            </a:r>
            <a:r>
              <a:rPr lang="en-US" dirty="0" smtClean="0"/>
              <a:t>in 4-way associative and so on).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02594"/>
              </p:ext>
            </p:extLst>
          </p:nvPr>
        </p:nvGraphicFramePr>
        <p:xfrm>
          <a:off x="1681019" y="4257193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xmlns="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xmlns="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LRU 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98131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25092" y="385741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 : Set “</a:t>
            </a:r>
            <a:r>
              <a:rPr lang="en-US" b="1" dirty="0" err="1" smtClean="0"/>
              <a:t>i</a:t>
            </a:r>
            <a:r>
              <a:rPr lang="en-US" b="1" dirty="0" smtClean="0"/>
              <a:t>” of a 4-way associative cache 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006109" y="4605249"/>
            <a:ext cx="4969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LRU bit indicates the sequence of memory access only for this particular set was in order – </a:t>
            </a:r>
          </a:p>
          <a:p>
            <a:r>
              <a:rPr lang="en-US" dirty="0" smtClean="0"/>
              <a:t>D2 D3 D0 D1 </a:t>
            </a:r>
          </a:p>
          <a:p>
            <a:r>
              <a:rPr lang="en-US" dirty="0" smtClean="0"/>
              <a:t>And D1 with the least LRU bit value is the most recently accessed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0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LRU bit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0070C0"/>
                </a:solidFill>
              </a:rPr>
              <a:t>Least recently used (LRU) replacement: </a:t>
            </a:r>
            <a:r>
              <a:rPr lang="en-US" dirty="0"/>
              <a:t>the least recently used block in a set </a:t>
            </a:r>
            <a:r>
              <a:rPr lang="en-US" dirty="0" smtClean="0"/>
              <a:t>evicted in case of N-associative and fully associative caches.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77601"/>
              </p:ext>
            </p:extLst>
          </p:nvPr>
        </p:nvGraphicFramePr>
        <p:xfrm>
          <a:off x="1450110" y="2871738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xmlns="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xmlns="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LRU 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98131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94183" y="247195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 : Set “</a:t>
            </a:r>
            <a:r>
              <a:rPr lang="en-US" b="1" dirty="0" err="1" smtClean="0"/>
              <a:t>i</a:t>
            </a:r>
            <a:r>
              <a:rPr lang="en-US" b="1" dirty="0" smtClean="0"/>
              <a:t>” of a 4-way associative cache 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878222"/>
              </p:ext>
            </p:extLst>
          </p:nvPr>
        </p:nvGraphicFramePr>
        <p:xfrm>
          <a:off x="7398213" y="2871738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xmlns="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xmlns="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LRU 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98131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21085" y="3559518"/>
            <a:ext cx="27987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After the data D3 is accessed again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>
            <a:endCxn id="8" idx="1"/>
          </p:cNvCxnSpPr>
          <p:nvPr/>
        </p:nvCxnSpPr>
        <p:spPr>
          <a:xfrm flipV="1">
            <a:off x="4599479" y="3798838"/>
            <a:ext cx="2798734" cy="2360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98213" y="4756385"/>
            <a:ext cx="279873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Set the least recently used D3 to 0 and increment all the remaining bit accordingly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64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 = </a:t>
            </a:r>
            <a:r>
              <a:rPr lang="en-US" sz="1400" b="1" dirty="0"/>
              <a:t>2</a:t>
            </a:r>
            <a:r>
              <a:rPr lang="en-US" sz="1400" b="1" dirty="0" smtClean="0"/>
              <a:t>B</a:t>
            </a:r>
          </a:p>
          <a:p>
            <a:r>
              <a:rPr lang="en-US" sz="1400" b="1" dirty="0" smtClean="0"/>
              <a:t>C = 16B</a:t>
            </a:r>
          </a:p>
          <a:p>
            <a:r>
              <a:rPr lang="en-US" sz="1400" b="1" dirty="0" smtClean="0"/>
              <a:t>N = 2 (2-way associative)</a:t>
            </a:r>
          </a:p>
          <a:p>
            <a:r>
              <a:rPr lang="en-US" sz="1400" b="1" dirty="0" smtClean="0"/>
              <a:t>Addresses are </a:t>
            </a:r>
            <a:r>
              <a:rPr lang="en-US" sz="1400" b="1" dirty="0"/>
              <a:t>8</a:t>
            </a:r>
            <a:r>
              <a:rPr lang="en-US" sz="1400" b="1" dirty="0" smtClean="0"/>
              <a:t> 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258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 smtClean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 smtClean="0"/>
                  <a:t>C</a:t>
                </a:r>
                <a:r>
                  <a:rPr lang="en-US" sz="1200" dirty="0" smtClean="0"/>
                  <a:t>/</a:t>
                </a:r>
                <a:r>
                  <a:rPr lang="en-US" sz="1200" i="1" dirty="0" smtClean="0"/>
                  <a:t>b = 16/2 = 8</a:t>
                </a:r>
                <a:endParaRPr lang="en-US" sz="1200" i="1" dirty="0"/>
              </a:p>
              <a:p>
                <a:r>
                  <a:rPr lang="en-US" sz="1200" dirty="0" smtClean="0"/>
                  <a:t>S = B/N = </a:t>
                </a:r>
                <a:r>
                  <a:rPr lang="en-US" sz="1200" dirty="0"/>
                  <a:t>8</a:t>
                </a:r>
                <a:r>
                  <a:rPr lang="en-US" sz="1200" dirty="0" smtClean="0"/>
                  <a:t>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258200"/>
              </a:xfrm>
              <a:prstGeom prst="rect">
                <a:avLst/>
              </a:prstGeom>
              <a:blipFill>
                <a:blip r:embed="rId2"/>
                <a:stretch>
                  <a:fillRect l="-1272" t="-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080307"/>
              </p:ext>
            </p:extLst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780418" y="569064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0xFF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1111 1</a:t>
            </a:r>
            <a:r>
              <a:rPr lang="en-US" sz="20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0018"/>
              </p:ext>
            </p:extLst>
          </p:nvPr>
        </p:nvGraphicFramePr>
        <p:xfrm>
          <a:off x="4238473" y="2000471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1	Cache Hit = 0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694246"/>
              </p:ext>
            </p:extLst>
          </p:nvPr>
        </p:nvGraphicFramePr>
        <p:xfrm>
          <a:off x="4238473" y="2000471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92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 = </a:t>
            </a:r>
            <a:r>
              <a:rPr lang="en-US" sz="1400" b="1" dirty="0"/>
              <a:t>2</a:t>
            </a:r>
            <a:r>
              <a:rPr lang="en-US" sz="1400" b="1" dirty="0" smtClean="0"/>
              <a:t>B</a:t>
            </a:r>
          </a:p>
          <a:p>
            <a:r>
              <a:rPr lang="en-US" sz="1400" b="1" dirty="0" smtClean="0"/>
              <a:t>C = 16B</a:t>
            </a:r>
          </a:p>
          <a:p>
            <a:r>
              <a:rPr lang="en-US" sz="1400" b="1" dirty="0" smtClean="0"/>
              <a:t>N = 2 (2-way associative)</a:t>
            </a:r>
          </a:p>
          <a:p>
            <a:r>
              <a:rPr lang="en-US" sz="1400" b="1" dirty="0" smtClean="0"/>
              <a:t>Addresses are </a:t>
            </a:r>
            <a:r>
              <a:rPr lang="en-US" sz="1400" b="1" dirty="0"/>
              <a:t>8</a:t>
            </a:r>
            <a:r>
              <a:rPr lang="en-US" sz="1400" b="1" dirty="0" smtClean="0"/>
              <a:t> 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8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 smtClean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 smtClean="0"/>
                  <a:t>C</a:t>
                </a:r>
                <a:r>
                  <a:rPr lang="en-US" sz="1200" dirty="0" smtClean="0"/>
                  <a:t>/</a:t>
                </a:r>
                <a:r>
                  <a:rPr lang="en-US" sz="1200" i="1" dirty="0" smtClean="0"/>
                  <a:t>b = 16/2 = 8</a:t>
                </a:r>
                <a:endParaRPr lang="en-US" sz="1200" i="1" dirty="0"/>
              </a:p>
              <a:p>
                <a:r>
                  <a:rPr lang="en-US" sz="1200" dirty="0" smtClean="0"/>
                  <a:t>S = B/N = </a:t>
                </a:r>
                <a:r>
                  <a:rPr lang="en-US" sz="1200" dirty="0"/>
                  <a:t>8</a:t>
                </a:r>
                <a:r>
                  <a:rPr lang="en-US" sz="1200" dirty="0" smtClean="0"/>
                  <a:t>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latin typeface="Cambria Math" panose="02040503050406030204" pitchFamily="18" charset="0"/>
                  </a:rPr>
                  <a:t>0X07</a:t>
                </a:r>
                <a:endParaRPr lang="en-US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81201"/>
              </a:xfrm>
              <a:prstGeom prst="rect">
                <a:avLst/>
              </a:prstGeom>
              <a:blipFill>
                <a:blip r:embed="rId2"/>
                <a:stretch>
                  <a:fillRect l="-1272" t="-204" b="-2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08127" y="5648271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0x96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1001 0</a:t>
            </a:r>
            <a:r>
              <a:rPr lang="en-US" sz="20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	Cache Hit = 0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75554"/>
              </p:ext>
            </p:extLst>
          </p:nvPr>
        </p:nvGraphicFramePr>
        <p:xfrm>
          <a:off x="4309029" y="200973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706682"/>
              </p:ext>
            </p:extLst>
          </p:nvPr>
        </p:nvGraphicFramePr>
        <p:xfrm>
          <a:off x="4309028" y="200973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53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 = </a:t>
            </a:r>
            <a:r>
              <a:rPr lang="en-US" sz="1400" b="1" dirty="0"/>
              <a:t>2</a:t>
            </a:r>
            <a:r>
              <a:rPr lang="en-US" sz="1400" b="1" dirty="0" smtClean="0"/>
              <a:t>B</a:t>
            </a:r>
          </a:p>
          <a:p>
            <a:r>
              <a:rPr lang="en-US" sz="1400" b="1" dirty="0" smtClean="0"/>
              <a:t>C = 16B</a:t>
            </a:r>
          </a:p>
          <a:p>
            <a:r>
              <a:rPr lang="en-US" sz="1400" b="1" dirty="0" smtClean="0"/>
              <a:t>N = 2 (2-way associative)</a:t>
            </a:r>
          </a:p>
          <a:p>
            <a:r>
              <a:rPr lang="en-US" sz="1400" b="1" dirty="0" smtClean="0"/>
              <a:t>Addresses are </a:t>
            </a:r>
            <a:r>
              <a:rPr lang="en-US" sz="1400" b="1" dirty="0"/>
              <a:t>8</a:t>
            </a:r>
            <a:r>
              <a:rPr lang="en-US" sz="1400" b="1" dirty="0" smtClean="0"/>
              <a:t> 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 smtClean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 smtClean="0"/>
                  <a:t>C</a:t>
                </a:r>
                <a:r>
                  <a:rPr lang="en-US" sz="1200" dirty="0" smtClean="0"/>
                  <a:t>/</a:t>
                </a:r>
                <a:r>
                  <a:rPr lang="en-US" sz="1200" i="1" dirty="0" smtClean="0"/>
                  <a:t>b = 16/2 = 8</a:t>
                </a:r>
                <a:endParaRPr lang="en-US" sz="1200" i="1" dirty="0"/>
              </a:p>
              <a:p>
                <a:r>
                  <a:rPr lang="en-US" sz="1200" dirty="0" smtClean="0"/>
                  <a:t>S = B/N = </a:t>
                </a:r>
                <a:r>
                  <a:rPr lang="en-US" sz="1200" dirty="0"/>
                  <a:t>8</a:t>
                </a:r>
                <a:r>
                  <a:rPr lang="en-US" sz="1200" dirty="0" smtClean="0"/>
                  <a:t>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0x1E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0001 1</a:t>
            </a:r>
            <a:r>
              <a:rPr lang="en-US" sz="20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3	Cache Hit = 0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17193"/>
              </p:ext>
            </p:extLst>
          </p:nvPr>
        </p:nvGraphicFramePr>
        <p:xfrm>
          <a:off x="4409771" y="203070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43917"/>
              </p:ext>
            </p:extLst>
          </p:nvPr>
        </p:nvGraphicFramePr>
        <p:xfrm>
          <a:off x="4409771" y="203723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08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 = </a:t>
            </a:r>
            <a:r>
              <a:rPr lang="en-US" sz="1400" b="1" dirty="0"/>
              <a:t>2</a:t>
            </a:r>
            <a:r>
              <a:rPr lang="en-US" sz="1400" b="1" dirty="0" smtClean="0"/>
              <a:t>B</a:t>
            </a:r>
          </a:p>
          <a:p>
            <a:r>
              <a:rPr lang="en-US" sz="1400" b="1" dirty="0" smtClean="0"/>
              <a:t>C = 16B</a:t>
            </a:r>
          </a:p>
          <a:p>
            <a:r>
              <a:rPr lang="en-US" sz="1400" b="1" dirty="0" smtClean="0"/>
              <a:t>N = 2 (2-way associative)</a:t>
            </a:r>
          </a:p>
          <a:p>
            <a:r>
              <a:rPr lang="en-US" sz="1400" b="1" dirty="0" smtClean="0"/>
              <a:t>Addresses are </a:t>
            </a:r>
            <a:r>
              <a:rPr lang="en-US" sz="1400" b="1" dirty="0"/>
              <a:t>8</a:t>
            </a:r>
            <a:r>
              <a:rPr lang="en-US" sz="1400" b="1" dirty="0" smtClean="0"/>
              <a:t> 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 smtClean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 smtClean="0"/>
                  <a:t>C</a:t>
                </a:r>
                <a:r>
                  <a:rPr lang="en-US" sz="1200" dirty="0" smtClean="0"/>
                  <a:t>/</a:t>
                </a:r>
                <a:r>
                  <a:rPr lang="en-US" sz="1200" i="1" dirty="0" smtClean="0"/>
                  <a:t>b = 16/2 = 8</a:t>
                </a:r>
                <a:endParaRPr lang="en-US" sz="1200" i="1" dirty="0"/>
              </a:p>
              <a:p>
                <a:r>
                  <a:rPr lang="en-US" sz="1200" dirty="0" smtClean="0"/>
                  <a:t>S = B/N = </a:t>
                </a:r>
                <a:r>
                  <a:rPr lang="en-US" sz="1200" dirty="0"/>
                  <a:t>8</a:t>
                </a:r>
                <a:r>
                  <a:rPr lang="en-US" sz="1200" dirty="0" smtClean="0"/>
                  <a:t>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0x97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1001 0</a:t>
            </a:r>
            <a:r>
              <a:rPr lang="en-US" sz="20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3	Cache Hit = 1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220121"/>
              </p:ext>
            </p:extLst>
          </p:nvPr>
        </p:nvGraphicFramePr>
        <p:xfrm>
          <a:off x="4409771" y="199098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97781"/>
              </p:ext>
            </p:extLst>
          </p:nvPr>
        </p:nvGraphicFramePr>
        <p:xfrm>
          <a:off x="4409770" y="199098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73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  <a:r>
              <a:rPr lang="en-US" sz="1400" b="1" dirty="0" smtClean="0"/>
              <a:t> = </a:t>
            </a:r>
            <a:r>
              <a:rPr lang="en-US" sz="1400" b="1" dirty="0"/>
              <a:t>2</a:t>
            </a:r>
            <a:r>
              <a:rPr lang="en-US" sz="1400" b="1" dirty="0" smtClean="0"/>
              <a:t>B</a:t>
            </a:r>
          </a:p>
          <a:p>
            <a:r>
              <a:rPr lang="en-US" sz="1400" b="1" dirty="0" smtClean="0"/>
              <a:t>C = 16B</a:t>
            </a:r>
          </a:p>
          <a:p>
            <a:r>
              <a:rPr lang="en-US" sz="1400" b="1" dirty="0" smtClean="0"/>
              <a:t>N = 2 (2-way associative)</a:t>
            </a:r>
          </a:p>
          <a:p>
            <a:r>
              <a:rPr lang="en-US" sz="1400" b="1" dirty="0" smtClean="0"/>
              <a:t>Addresses are </a:t>
            </a:r>
            <a:r>
              <a:rPr lang="en-US" sz="1400" b="1" dirty="0"/>
              <a:t>8</a:t>
            </a:r>
            <a:r>
              <a:rPr lang="en-US" sz="1400" b="1" dirty="0" smtClean="0"/>
              <a:t> 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 smtClean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 smtClean="0"/>
                  <a:t>C</a:t>
                </a:r>
                <a:r>
                  <a:rPr lang="en-US" sz="1200" dirty="0" smtClean="0"/>
                  <a:t>/</a:t>
                </a:r>
                <a:r>
                  <a:rPr lang="en-US" sz="1200" i="1" dirty="0" smtClean="0"/>
                  <a:t>b = 16/2 = 8</a:t>
                </a:r>
                <a:endParaRPr lang="en-US" sz="1200" i="1" dirty="0"/>
              </a:p>
              <a:p>
                <a:r>
                  <a:rPr lang="en-US" sz="1200" dirty="0" smtClean="0"/>
                  <a:t>S = B/N = </a:t>
                </a:r>
                <a:r>
                  <a:rPr lang="en-US" sz="1200" dirty="0"/>
                  <a:t>8</a:t>
                </a:r>
                <a:r>
                  <a:rPr lang="en-US" sz="1200" dirty="0" smtClean="0"/>
                  <a:t>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 smtClean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0X07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0x07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</a:t>
            </a:r>
            <a:r>
              <a:rPr lang="en-US" sz="20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dirty="0" smtClean="0">
                <a:solidFill>
                  <a:srgbClr val="FF0000"/>
                </a:solidFill>
              </a:rPr>
              <a:t>	Cache Hit = 1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03885"/>
              </p:ext>
            </p:extLst>
          </p:nvPr>
        </p:nvGraphicFramePr>
        <p:xfrm>
          <a:off x="4409771" y="2080949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80599"/>
              </p:ext>
            </p:extLst>
          </p:nvPr>
        </p:nvGraphicFramePr>
        <p:xfrm>
          <a:off x="4419866" y="2080949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xmlns="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Sets 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 smtClean="0"/>
                    </a:p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blipFill>
                <a:blip r:embed="rId2"/>
                <a:stretch>
                  <a:fillRect l="-1431" t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0x06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0000 0110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1	Cache Hit = 0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335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70372"/>
              </p:ext>
            </p:extLst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98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0xEF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blipFill>
                <a:blip r:embed="rId2"/>
                <a:stretch>
                  <a:fillRect l="-1431" t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0xEF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1110 1111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	Cache Hit = 0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01924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1110 1111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01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0xB2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200876"/>
              </a:xfrm>
              <a:prstGeom prst="rect">
                <a:avLst/>
              </a:prstGeom>
              <a:blipFill>
                <a:blip r:embed="rId2"/>
                <a:stretch>
                  <a:fillRect l="-1431" t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0xB2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1011 0010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3	Cache Hit = 0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12648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1110 1111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1011</a:t>
                      </a:r>
                      <a:r>
                        <a:rPr lang="en-US" b="0" baseline="0" dirty="0" smtClean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38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754874"/>
              </a:xfrm>
              <a:prstGeom prst="rect">
                <a:avLst/>
              </a:prstGeom>
              <a:blipFill>
                <a:blip r:embed="rId2"/>
                <a:stretch>
                  <a:fillRect l="-1431" t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0x06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0000 0110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	Cache Hit = 1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26241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1110 1111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1011</a:t>
                      </a:r>
                      <a:r>
                        <a:rPr lang="en-US" b="0" baseline="0" dirty="0" smtClean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55" y="6429178"/>
            <a:ext cx="7259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Respective tag found so it’s a cache hit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5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0x59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4031873"/>
              </a:xfrm>
              <a:prstGeom prst="rect">
                <a:avLst/>
              </a:prstGeom>
              <a:blipFill>
                <a:blip r:embed="rId2"/>
                <a:stretch>
                  <a:fillRect l="-1431" t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0x59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0101 1001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4	Cache Hit = 1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14454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1110 1111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1011</a:t>
                      </a:r>
                      <a:r>
                        <a:rPr lang="en-US" b="0" baseline="0" dirty="0" smtClean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0101</a:t>
                      </a:r>
                      <a:r>
                        <a:rPr lang="en-US" b="0" baseline="0" dirty="0" smtClean="0"/>
                        <a:t> 1001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44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 smtClean="0">
                <a:solidFill>
                  <a:srgbClr val="0070C0"/>
                </a:solidFill>
              </a:rPr>
              <a:t>binary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</a:t>
            </a:r>
            <a:r>
              <a:rPr lang="en-US" sz="1400" b="1" dirty="0" smtClean="0"/>
              <a:t>B</a:t>
            </a:r>
            <a:endParaRPr lang="en-US" sz="1400" b="1" dirty="0"/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</a:t>
            </a:r>
            <a:r>
              <a:rPr lang="en-US" sz="1400" b="1" dirty="0" smtClean="0"/>
              <a:t>4-ways</a:t>
            </a:r>
          </a:p>
          <a:p>
            <a:r>
              <a:rPr lang="en-US" sz="1400" b="1" dirty="0" smtClean="0"/>
              <a:t>Address is 8bits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 smtClean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</a:t>
                </a:r>
                <a:r>
                  <a:rPr lang="en-US" sz="1400" i="1" dirty="0" smtClean="0"/>
                  <a:t>4/1 </a:t>
                </a:r>
                <a:r>
                  <a:rPr lang="en-US" sz="1400" i="1" dirty="0"/>
                  <a:t>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 smtClean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0x06</a:t>
                </a: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0x59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0x23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4308872"/>
              </a:xfrm>
              <a:prstGeom prst="rect">
                <a:avLst/>
              </a:prstGeom>
              <a:blipFill>
                <a:blip r:embed="rId2"/>
                <a:stretch>
                  <a:fillRect l="-1431" t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Memory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Cache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0x59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0010 0011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 smtClean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</a:t>
            </a:r>
            <a:r>
              <a:rPr lang="en-US" sz="1600" b="1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Cache Miss = 4	Cache Hit = 1 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xmlns="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02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03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04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04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05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05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06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06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07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07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…….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…….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FD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FD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FE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FE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FF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FF</a:t>
                      </a:r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23421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xmlns="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xmlns="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xmlns="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xmlns="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xmlns="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 smtClean="0"/>
                    </a:p>
                    <a:p>
                      <a:pPr algn="l"/>
                      <a:r>
                        <a:rPr lang="en-US" b="1" dirty="0" smtClean="0"/>
                        <a:t>Set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V</a:t>
                      </a:r>
                      <a:r>
                        <a:rPr lang="en-US" b="1" baseline="0" dirty="0" smtClean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LRU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Tags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Data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0000 0110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0010</a:t>
                      </a:r>
                      <a:r>
                        <a:rPr lang="en-US" b="0" baseline="0" dirty="0" smtClean="0"/>
                        <a:t> 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1011</a:t>
                      </a:r>
                      <a:r>
                        <a:rPr lang="en-US" b="0" baseline="0" dirty="0" smtClean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0101</a:t>
                      </a:r>
                      <a:r>
                        <a:rPr lang="en-US" b="0" baseline="0" dirty="0" smtClean="0"/>
                        <a:t> 1001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4577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94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Cache Misses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Compulsory Miss: </a:t>
            </a:r>
          </a:p>
          <a:p>
            <a:r>
              <a:rPr lang="en-US" dirty="0" smtClean="0"/>
              <a:t>The </a:t>
            </a:r>
            <a:r>
              <a:rPr lang="en-US" dirty="0"/>
              <a:t>first request to a cache block is called a compulsory miss, because the block must be read from memory regardless of the cache design. </a:t>
            </a: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Capacity </a:t>
            </a:r>
            <a:r>
              <a:rPr lang="en-US" b="1" dirty="0">
                <a:solidFill>
                  <a:srgbClr val="0070C0"/>
                </a:solidFill>
              </a:rPr>
              <a:t>Miss:</a:t>
            </a:r>
            <a:endParaRPr lang="en-US" dirty="0" smtClean="0"/>
          </a:p>
          <a:p>
            <a:r>
              <a:rPr lang="en-US" dirty="0" smtClean="0"/>
              <a:t>Capacity </a:t>
            </a:r>
            <a:r>
              <a:rPr lang="en-US" dirty="0"/>
              <a:t>misses occur when the cache is too small to hold all concurrently used data. </a:t>
            </a: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Conflict </a:t>
            </a:r>
            <a:r>
              <a:rPr lang="en-US" b="1" dirty="0">
                <a:solidFill>
                  <a:srgbClr val="0070C0"/>
                </a:solidFill>
              </a:rPr>
              <a:t>Miss: 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dirty="0" smtClean="0"/>
              <a:t>Conflict </a:t>
            </a:r>
            <a:r>
              <a:rPr lang="en-US" dirty="0"/>
              <a:t>misses are caused when several addresses map to the same set and evict blocks that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354558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508" lvl="1" indent="-342900">
              <a:buFont typeface="+mj-lt"/>
              <a:buAutoNum type="arabicPeriod"/>
            </a:pPr>
            <a:r>
              <a:rPr lang="en-US" dirty="0"/>
              <a:t>I</a:t>
            </a:r>
            <a:r>
              <a:rPr lang="en-US" dirty="0" smtClean="0"/>
              <a:t>ncreasing </a:t>
            </a:r>
            <a:r>
              <a:rPr lang="en-US" dirty="0"/>
              <a:t>cache capacity can reduce conflict and capacity misses, but it does not affect compulsory misses. </a:t>
            </a:r>
            <a:endParaRPr lang="en-US" dirty="0" smtClean="0"/>
          </a:p>
          <a:p>
            <a:pPr marL="635508" lvl="1" indent="-342900">
              <a:buFont typeface="+mj-lt"/>
              <a:buAutoNum type="arabicPeriod"/>
            </a:pPr>
            <a:r>
              <a:rPr lang="en-US" dirty="0" smtClean="0"/>
              <a:t>Increasing </a:t>
            </a:r>
            <a:r>
              <a:rPr lang="en-US" dirty="0"/>
              <a:t>block size could reduce compulsory misses (due to spatial locality</a:t>
            </a:r>
            <a:r>
              <a:rPr lang="en-US" dirty="0" smtClean="0"/>
              <a:t>). </a:t>
            </a:r>
            <a:r>
              <a:rPr lang="en-US" dirty="0"/>
              <a:t>But as block size increases, the number of sets in a fixed-size cache decreases, increasing the probability of </a:t>
            </a:r>
            <a:r>
              <a:rPr lang="en-US" dirty="0" smtClean="0"/>
              <a:t>conflicts.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An </a:t>
            </a:r>
            <a:r>
              <a:rPr lang="en-US" i="1" dirty="0"/>
              <a:t>N-way set associative</a:t>
            </a:r>
            <a:r>
              <a:rPr lang="en-US" dirty="0"/>
              <a:t> cache reduces conflicts by providing </a:t>
            </a:r>
            <a:r>
              <a:rPr lang="en-US" i="1" dirty="0"/>
              <a:t>N</a:t>
            </a:r>
            <a:r>
              <a:rPr lang="en-US" dirty="0"/>
              <a:t> blocks in each set where data mapping to that set might be found. Each memory address still maps to a specific set, but it can map to any one of the </a:t>
            </a:r>
            <a:r>
              <a:rPr lang="en-US" i="1" dirty="0"/>
              <a:t>N</a:t>
            </a:r>
            <a:r>
              <a:rPr lang="en-US" dirty="0"/>
              <a:t> blocks in the set</a:t>
            </a:r>
            <a:r>
              <a:rPr lang="en-US" dirty="0" smtClean="0"/>
              <a:t>. </a:t>
            </a:r>
            <a:r>
              <a:rPr lang="en-US" dirty="0"/>
              <a:t>However, set associative caches are usually slower and somewhat more expensive to build</a:t>
            </a:r>
            <a:endParaRPr lang="en-US" dirty="0" smtClean="0"/>
          </a:p>
          <a:p>
            <a:pPr marL="635508" lvl="1" indent="-342900">
              <a:buFont typeface="+mj-lt"/>
              <a:buAutoNum type="arabicPeriod"/>
            </a:pPr>
            <a:endParaRPr lang="en-US" b="1" dirty="0" smtClean="0"/>
          </a:p>
          <a:p>
            <a:pPr marL="1184148" lvl="4" indent="-3429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830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1299</TotalTime>
  <Words>2334</Words>
  <Application>Microsoft Office PowerPoint</Application>
  <PresentationFormat>Custom</PresentationFormat>
  <Paragraphs>1029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Retrospect</vt:lpstr>
      <vt:lpstr>Cache </vt:lpstr>
      <vt:lpstr>LRU bit</vt:lpstr>
      <vt:lpstr>LRU bit</vt:lpstr>
      <vt:lpstr>Example 02</vt:lpstr>
      <vt:lpstr>Example 02</vt:lpstr>
      <vt:lpstr>Example 02</vt:lpstr>
      <vt:lpstr>Example 02</vt:lpstr>
      <vt:lpstr>Example 02</vt:lpstr>
      <vt:lpstr>Example 03</vt:lpstr>
      <vt:lpstr>Example 03</vt:lpstr>
      <vt:lpstr>Example 03</vt:lpstr>
      <vt:lpstr>Example 03</vt:lpstr>
      <vt:lpstr>Example 03</vt:lpstr>
      <vt:lpstr>Example 03</vt:lpstr>
      <vt:lpstr>Types of Cache Misses</vt:lpstr>
      <vt:lpstr>Cache Parameters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</dc:title>
  <dc:creator>saroshshahid@gmail.com</dc:creator>
  <cp:lastModifiedBy>chilwan</cp:lastModifiedBy>
  <cp:revision>71</cp:revision>
  <dcterms:created xsi:type="dcterms:W3CDTF">2020-03-26T04:42:27Z</dcterms:created>
  <dcterms:modified xsi:type="dcterms:W3CDTF">2020-12-14T10:29:06Z</dcterms:modified>
</cp:coreProperties>
</file>