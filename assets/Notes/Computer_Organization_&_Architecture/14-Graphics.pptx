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61" r:id="rId5"/>
    <p:sldId id="262" r:id="rId6"/>
    <p:sldId id="264" r:id="rId7"/>
    <p:sldId id="268" r:id="rId8"/>
    <p:sldId id="265" r:id="rId9"/>
    <p:sldId id="266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2" d="100"/>
          <a:sy n="52" d="100"/>
        </p:scale>
        <p:origin x="-108" y="-6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7C1DD0-2741-4C07-9970-69CF8F3827C5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3C99A-4804-43B3-9993-440F22095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16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022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497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88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15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40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054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4C3E18F-3CB7-46A0-8301-0008DA77D65A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849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319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460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1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4C3E18F-3CB7-46A0-8301-0008DA77D65A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76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Graphics 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Compiled by</a:t>
            </a:r>
            <a:r>
              <a:rPr lang="en-US" b="1" dirty="0" smtClean="0"/>
              <a:t>:</a:t>
            </a:r>
          </a:p>
          <a:p>
            <a:r>
              <a:rPr lang="en-US" dirty="0" smtClean="0"/>
              <a:t>		</a:t>
            </a:r>
            <a:r>
              <a:rPr lang="en-US" dirty="0" err="1" smtClean="0"/>
              <a:t>Sarosh</a:t>
            </a:r>
            <a:r>
              <a:rPr lang="en-US" dirty="0" smtClean="0"/>
              <a:t> </a:t>
            </a:r>
            <a:r>
              <a:rPr lang="en-US" dirty="0" err="1" smtClean="0"/>
              <a:t>shahid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95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110" y="2129702"/>
            <a:ext cx="5520625" cy="12600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547" y="3179618"/>
            <a:ext cx="4664617" cy="29071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748865"/>
            <a:ext cx="4915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Text Mode  </a:t>
            </a:r>
            <a:r>
              <a:rPr lang="en-US" dirty="0" smtClean="0"/>
              <a:t>- can only display ASCII characters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298545" y="2810286"/>
            <a:ext cx="134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Video Mode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97281" y="4171526"/>
            <a:ext cx="107326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Graphics </a:t>
            </a:r>
          </a:p>
        </p:txBody>
      </p:sp>
      <p:cxnSp>
        <p:nvCxnSpPr>
          <p:cNvPr id="12" name="Straight Arrow Connector 11"/>
          <p:cNvCxnSpPr>
            <a:stCxn id="8" idx="3"/>
          </p:cNvCxnSpPr>
          <p:nvPr/>
        </p:nvCxnSpPr>
        <p:spPr>
          <a:xfrm>
            <a:off x="2170545" y="4356192"/>
            <a:ext cx="489528" cy="3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708101" y="4033026"/>
            <a:ext cx="1569259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Bit Mapped Image (pixels)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79090"/>
            <a:ext cx="1333731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Text Mode 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</a:rPr>
              <a:t>to 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</a:rPr>
              <a:t>Video Mode 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463337" y="5309968"/>
            <a:ext cx="489528" cy="3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952865" y="5079090"/>
            <a:ext cx="3060008" cy="9233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mov </a:t>
            </a:r>
            <a:r>
              <a:rPr lang="pt-BR" dirty="0" smtClean="0">
                <a:solidFill>
                  <a:srgbClr val="FF0000"/>
                </a:solidFill>
              </a:rPr>
              <a:t>AH,0   </a:t>
            </a:r>
            <a:r>
              <a:rPr lang="pt-BR" dirty="0" smtClean="0"/>
              <a:t>;Interrupt function</a:t>
            </a:r>
            <a:endParaRPr lang="pt-BR" dirty="0"/>
          </a:p>
          <a:p>
            <a:r>
              <a:rPr lang="pt-BR" dirty="0">
                <a:solidFill>
                  <a:srgbClr val="FF0000"/>
                </a:solidFill>
              </a:rPr>
              <a:t>mov </a:t>
            </a:r>
            <a:r>
              <a:rPr lang="pt-BR" dirty="0" smtClean="0">
                <a:solidFill>
                  <a:srgbClr val="FF0000"/>
                </a:solidFill>
              </a:rPr>
              <a:t>AL,12h  </a:t>
            </a:r>
            <a:r>
              <a:rPr lang="pt-BR" dirty="0" smtClean="0"/>
              <a:t>;Mode #</a:t>
            </a:r>
            <a:endParaRPr lang="pt-BR" dirty="0"/>
          </a:p>
          <a:p>
            <a:r>
              <a:rPr lang="pt-BR" dirty="0">
                <a:solidFill>
                  <a:srgbClr val="FF0000"/>
                </a:solidFill>
              </a:rPr>
              <a:t>int 10h</a:t>
            </a:r>
            <a:endParaRPr lang="en-US" dirty="0" smtClean="0">
              <a:solidFill>
                <a:srgbClr val="FF0000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277360" y="4352819"/>
            <a:ext cx="2705187" cy="3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405" y="5309968"/>
            <a:ext cx="4152900" cy="457200"/>
          </a:xfrm>
          <a:prstGeom prst="rect">
            <a:avLst/>
          </a:prstGeom>
        </p:spPr>
      </p:pic>
      <p:cxnSp>
        <p:nvCxnSpPr>
          <p:cNvPr id="23" name="Straight Arrow Connector 22"/>
          <p:cNvCxnSpPr/>
          <p:nvPr/>
        </p:nvCxnSpPr>
        <p:spPr>
          <a:xfrm>
            <a:off x="5136198" y="5538568"/>
            <a:ext cx="21022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48944" y="4996128"/>
            <a:ext cx="4387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Mode	           Dimensions	         </a:t>
            </a:r>
            <a:r>
              <a:rPr lang="en-US" dirty="0" err="1" smtClean="0">
                <a:solidFill>
                  <a:schemeClr val="bg1"/>
                </a:solidFill>
              </a:rPr>
              <a:t>Colours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3000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14" grpId="0" animBg="1"/>
      <p:bldP spid="17" grpId="0" animBg="1"/>
      <p:bldP spid="19" grpId="0" animBg="1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 Pixel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Mov</a:t>
            </a:r>
            <a:r>
              <a:rPr lang="en-US" dirty="0" smtClean="0"/>
              <a:t> AH, 0Ch</a:t>
            </a:r>
          </a:p>
          <a:p>
            <a:r>
              <a:rPr lang="en-US" dirty="0" err="1" smtClean="0"/>
              <a:t>Mov</a:t>
            </a:r>
            <a:r>
              <a:rPr lang="en-US" dirty="0" smtClean="0"/>
              <a:t> AL, </a:t>
            </a:r>
            <a:r>
              <a:rPr lang="en-US" dirty="0" err="1" smtClean="0"/>
              <a:t>colour_number</a:t>
            </a:r>
            <a:endParaRPr lang="en-US" dirty="0" smtClean="0"/>
          </a:p>
          <a:p>
            <a:r>
              <a:rPr lang="en-US" dirty="0" err="1" smtClean="0"/>
              <a:t>Mov</a:t>
            </a:r>
            <a:r>
              <a:rPr lang="en-US" dirty="0" smtClean="0"/>
              <a:t> CX, </a:t>
            </a:r>
            <a:r>
              <a:rPr lang="en-US" dirty="0" err="1" smtClean="0"/>
              <a:t>x_axis</a:t>
            </a:r>
            <a:endParaRPr lang="en-US" dirty="0" smtClean="0"/>
          </a:p>
          <a:p>
            <a:r>
              <a:rPr lang="en-US" dirty="0" err="1" smtClean="0"/>
              <a:t>Mov</a:t>
            </a:r>
            <a:r>
              <a:rPr lang="en-US" dirty="0" smtClean="0"/>
              <a:t> DX, </a:t>
            </a:r>
            <a:r>
              <a:rPr lang="en-US" dirty="0" err="1" smtClean="0"/>
              <a:t>y_axis</a:t>
            </a:r>
            <a:endParaRPr lang="en-US" dirty="0" smtClean="0"/>
          </a:p>
          <a:p>
            <a:r>
              <a:rPr lang="en-US" dirty="0" err="1" smtClean="0"/>
              <a:t>Int</a:t>
            </a:r>
            <a:r>
              <a:rPr lang="en-US" dirty="0" smtClean="0"/>
              <a:t> 10H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329" y="1845734"/>
            <a:ext cx="4479925" cy="3565797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6862329" y="2789382"/>
            <a:ext cx="123796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8100291" y="2050473"/>
            <a:ext cx="0" cy="73890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0" y="2493819"/>
            <a:ext cx="598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7329" y="2235261"/>
            <a:ext cx="598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</a:t>
            </a:r>
            <a:r>
              <a:rPr lang="en-US" dirty="0" smtClean="0">
                <a:solidFill>
                  <a:schemeClr val="bg1"/>
                </a:solidFill>
              </a:rPr>
              <a:t>X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905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Change Background color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AL </a:t>
            </a:r>
            <a:r>
              <a:rPr lang="pt-BR" dirty="0"/>
              <a:t>having Scrol </a:t>
            </a:r>
            <a:r>
              <a:rPr lang="pt-BR" dirty="0" smtClean="0"/>
              <a:t>line (always 0)</a:t>
            </a:r>
            <a:endParaRPr lang="pt-BR" dirty="0"/>
          </a:p>
          <a:p>
            <a:r>
              <a:rPr lang="pt-BR" dirty="0"/>
              <a:t>BH having </a:t>
            </a:r>
            <a:r>
              <a:rPr lang="pt-BR" dirty="0" smtClean="0"/>
              <a:t>background</a:t>
            </a:r>
            <a:endParaRPr lang="pt-BR" dirty="0"/>
          </a:p>
          <a:p>
            <a:r>
              <a:rPr lang="pt-BR" dirty="0"/>
              <a:t>CX having (</a:t>
            </a:r>
            <a:r>
              <a:rPr lang="pt-BR" dirty="0">
                <a:solidFill>
                  <a:srgbClr val="FF0000"/>
                </a:solidFill>
              </a:rPr>
              <a:t>CH</a:t>
            </a:r>
            <a:r>
              <a:rPr lang="pt-BR" dirty="0"/>
              <a:t>= upper row number, </a:t>
            </a:r>
            <a:r>
              <a:rPr lang="pt-BR" dirty="0">
                <a:solidFill>
                  <a:srgbClr val="FF0000"/>
                </a:solidFill>
              </a:rPr>
              <a:t>CL</a:t>
            </a:r>
            <a:r>
              <a:rPr lang="pt-BR" dirty="0"/>
              <a:t> left </a:t>
            </a:r>
            <a:r>
              <a:rPr lang="pt-BR" dirty="0" smtClean="0"/>
              <a:t>column </a:t>
            </a:r>
            <a:r>
              <a:rPr lang="pt-BR" dirty="0"/>
              <a:t>number)</a:t>
            </a:r>
          </a:p>
          <a:p>
            <a:r>
              <a:rPr lang="pt-BR" dirty="0"/>
              <a:t>DX having (</a:t>
            </a:r>
            <a:r>
              <a:rPr lang="pt-BR" dirty="0">
                <a:solidFill>
                  <a:srgbClr val="FF0000"/>
                </a:solidFill>
              </a:rPr>
              <a:t>DH</a:t>
            </a:r>
            <a:r>
              <a:rPr lang="pt-BR" dirty="0"/>
              <a:t>= lower row number, </a:t>
            </a:r>
            <a:r>
              <a:rPr lang="pt-BR" dirty="0">
                <a:solidFill>
                  <a:srgbClr val="FF0000"/>
                </a:solidFill>
              </a:rPr>
              <a:t>DL</a:t>
            </a:r>
            <a:r>
              <a:rPr lang="pt-BR" dirty="0"/>
              <a:t> Right </a:t>
            </a:r>
            <a:r>
              <a:rPr lang="pt-BR" dirty="0" smtClean="0"/>
              <a:t>column </a:t>
            </a:r>
            <a:r>
              <a:rPr lang="pt-BR" dirty="0"/>
              <a:t>number)</a:t>
            </a:r>
          </a:p>
          <a:p>
            <a:pPr lvl="1"/>
            <a:r>
              <a:rPr lang="pt-BR" dirty="0"/>
              <a:t>Example</a:t>
            </a:r>
          </a:p>
          <a:p>
            <a:pPr lvl="2"/>
            <a:r>
              <a:rPr lang="pt-BR" dirty="0"/>
              <a:t>MOV AH, 06h</a:t>
            </a:r>
          </a:p>
          <a:p>
            <a:pPr lvl="2"/>
            <a:r>
              <a:rPr lang="pt-BR" dirty="0"/>
              <a:t>MOV AL, 0</a:t>
            </a:r>
          </a:p>
          <a:p>
            <a:pPr lvl="2"/>
            <a:r>
              <a:rPr lang="pt-BR" dirty="0"/>
              <a:t>MOV CX, 0</a:t>
            </a:r>
          </a:p>
          <a:p>
            <a:pPr lvl="2"/>
            <a:r>
              <a:rPr lang="pt-BR" dirty="0"/>
              <a:t>MOV DH, 80</a:t>
            </a:r>
          </a:p>
          <a:p>
            <a:pPr lvl="2"/>
            <a:r>
              <a:rPr lang="pt-BR" dirty="0"/>
              <a:t>MOV DL, 80	</a:t>
            </a:r>
          </a:p>
          <a:p>
            <a:pPr lvl="2"/>
            <a:r>
              <a:rPr lang="pt-BR" dirty="0"/>
              <a:t>MOV BH, 14h</a:t>
            </a:r>
          </a:p>
          <a:p>
            <a:pPr lvl="2"/>
            <a:r>
              <a:rPr lang="pt-BR" dirty="0"/>
              <a:t>INT 10h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017164" y="2216727"/>
            <a:ext cx="4073236" cy="27062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180945" y="3136978"/>
            <a:ext cx="1542473" cy="72043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8017164" y="3136978"/>
            <a:ext cx="1163781" cy="0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8017164" y="3890973"/>
            <a:ext cx="2706254" cy="0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9180945" y="2216727"/>
            <a:ext cx="0" cy="920251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10733116" y="2185627"/>
            <a:ext cx="27247" cy="1705346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30145" y="2379225"/>
            <a:ext cx="785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CH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12727" y="2857116"/>
            <a:ext cx="785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97818" y="3859075"/>
            <a:ext cx="785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733116" y="2938396"/>
            <a:ext cx="785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DH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553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Steps: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dirty="0" smtClean="0"/>
              <a:t>Set Cursor</a:t>
            </a:r>
          </a:p>
          <a:p>
            <a:pPr marL="384048" lvl="2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mov</a:t>
            </a:r>
            <a:r>
              <a:rPr lang="en-US" dirty="0" smtClean="0"/>
              <a:t> ah,02  ;interrupt function number</a:t>
            </a:r>
            <a:endParaRPr lang="en-US" dirty="0"/>
          </a:p>
          <a:p>
            <a:pPr marL="384048" lvl="2" indent="0">
              <a:buNone/>
            </a:pPr>
            <a:r>
              <a:rPr lang="en-US" dirty="0"/>
              <a:t>	</a:t>
            </a:r>
            <a:r>
              <a:rPr lang="en-US" dirty="0" err="1" smtClean="0"/>
              <a:t>mov</a:t>
            </a:r>
            <a:r>
              <a:rPr lang="en-US" dirty="0" smtClean="0"/>
              <a:t> bh,0    ;page number 0 </a:t>
            </a:r>
          </a:p>
          <a:p>
            <a:pPr marL="384048" lvl="2" indent="0">
              <a:buNone/>
            </a:pPr>
            <a:r>
              <a:rPr lang="en-US" dirty="0"/>
              <a:t>	</a:t>
            </a:r>
            <a:r>
              <a:rPr lang="en-US" dirty="0" err="1" smtClean="0"/>
              <a:t>mov</a:t>
            </a:r>
            <a:r>
              <a:rPr lang="en-US" dirty="0" smtClean="0"/>
              <a:t> dh,5    ;Row number</a:t>
            </a:r>
            <a:endParaRPr lang="en-US" dirty="0"/>
          </a:p>
          <a:p>
            <a:pPr marL="384048" lvl="2" indent="0">
              <a:buNone/>
            </a:pPr>
            <a:r>
              <a:rPr lang="en-US" dirty="0"/>
              <a:t>	</a:t>
            </a:r>
            <a:r>
              <a:rPr lang="en-US" dirty="0" err="1"/>
              <a:t>mov</a:t>
            </a:r>
            <a:r>
              <a:rPr lang="en-US" dirty="0"/>
              <a:t> </a:t>
            </a:r>
            <a:r>
              <a:rPr lang="en-US" dirty="0" smtClean="0"/>
              <a:t>dl,10   ;column number</a:t>
            </a:r>
            <a:endParaRPr lang="en-US" dirty="0"/>
          </a:p>
          <a:p>
            <a:pPr marL="384048" lvl="2" indent="0">
              <a:buNone/>
            </a:pP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10h</a:t>
            </a:r>
            <a:endParaRPr lang="en-US" dirty="0" smtClean="0"/>
          </a:p>
          <a:p>
            <a:pPr marL="544068" lvl="1" indent="-342900">
              <a:buFont typeface="+mj-lt"/>
              <a:buAutoNum type="arabicPeriod"/>
            </a:pPr>
            <a:r>
              <a:rPr lang="en-US" dirty="0" smtClean="0"/>
              <a:t>Write character</a:t>
            </a:r>
          </a:p>
          <a:p>
            <a:pPr marL="384048" lvl="2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mov</a:t>
            </a:r>
            <a:r>
              <a:rPr lang="en-US" dirty="0" smtClean="0"/>
              <a:t> </a:t>
            </a:r>
            <a:r>
              <a:rPr lang="en-US" dirty="0"/>
              <a:t>ah, </a:t>
            </a:r>
            <a:r>
              <a:rPr lang="en-US" dirty="0" smtClean="0"/>
              <a:t>09h  ;interrupt function number</a:t>
            </a:r>
            <a:endParaRPr lang="en-US" dirty="0"/>
          </a:p>
          <a:p>
            <a:pPr marL="384048" lvl="2" indent="0">
              <a:buNone/>
            </a:pPr>
            <a:r>
              <a:rPr lang="en-US" dirty="0"/>
              <a:t>    </a:t>
            </a:r>
            <a:r>
              <a:rPr lang="en-US" dirty="0" smtClean="0"/>
              <a:t>	</a:t>
            </a:r>
            <a:r>
              <a:rPr lang="en-US" dirty="0" err="1" smtClean="0"/>
              <a:t>mov</a:t>
            </a:r>
            <a:r>
              <a:rPr lang="en-US" dirty="0" smtClean="0"/>
              <a:t> </a:t>
            </a:r>
            <a:r>
              <a:rPr lang="en-US" dirty="0"/>
              <a:t>al, </a:t>
            </a:r>
            <a:r>
              <a:rPr lang="en-US" dirty="0" smtClean="0"/>
              <a:t>'A‘      ;Character to be printed</a:t>
            </a:r>
            <a:endParaRPr lang="en-US" dirty="0"/>
          </a:p>
          <a:p>
            <a:pPr marL="384048" lvl="2" indent="0">
              <a:buNone/>
            </a:pPr>
            <a:r>
              <a:rPr lang="en-US" dirty="0"/>
              <a:t>	</a:t>
            </a:r>
            <a:r>
              <a:rPr lang="en-US" dirty="0" err="1"/>
              <a:t>mov</a:t>
            </a:r>
            <a:r>
              <a:rPr lang="en-US" dirty="0"/>
              <a:t> </a:t>
            </a:r>
            <a:r>
              <a:rPr lang="en-US" dirty="0" smtClean="0"/>
              <a:t>cx,5        ;Number of times</a:t>
            </a:r>
            <a:endParaRPr lang="en-US" dirty="0"/>
          </a:p>
          <a:p>
            <a:pPr marL="384048" lvl="2" indent="0">
              <a:buNone/>
            </a:pPr>
            <a:r>
              <a:rPr lang="en-US" dirty="0"/>
              <a:t>	</a:t>
            </a:r>
            <a:r>
              <a:rPr lang="en-US" dirty="0" err="1"/>
              <a:t>mov</a:t>
            </a:r>
            <a:r>
              <a:rPr lang="en-US" dirty="0"/>
              <a:t> </a:t>
            </a:r>
            <a:r>
              <a:rPr lang="en-US" dirty="0" smtClean="0"/>
              <a:t>bh,0        ;page number</a:t>
            </a:r>
            <a:endParaRPr lang="en-US" dirty="0"/>
          </a:p>
          <a:p>
            <a:pPr marL="384048" lvl="2" indent="0">
              <a:buNone/>
            </a:pPr>
            <a:r>
              <a:rPr lang="en-US" dirty="0"/>
              <a:t>	</a:t>
            </a:r>
            <a:r>
              <a:rPr lang="en-US" dirty="0" err="1"/>
              <a:t>mov</a:t>
            </a:r>
            <a:r>
              <a:rPr lang="en-US" dirty="0"/>
              <a:t> </a:t>
            </a:r>
            <a:r>
              <a:rPr lang="en-US" dirty="0" smtClean="0"/>
              <a:t>bl,2	  ;</a:t>
            </a:r>
            <a:r>
              <a:rPr lang="en-US" dirty="0" err="1" smtClean="0"/>
              <a:t>colour</a:t>
            </a:r>
            <a:endParaRPr lang="en-US" dirty="0"/>
          </a:p>
          <a:p>
            <a:pPr marL="384048" lvl="2" indent="0">
              <a:buNone/>
            </a:pPr>
            <a:r>
              <a:rPr lang="en-US" dirty="0"/>
              <a:t>   </a:t>
            </a: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10h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255" y="1845734"/>
            <a:ext cx="4461733" cy="301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411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Animation</a:t>
            </a:r>
            <a:endParaRPr lang="en-US" dirty="0"/>
          </a:p>
        </p:txBody>
      </p:sp>
      <p:pic>
        <p:nvPicPr>
          <p:cNvPr id="3074" name="Picture 2" descr="https://miro.medium.com/max/486/1*cL0Gv0bBUbzwZKFZ5C3Th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5" y="1909762"/>
            <a:ext cx="2171989" cy="127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miro.medium.com/max/486/1*cL0Gv0bBUbzwZKFZ5C3Th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7597" y="1909760"/>
            <a:ext cx="2171989" cy="127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s://miro.medium.com/max/486/1*cL0Gv0bBUbzwZKFZ5C3Th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619" y="1909760"/>
            <a:ext cx="2171989" cy="127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s://miro.medium.com/max/486/1*cL0Gv0bBUbzwZKFZ5C3Th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9641" y="1909760"/>
            <a:ext cx="2171989" cy="127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575608" y="3170537"/>
            <a:ext cx="2171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Frame 01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4398269" y="3159145"/>
            <a:ext cx="932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Frame 02</a:t>
            </a:r>
            <a:endParaRPr 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7036291" y="3159146"/>
            <a:ext cx="934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Frame 03</a:t>
            </a:r>
            <a:endParaRPr 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9615863" y="3159147"/>
            <a:ext cx="904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Frame N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1171575" y="2382982"/>
            <a:ext cx="472498" cy="16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925771" y="2382982"/>
            <a:ext cx="472498" cy="16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644120" y="2399950"/>
            <a:ext cx="472498" cy="16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599132" y="2381477"/>
            <a:ext cx="472498" cy="16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8495608" y="2327710"/>
            <a:ext cx="472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…..</a:t>
            </a:r>
            <a:endParaRPr lang="en-US" sz="1400" b="1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770" y="3355203"/>
            <a:ext cx="1738428" cy="55347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89477" y="3812634"/>
            <a:ext cx="30908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Clear the screen (Erase the already drawn content)</a:t>
            </a:r>
          </a:p>
          <a:p>
            <a:pPr marL="342900" indent="-342900">
              <a:buFont typeface="+mj-lt"/>
              <a:buAutoNum type="arabicPeriod"/>
            </a:pP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Change the position of line</a:t>
            </a:r>
          </a:p>
          <a:p>
            <a:pPr marL="342900" indent="-342900">
              <a:buFont typeface="+mj-lt"/>
              <a:buAutoNum type="arabicPeriod"/>
            </a:pP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Delay (timer) so that user can visualize it properly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cxnSp>
        <p:nvCxnSpPr>
          <p:cNvPr id="22" name="Straight Arrow Connector 21"/>
          <p:cNvCxnSpPr/>
          <p:nvPr/>
        </p:nvCxnSpPr>
        <p:spPr>
          <a:xfrm flipH="1" flipV="1">
            <a:off x="2687782" y="4054764"/>
            <a:ext cx="1101696" cy="9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" descr="https://miro.medium.com/max/486/1*cL0Gv0bBUbzwZKFZ5C3Th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0" y="3675096"/>
            <a:ext cx="2171989" cy="127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/>
          <p:cNvSpPr/>
          <p:nvPr/>
        </p:nvSpPr>
        <p:spPr>
          <a:xfrm>
            <a:off x="239709" y="4156364"/>
            <a:ext cx="600800" cy="139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ultiply 25"/>
          <p:cNvSpPr/>
          <p:nvPr/>
        </p:nvSpPr>
        <p:spPr>
          <a:xfrm>
            <a:off x="1971577" y="3466922"/>
            <a:ext cx="716206" cy="870202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3127" y="3631941"/>
            <a:ext cx="2604655" cy="265802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239709" y="4960953"/>
            <a:ext cx="2296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If not done the previous shape will be retained on the window</a:t>
            </a:r>
            <a:endParaRPr lang="en-US" dirty="0"/>
          </a:p>
        </p:txBody>
      </p:sp>
      <p:pic>
        <p:nvPicPr>
          <p:cNvPr id="31" name="Picture 2" descr="https://miro.medium.com/max/486/1*cL0Gv0bBUbzwZKFZ5C3Th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3469" y="3697675"/>
            <a:ext cx="2171989" cy="127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 31"/>
          <p:cNvSpPr/>
          <p:nvPr/>
        </p:nvSpPr>
        <p:spPr>
          <a:xfrm>
            <a:off x="10416769" y="4178943"/>
            <a:ext cx="483273" cy="139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8576886" y="3654520"/>
            <a:ext cx="2604655" cy="265802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8733468" y="4983532"/>
            <a:ext cx="22960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If not done the will get to visualize only the last frame because of the speedy execution of instructions (and will not give an illusion of moving objects)</a:t>
            </a:r>
            <a:endParaRPr lang="en-US" sz="1400" dirty="0"/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6807200" y="5403273"/>
            <a:ext cx="1743825" cy="18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Multiply 36"/>
          <p:cNvSpPr/>
          <p:nvPr/>
        </p:nvSpPr>
        <p:spPr>
          <a:xfrm>
            <a:off x="10503139" y="3496155"/>
            <a:ext cx="716206" cy="870202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00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4" grpId="0" animBg="1"/>
      <p:bldP spid="15" grpId="0" animBg="1"/>
      <p:bldP spid="16" grpId="0" animBg="1"/>
      <p:bldP spid="17" grpId="0"/>
      <p:bldP spid="20" grpId="0"/>
      <p:bldP spid="28" grpId="0" animBg="1"/>
      <p:bldP spid="26" grpId="0" animBg="1"/>
      <p:bldP spid="25" grpId="0" animBg="1"/>
      <p:bldP spid="29" grpId="0"/>
      <p:bldP spid="32" grpId="0" animBg="1"/>
      <p:bldP spid="33" grpId="0" animBg="1"/>
      <p:bldP spid="34" grpId="0"/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Animation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Clear the screen (Erase </a:t>
            </a:r>
            <a:r>
              <a:rPr lang="en-US" dirty="0"/>
              <a:t>the already drawn </a:t>
            </a:r>
            <a:r>
              <a:rPr lang="en-US" dirty="0" smtClean="0"/>
              <a:t>content)</a:t>
            </a:r>
            <a:endParaRPr lang="en-US" dirty="0"/>
          </a:p>
          <a:p>
            <a:pPr marL="384048" lvl="2" indent="0">
              <a:buNone/>
            </a:pPr>
            <a:r>
              <a:rPr lang="pt-BR" dirty="0" smtClean="0">
                <a:solidFill>
                  <a:srgbClr val="FF0000"/>
                </a:solidFill>
              </a:rPr>
              <a:t>MOV </a:t>
            </a:r>
            <a:r>
              <a:rPr lang="pt-BR" dirty="0">
                <a:solidFill>
                  <a:srgbClr val="FF0000"/>
                </a:solidFill>
              </a:rPr>
              <a:t>AH,0  </a:t>
            </a:r>
            <a:endParaRPr lang="pt-BR" dirty="0"/>
          </a:p>
          <a:p>
            <a:pPr marL="384048" lvl="2" indent="0">
              <a:buNone/>
            </a:pPr>
            <a:r>
              <a:rPr lang="pt-BR" dirty="0" smtClean="0">
                <a:solidFill>
                  <a:srgbClr val="FF0000"/>
                </a:solidFill>
              </a:rPr>
              <a:t>MOV </a:t>
            </a:r>
            <a:r>
              <a:rPr lang="pt-BR" dirty="0">
                <a:solidFill>
                  <a:srgbClr val="FF0000"/>
                </a:solidFill>
              </a:rPr>
              <a:t>AL,12h </a:t>
            </a:r>
            <a:r>
              <a:rPr lang="pt-BR" dirty="0" smtClean="0">
                <a:solidFill>
                  <a:srgbClr val="FF0000"/>
                </a:solidFill>
              </a:rPr>
              <a:t>(Use the same mode number as used at start throughout your code either 12H or 13H)</a:t>
            </a:r>
            <a:endParaRPr lang="pt-BR" dirty="0"/>
          </a:p>
          <a:p>
            <a:pPr marL="384048" lvl="2" indent="0">
              <a:buNone/>
            </a:pPr>
            <a:r>
              <a:rPr lang="pt-BR" dirty="0" smtClean="0">
                <a:solidFill>
                  <a:srgbClr val="FF0000"/>
                </a:solidFill>
              </a:rPr>
              <a:t>INT 10h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Change </a:t>
            </a:r>
            <a:r>
              <a:rPr lang="en-US" dirty="0"/>
              <a:t>the position of line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Delay </a:t>
            </a:r>
            <a:r>
              <a:rPr lang="en-US" dirty="0"/>
              <a:t>(timer) so that user can visualize it properly </a:t>
            </a:r>
            <a:endParaRPr lang="en-US" dirty="0" smtClean="0"/>
          </a:p>
          <a:p>
            <a:pPr marL="292608" lvl="1" indent="0">
              <a:buNone/>
            </a:pPr>
            <a:r>
              <a:rPr lang="pt-BR" dirty="0"/>
              <a:t> </a:t>
            </a:r>
            <a:r>
              <a:rPr lang="pt-BR" dirty="0" smtClean="0"/>
              <a:t> </a:t>
            </a:r>
            <a:r>
              <a:rPr lang="pt-BR" sz="1400" dirty="0" smtClean="0">
                <a:solidFill>
                  <a:srgbClr val="FF0000"/>
                </a:solidFill>
              </a:rPr>
              <a:t>MOV CX</a:t>
            </a:r>
            <a:r>
              <a:rPr lang="pt-BR" sz="1400" dirty="0">
                <a:solidFill>
                  <a:srgbClr val="FF0000"/>
                </a:solidFill>
              </a:rPr>
              <a:t>, 0FH</a:t>
            </a:r>
          </a:p>
          <a:p>
            <a:pPr marL="292608" lvl="1" indent="0">
              <a:buNone/>
            </a:pPr>
            <a:r>
              <a:rPr lang="pt-BR" sz="1400" dirty="0">
                <a:solidFill>
                  <a:srgbClr val="FF0000"/>
                </a:solidFill>
              </a:rPr>
              <a:t> </a:t>
            </a:r>
            <a:r>
              <a:rPr lang="pt-BR" sz="1400" dirty="0" smtClean="0">
                <a:solidFill>
                  <a:srgbClr val="FF0000"/>
                </a:solidFill>
              </a:rPr>
              <a:t> MOV DX</a:t>
            </a:r>
            <a:r>
              <a:rPr lang="pt-BR" sz="1400" dirty="0">
                <a:solidFill>
                  <a:srgbClr val="FF0000"/>
                </a:solidFill>
              </a:rPr>
              <a:t>, </a:t>
            </a:r>
            <a:r>
              <a:rPr lang="pt-BR" sz="1400" dirty="0" smtClean="0">
                <a:solidFill>
                  <a:srgbClr val="FF0000"/>
                </a:solidFill>
              </a:rPr>
              <a:t>4240H     ;</a:t>
            </a:r>
            <a:r>
              <a:rPr lang="en-US" b="1" dirty="0"/>
              <a:t> </a:t>
            </a:r>
            <a:r>
              <a:rPr lang="en-US" sz="1400" b="1" dirty="0">
                <a:solidFill>
                  <a:srgbClr val="FF0000"/>
                </a:solidFill>
              </a:rPr>
              <a:t>CX:DX</a:t>
            </a:r>
            <a:r>
              <a:rPr lang="en-US" sz="1400" dirty="0">
                <a:solidFill>
                  <a:srgbClr val="FF0000"/>
                </a:solidFill>
              </a:rPr>
              <a:t> = interval in microseconds</a:t>
            </a:r>
            <a:endParaRPr lang="pt-BR" sz="1400" dirty="0">
              <a:solidFill>
                <a:srgbClr val="FF0000"/>
              </a:solidFill>
            </a:endParaRPr>
          </a:p>
          <a:p>
            <a:pPr marL="292608" lvl="1" indent="0">
              <a:buNone/>
            </a:pPr>
            <a:r>
              <a:rPr lang="pt-BR" sz="1400" dirty="0">
                <a:solidFill>
                  <a:srgbClr val="FF0000"/>
                </a:solidFill>
              </a:rPr>
              <a:t> </a:t>
            </a:r>
            <a:r>
              <a:rPr lang="pt-BR" sz="1400" dirty="0" smtClean="0">
                <a:solidFill>
                  <a:srgbClr val="FF0000"/>
                </a:solidFill>
              </a:rPr>
              <a:t> MOV AH</a:t>
            </a:r>
            <a:r>
              <a:rPr lang="pt-BR" sz="1400" dirty="0">
                <a:solidFill>
                  <a:srgbClr val="FF0000"/>
                </a:solidFill>
              </a:rPr>
              <a:t>, 86H</a:t>
            </a:r>
          </a:p>
          <a:p>
            <a:pPr marL="292608" lvl="1" indent="0">
              <a:buNone/>
            </a:pPr>
            <a:r>
              <a:rPr lang="pt-BR" sz="1400" dirty="0">
                <a:solidFill>
                  <a:srgbClr val="FF0000"/>
                </a:solidFill>
              </a:rPr>
              <a:t> </a:t>
            </a:r>
            <a:r>
              <a:rPr lang="pt-BR" sz="1400" dirty="0" smtClean="0">
                <a:solidFill>
                  <a:srgbClr val="FF0000"/>
                </a:solidFill>
              </a:rPr>
              <a:t> INT 15H</a:t>
            </a:r>
          </a:p>
          <a:p>
            <a:pPr marL="292608" lvl="1" indent="0">
              <a:buNone/>
            </a:pPr>
            <a:endParaRPr lang="pt-BR" sz="1400" dirty="0">
              <a:solidFill>
                <a:srgbClr val="FF0000"/>
              </a:solidFill>
            </a:endParaRPr>
          </a:p>
          <a:p>
            <a:pPr marL="292608" lvl="1" indent="0">
              <a:buNone/>
            </a:pPr>
            <a:r>
              <a:rPr lang="pt-BR" sz="1400" dirty="0" smtClean="0">
                <a:solidFill>
                  <a:srgbClr val="FF0000"/>
                </a:solidFill>
              </a:rPr>
              <a:t>  </a:t>
            </a:r>
            <a:r>
              <a:rPr lang="pt-BR" sz="1400" dirty="0" smtClean="0">
                <a:solidFill>
                  <a:schemeClr val="tx1"/>
                </a:solidFill>
              </a:rPr>
              <a:t>NOTE: </a:t>
            </a:r>
            <a:r>
              <a:rPr lang="en-US" sz="1400" dirty="0">
                <a:solidFill>
                  <a:srgbClr val="FF0000"/>
                </a:solidFill>
              </a:rPr>
              <a:t>1 million in hex is '000f 4240', so CX = 0fh : DX = 4240h = 1 second</a:t>
            </a:r>
          </a:p>
        </p:txBody>
      </p:sp>
    </p:spTree>
    <p:extLst>
      <p:ext uri="{BB962C8B-B14F-4D97-AF65-F5344CB8AC3E}">
        <p14:creationId xmlns:p14="http://schemas.microsoft.com/office/powerpoint/2010/main" val="331305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Mouse Programming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01168" lvl="1" indent="0">
              <a:buNone/>
            </a:pPr>
            <a:r>
              <a:rPr lang="en-US" dirty="0"/>
              <a:t>G</a:t>
            </a:r>
            <a:r>
              <a:rPr lang="en-US" dirty="0" smtClean="0"/>
              <a:t>ets </a:t>
            </a:r>
            <a:r>
              <a:rPr lang="en-US" dirty="0"/>
              <a:t>the current </a:t>
            </a:r>
            <a:r>
              <a:rPr lang="en-US" dirty="0" smtClean="0"/>
              <a:t>position of </a:t>
            </a:r>
            <a:r>
              <a:rPr lang="en-US" dirty="0"/>
              <a:t>the mouse cursor </a:t>
            </a:r>
            <a:endParaRPr lang="en-US" b="1" dirty="0" smtClean="0"/>
          </a:p>
          <a:p>
            <a:pPr marL="566928" lvl="3" indent="0">
              <a:buNone/>
            </a:pPr>
            <a:r>
              <a:rPr lang="en-US" sz="1600" b="1" dirty="0" smtClean="0"/>
              <a:t>MOV AX , 03</a:t>
            </a:r>
          </a:p>
          <a:p>
            <a:pPr marL="566928" lvl="3" indent="0">
              <a:buNone/>
            </a:pPr>
            <a:r>
              <a:rPr lang="en-US" sz="1600" b="1" dirty="0" smtClean="0"/>
              <a:t>INT 33H</a:t>
            </a:r>
          </a:p>
          <a:p>
            <a:pPr marL="201168" lvl="1" indent="0">
              <a:buNone/>
            </a:pPr>
            <a:r>
              <a:rPr lang="en-US" dirty="0"/>
              <a:t>On return, </a:t>
            </a:r>
            <a:endParaRPr lang="en-US" dirty="0" smtClean="0"/>
          </a:p>
          <a:p>
            <a:pPr marL="566928" lvl="3" indent="0">
              <a:buNone/>
            </a:pPr>
            <a:r>
              <a:rPr lang="en-US" altLang="en-US" sz="1600" dirty="0" smtClean="0">
                <a:solidFill>
                  <a:schemeClr val="tx1"/>
                </a:solidFill>
              </a:rPr>
              <a:t>if </a:t>
            </a:r>
            <a:r>
              <a:rPr lang="en-US" altLang="en-US" sz="1600" dirty="0">
                <a:solidFill>
                  <a:schemeClr val="tx1"/>
                </a:solidFill>
              </a:rPr>
              <a:t>left button is down: </a:t>
            </a:r>
            <a:r>
              <a:rPr lang="en-US" altLang="en-US" sz="1600" b="1" dirty="0">
                <a:solidFill>
                  <a:schemeClr val="tx1"/>
                </a:solidFill>
              </a:rPr>
              <a:t>BX</a:t>
            </a:r>
            <a:r>
              <a:rPr lang="en-US" altLang="en-US" sz="1600" dirty="0">
                <a:solidFill>
                  <a:schemeClr val="tx1"/>
                </a:solidFill>
              </a:rPr>
              <a:t>=1</a:t>
            </a:r>
            <a:br>
              <a:rPr lang="en-US" altLang="en-US" sz="1600" dirty="0">
                <a:solidFill>
                  <a:schemeClr val="tx1"/>
                </a:solidFill>
              </a:rPr>
            </a:br>
            <a:r>
              <a:rPr lang="en-US" altLang="en-US" sz="1600" dirty="0">
                <a:solidFill>
                  <a:schemeClr val="tx1"/>
                </a:solidFill>
              </a:rPr>
              <a:t>if right button is down: </a:t>
            </a:r>
            <a:r>
              <a:rPr lang="en-US" altLang="en-US" sz="1600" b="1" dirty="0">
                <a:solidFill>
                  <a:schemeClr val="tx1"/>
                </a:solidFill>
              </a:rPr>
              <a:t>BX</a:t>
            </a:r>
            <a:r>
              <a:rPr lang="en-US" altLang="en-US" sz="1600" dirty="0">
                <a:solidFill>
                  <a:schemeClr val="tx1"/>
                </a:solidFill>
              </a:rPr>
              <a:t>=2</a:t>
            </a:r>
            <a:br>
              <a:rPr lang="en-US" altLang="en-US" sz="1600" dirty="0">
                <a:solidFill>
                  <a:schemeClr val="tx1"/>
                </a:solidFill>
              </a:rPr>
            </a:br>
            <a:r>
              <a:rPr lang="en-US" altLang="en-US" sz="1600" dirty="0">
                <a:solidFill>
                  <a:schemeClr val="tx1"/>
                </a:solidFill>
              </a:rPr>
              <a:t>if both buttons are down: </a:t>
            </a:r>
            <a:r>
              <a:rPr lang="en-US" altLang="en-US" sz="1600" b="1" dirty="0">
                <a:solidFill>
                  <a:schemeClr val="tx1"/>
                </a:solidFill>
              </a:rPr>
              <a:t>BX</a:t>
            </a:r>
            <a:r>
              <a:rPr lang="en-US" altLang="en-US" sz="1600" dirty="0">
                <a:solidFill>
                  <a:schemeClr val="tx1"/>
                </a:solidFill>
              </a:rPr>
              <a:t>=3</a:t>
            </a:r>
            <a:br>
              <a:rPr lang="en-US" altLang="en-US" sz="1600" dirty="0">
                <a:solidFill>
                  <a:schemeClr val="tx1"/>
                </a:solidFill>
              </a:rPr>
            </a:br>
            <a:r>
              <a:rPr lang="en-US" altLang="en-US" sz="1600" b="1" dirty="0">
                <a:solidFill>
                  <a:schemeClr val="tx1"/>
                </a:solidFill>
              </a:rPr>
              <a:t>CX</a:t>
            </a:r>
            <a:r>
              <a:rPr lang="en-US" altLang="en-US" sz="1600" dirty="0">
                <a:solidFill>
                  <a:schemeClr val="tx1"/>
                </a:solidFill>
              </a:rPr>
              <a:t> = x</a:t>
            </a:r>
            <a:br>
              <a:rPr lang="en-US" altLang="en-US" sz="1600" dirty="0">
                <a:solidFill>
                  <a:schemeClr val="tx1"/>
                </a:solidFill>
              </a:rPr>
            </a:br>
            <a:r>
              <a:rPr lang="en-US" altLang="en-US" sz="1600" b="1" dirty="0">
                <a:solidFill>
                  <a:schemeClr val="tx1"/>
                </a:solidFill>
              </a:rPr>
              <a:t>DX</a:t>
            </a:r>
            <a:r>
              <a:rPr lang="en-US" altLang="en-US" sz="1600" dirty="0">
                <a:solidFill>
                  <a:schemeClr val="tx1"/>
                </a:solidFill>
              </a:rPr>
              <a:t> = y </a:t>
            </a:r>
          </a:p>
          <a:p>
            <a:pPr marL="201168" lvl="1" indent="0">
              <a:buNone/>
            </a:pPr>
            <a:endParaRPr lang="en-US" dirty="0" smtClean="0"/>
          </a:p>
          <a:p>
            <a:pPr marL="201168" lvl="1" indent="0">
              <a:buNone/>
            </a:pPr>
            <a:endParaRPr lang="en-US" dirty="0" smtClean="0"/>
          </a:p>
          <a:p>
            <a:pPr marL="201168" lvl="1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145" y="161925"/>
            <a:ext cx="3657600" cy="28765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145" y="3163153"/>
            <a:ext cx="3667125" cy="19145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8145" y="5202356"/>
            <a:ext cx="3676650" cy="1343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083635" y="434109"/>
            <a:ext cx="94210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 smtClean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endParaRPr lang="en-US" sz="1400" dirty="0" smtClean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endParaRPr lang="en-US" sz="1400" dirty="0" smtClean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endParaRPr lang="en-US" sz="1400" dirty="0" smtClean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 smtClean="0">
                <a:solidFill>
                  <a:srgbClr val="FFC000"/>
                </a:solidFill>
              </a:rPr>
              <a:t>No button clicked</a:t>
            </a:r>
          </a:p>
          <a:p>
            <a:endParaRPr lang="en-US" sz="1400" dirty="0">
              <a:solidFill>
                <a:srgbClr val="FFC000"/>
              </a:solidFill>
            </a:endParaRPr>
          </a:p>
          <a:p>
            <a:endParaRPr lang="en-US" sz="1400" dirty="0" smtClean="0">
              <a:solidFill>
                <a:srgbClr val="FFC000"/>
              </a:solidFill>
            </a:endParaRPr>
          </a:p>
          <a:p>
            <a:endParaRPr lang="en-US" sz="1400" dirty="0">
              <a:solidFill>
                <a:srgbClr val="FFC000"/>
              </a:solidFill>
            </a:endParaRPr>
          </a:p>
          <a:p>
            <a:endParaRPr lang="en-US" sz="1400" dirty="0" smtClean="0">
              <a:solidFill>
                <a:srgbClr val="FFC000"/>
              </a:solidFill>
            </a:endParaRPr>
          </a:p>
          <a:p>
            <a:endParaRPr lang="en-US" sz="1400" dirty="0" smtClean="0">
              <a:solidFill>
                <a:srgbClr val="FFC000"/>
              </a:solidFill>
            </a:endParaRPr>
          </a:p>
          <a:p>
            <a:endParaRPr lang="en-US" sz="1400" dirty="0" smtClean="0">
              <a:solidFill>
                <a:srgbClr val="FFC000"/>
              </a:solidFill>
            </a:endParaRPr>
          </a:p>
          <a:p>
            <a:r>
              <a:rPr lang="en-US" sz="1400" dirty="0" smtClean="0">
                <a:solidFill>
                  <a:srgbClr val="FFC000"/>
                </a:solidFill>
              </a:rPr>
              <a:t>Right button clicked</a:t>
            </a:r>
          </a:p>
          <a:p>
            <a:endParaRPr lang="en-US" sz="1400" dirty="0">
              <a:solidFill>
                <a:srgbClr val="FFC000"/>
              </a:solidFill>
            </a:endParaRPr>
          </a:p>
          <a:p>
            <a:endParaRPr lang="en-US" sz="1400" dirty="0" smtClean="0">
              <a:solidFill>
                <a:srgbClr val="FFC000"/>
              </a:solidFill>
            </a:endParaRPr>
          </a:p>
          <a:p>
            <a:endParaRPr lang="en-US" sz="1400" dirty="0">
              <a:solidFill>
                <a:srgbClr val="FFC000"/>
              </a:solidFill>
            </a:endParaRPr>
          </a:p>
          <a:p>
            <a:endParaRPr lang="en-US" sz="1400" dirty="0" smtClean="0">
              <a:solidFill>
                <a:srgbClr val="FFC000"/>
              </a:solidFill>
            </a:endParaRPr>
          </a:p>
          <a:p>
            <a:endParaRPr lang="en-US" sz="1400" dirty="0" smtClean="0">
              <a:solidFill>
                <a:srgbClr val="FFC000"/>
              </a:solidFill>
            </a:endParaRPr>
          </a:p>
          <a:p>
            <a:r>
              <a:rPr lang="en-US" sz="1400" dirty="0" smtClean="0">
                <a:solidFill>
                  <a:srgbClr val="FFC000"/>
                </a:solidFill>
              </a:rPr>
              <a:t>Left button clicked</a:t>
            </a:r>
            <a:endParaRPr lang="en-US" sz="1400" dirty="0">
              <a:solidFill>
                <a:srgbClr val="FFC000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7001164" y="6206836"/>
            <a:ext cx="1366981" cy="1365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7001164" y="6059055"/>
            <a:ext cx="1366981" cy="46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631710" y="5576299"/>
            <a:ext cx="4969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r>
              <a:rPr lang="en-US" dirty="0" smtClean="0"/>
              <a:t>X</a:t>
            </a:r>
          </a:p>
          <a:p>
            <a:r>
              <a:rPr lang="en-US" dirty="0"/>
              <a:t>D</a:t>
            </a:r>
            <a:r>
              <a:rPr lang="en-US" dirty="0" smtClean="0"/>
              <a:t>X</a:t>
            </a:r>
          </a:p>
          <a:p>
            <a:r>
              <a:rPr lang="en-US" dirty="0" smtClean="0"/>
              <a:t>BX</a:t>
            </a:r>
            <a:endParaRPr lang="en-US" dirty="0"/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7001164" y="5731164"/>
            <a:ext cx="1366981" cy="46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909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Mouse Programming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84048" lvl="2" indent="0">
              <a:buNone/>
            </a:pPr>
            <a:r>
              <a:rPr lang="en-US" sz="1600" b="1" dirty="0"/>
              <a:t>MOV AX </a:t>
            </a:r>
            <a:r>
              <a:rPr lang="en-US" sz="1600" b="1" dirty="0" smtClean="0"/>
              <a:t>,04</a:t>
            </a:r>
            <a:endParaRPr lang="en-US" sz="1600" b="1" dirty="0"/>
          </a:p>
          <a:p>
            <a:pPr marL="384048" lvl="2" indent="0">
              <a:buNone/>
            </a:pPr>
            <a:r>
              <a:rPr lang="en-US" sz="1600" b="1" dirty="0"/>
              <a:t>INT </a:t>
            </a:r>
            <a:r>
              <a:rPr lang="en-US" sz="1600" b="1" dirty="0" smtClean="0"/>
              <a:t>33H</a:t>
            </a:r>
            <a:endParaRPr lang="en-US" sz="1600" b="1" dirty="0"/>
          </a:p>
          <a:p>
            <a:pPr marL="384048" lvl="2" indent="0">
              <a:buNone/>
            </a:pPr>
            <a:r>
              <a:rPr lang="en-US" sz="1600" dirty="0" smtClean="0"/>
              <a:t>When executed set the mouse position such that:</a:t>
            </a:r>
          </a:p>
          <a:p>
            <a:pPr marL="384048" lvl="2" indent="0">
              <a:buNone/>
            </a:pPr>
            <a:r>
              <a:rPr lang="en-US" sz="1600" dirty="0" smtClean="0"/>
              <a:t>CX = x-coordinate</a:t>
            </a:r>
          </a:p>
          <a:p>
            <a:pPr marL="384048" lvl="2" indent="0">
              <a:buNone/>
            </a:pPr>
            <a:r>
              <a:rPr lang="en-US" sz="1600" dirty="0" smtClean="0"/>
              <a:t>DX = y-coordinate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805" y="857039"/>
            <a:ext cx="3190875" cy="2000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804" y="2965663"/>
            <a:ext cx="3190875" cy="2920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02982" y="1131881"/>
            <a:ext cx="1607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CX = 0, DX = 0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61236" y="3273836"/>
            <a:ext cx="1607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CX = 150, DX = 200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76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Keyboard Interrupts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10058400" cy="736282"/>
          </a:xfrm>
        </p:spPr>
        <p:txBody>
          <a:bodyPr>
            <a:normAutofit/>
          </a:bodyPr>
          <a:lstStyle/>
          <a:p>
            <a:r>
              <a:rPr lang="en-US" sz="1700" dirty="0"/>
              <a:t>When a key is pressed, </a:t>
            </a:r>
            <a:r>
              <a:rPr lang="en-US" sz="1700" dirty="0" smtClean="0"/>
              <a:t>the OS </a:t>
            </a:r>
            <a:r>
              <a:rPr lang="en-US" sz="1700" dirty="0"/>
              <a:t>stores its scan code </a:t>
            </a:r>
            <a:r>
              <a:rPr lang="en-US" sz="1700" dirty="0" smtClean="0"/>
              <a:t>in memory </a:t>
            </a:r>
            <a:r>
              <a:rPr lang="en-US" sz="1700" dirty="0"/>
              <a:t>locations called </a:t>
            </a:r>
            <a:r>
              <a:rPr lang="en-US" sz="1700" dirty="0" smtClean="0"/>
              <a:t>a </a:t>
            </a:r>
            <a:r>
              <a:rPr lang="en-US" sz="1700" i="1" dirty="0" smtClean="0"/>
              <a:t>keyboard </a:t>
            </a:r>
            <a:r>
              <a:rPr lang="en-US" sz="1700" i="1" dirty="0"/>
              <a:t>buffer</a:t>
            </a:r>
            <a:r>
              <a:rPr lang="en-US" sz="1700" dirty="0"/>
              <a:t>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 smtClean="0">
                <a:solidFill>
                  <a:srgbClr val="FF0000"/>
                </a:solidFill>
              </a:rPr>
              <a:t>MOV </a:t>
            </a:r>
            <a:r>
              <a:rPr lang="en-US" sz="1400" dirty="0">
                <a:solidFill>
                  <a:srgbClr val="FF0000"/>
                </a:solidFill>
              </a:rPr>
              <a:t>AH, </a:t>
            </a:r>
            <a:r>
              <a:rPr lang="en-US" sz="1400" dirty="0" smtClean="0">
                <a:solidFill>
                  <a:srgbClr val="FF0000"/>
                </a:solidFill>
              </a:rPr>
              <a:t>00H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FF0000"/>
                </a:solidFill>
              </a:rPr>
              <a:t>INT </a:t>
            </a:r>
            <a:r>
              <a:rPr lang="en-US" sz="1400" dirty="0">
                <a:solidFill>
                  <a:srgbClr val="FF0000"/>
                </a:solidFill>
              </a:rPr>
              <a:t>16H</a:t>
            </a:r>
          </a:p>
          <a:p>
            <a:pPr marL="0" indent="0">
              <a:buNone/>
            </a:pPr>
            <a:r>
              <a:rPr lang="en-US" sz="1400" i="1" dirty="0"/>
              <a:t>return:</a:t>
            </a:r>
            <a:endParaRPr lang="en-US" sz="1400" dirty="0"/>
          </a:p>
          <a:p>
            <a:r>
              <a:rPr lang="en-US" sz="1400" b="1" dirty="0"/>
              <a:t>AH</a:t>
            </a:r>
            <a:r>
              <a:rPr lang="en-US" sz="1400" dirty="0"/>
              <a:t> = </a:t>
            </a:r>
            <a:r>
              <a:rPr lang="en-US" sz="1400" dirty="0" smtClean="0"/>
              <a:t>Scan </a:t>
            </a:r>
            <a:r>
              <a:rPr lang="en-US" sz="1400" dirty="0"/>
              <a:t>code.</a:t>
            </a:r>
            <a:br>
              <a:rPr lang="en-US" sz="1400" dirty="0"/>
            </a:br>
            <a:r>
              <a:rPr lang="en-US" sz="1400" b="1" dirty="0"/>
              <a:t>AL</a:t>
            </a:r>
            <a:r>
              <a:rPr lang="en-US" sz="1400" dirty="0"/>
              <a:t> = ASCII character.</a:t>
            </a:r>
            <a:br>
              <a:rPr lang="en-US" sz="1400" dirty="0"/>
            </a:br>
            <a:r>
              <a:rPr lang="en-US" sz="1400" dirty="0"/>
              <a:t>Returns the next character in the keyboard buffer; if no character is available, this service waits until one is available. (if a keystroke is present, it is removed from the keyboard buffer).</a:t>
            </a:r>
          </a:p>
          <a:p>
            <a:r>
              <a:rPr lang="en-US" dirty="0"/>
              <a:t> 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9" name="Content Placeholder 38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MOV AH, </a:t>
            </a:r>
            <a:r>
              <a:rPr lang="en-US" sz="1400" dirty="0" smtClean="0">
                <a:solidFill>
                  <a:srgbClr val="FF0000"/>
                </a:solidFill>
              </a:rPr>
              <a:t>01H</a:t>
            </a:r>
            <a:endParaRPr lang="en-US" sz="1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INT 16H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0" dirty="0" smtClean="0">
              <a:solidFill>
                <a:srgbClr val="000000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400" dirty="0" smtClean="0">
                <a:solidFill>
                  <a:srgbClr val="000000"/>
                </a:solidFill>
              </a:rPr>
              <a:t>check </a:t>
            </a:r>
            <a:r>
              <a:rPr lang="en-US" altLang="en-US" sz="1400" dirty="0">
                <a:solidFill>
                  <a:srgbClr val="000000"/>
                </a:solidFill>
              </a:rPr>
              <a:t>for keystroke in the keyboard buffer and</a:t>
            </a:r>
            <a:r>
              <a:rPr lang="en-US" altLang="en-US" sz="1400" dirty="0">
                <a:solidFill>
                  <a:schemeClr val="tx1"/>
                </a:solidFill>
              </a:rPr>
              <a:t/>
            </a:r>
            <a:br>
              <a:rPr lang="en-US" altLang="en-US" sz="1400" dirty="0">
                <a:solidFill>
                  <a:schemeClr val="tx1"/>
                </a:solidFill>
              </a:rPr>
            </a:br>
            <a:r>
              <a:rPr lang="en-US" altLang="en-US" sz="1400" i="1" dirty="0">
                <a:solidFill>
                  <a:schemeClr val="tx1"/>
                </a:solidFill>
              </a:rPr>
              <a:t>return</a:t>
            </a:r>
            <a:r>
              <a:rPr lang="en-US" altLang="en-US" sz="1400" i="1" dirty="0" smtClean="0">
                <a:solidFill>
                  <a:schemeClr val="tx1"/>
                </a:solidFill>
              </a:rPr>
              <a:t>: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200" dirty="0">
                <a:solidFill>
                  <a:schemeClr val="tx1"/>
                </a:solidFill>
              </a:rPr>
              <a:t/>
            </a:r>
            <a:br>
              <a:rPr lang="en-US" altLang="en-US" sz="1200" dirty="0">
                <a:solidFill>
                  <a:schemeClr val="tx1"/>
                </a:solidFill>
              </a:rPr>
            </a:br>
            <a:r>
              <a:rPr lang="en-US" altLang="en-US" sz="1400" b="1" dirty="0">
                <a:solidFill>
                  <a:schemeClr val="tx1"/>
                </a:solidFill>
              </a:rPr>
              <a:t>ZF = 1</a:t>
            </a:r>
            <a:r>
              <a:rPr lang="en-US" altLang="en-US" sz="1400" dirty="0">
                <a:solidFill>
                  <a:schemeClr val="tx1"/>
                </a:solidFill>
              </a:rPr>
              <a:t> if keystroke is not available.</a:t>
            </a:r>
            <a:br>
              <a:rPr lang="en-US" altLang="en-US" sz="1400" dirty="0">
                <a:solidFill>
                  <a:schemeClr val="tx1"/>
                </a:solidFill>
              </a:rPr>
            </a:br>
            <a:r>
              <a:rPr lang="en-US" altLang="en-US" sz="1400" b="1" dirty="0">
                <a:solidFill>
                  <a:schemeClr val="tx1"/>
                </a:solidFill>
              </a:rPr>
              <a:t>ZF = 0</a:t>
            </a:r>
            <a:r>
              <a:rPr lang="en-US" altLang="en-US" sz="1400" dirty="0">
                <a:solidFill>
                  <a:schemeClr val="tx1"/>
                </a:solidFill>
              </a:rPr>
              <a:t> if keystroke available.</a:t>
            </a:r>
            <a:br>
              <a:rPr lang="en-US" altLang="en-US" sz="1400" dirty="0">
                <a:solidFill>
                  <a:schemeClr val="tx1"/>
                </a:solidFill>
              </a:rPr>
            </a:br>
            <a:r>
              <a:rPr lang="en-US" altLang="en-US" sz="1400" b="1" dirty="0">
                <a:solidFill>
                  <a:schemeClr val="tx1"/>
                </a:solidFill>
              </a:rPr>
              <a:t>AH</a:t>
            </a:r>
            <a:r>
              <a:rPr lang="en-US" altLang="en-US" sz="1400" dirty="0">
                <a:solidFill>
                  <a:schemeClr val="tx1"/>
                </a:solidFill>
              </a:rPr>
              <a:t> = S</a:t>
            </a:r>
            <a:r>
              <a:rPr lang="en-US" altLang="en-US" sz="1400" dirty="0" smtClean="0">
                <a:solidFill>
                  <a:schemeClr val="tx1"/>
                </a:solidFill>
              </a:rPr>
              <a:t>can </a:t>
            </a:r>
            <a:r>
              <a:rPr lang="en-US" altLang="en-US" sz="1400" dirty="0">
                <a:solidFill>
                  <a:schemeClr val="tx1"/>
                </a:solidFill>
              </a:rPr>
              <a:t>code.</a:t>
            </a:r>
            <a:br>
              <a:rPr lang="en-US" altLang="en-US" sz="1400" dirty="0">
                <a:solidFill>
                  <a:schemeClr val="tx1"/>
                </a:solidFill>
              </a:rPr>
            </a:br>
            <a:r>
              <a:rPr lang="en-US" altLang="en-US" sz="1400" b="1" dirty="0">
                <a:solidFill>
                  <a:schemeClr val="tx1"/>
                </a:solidFill>
              </a:rPr>
              <a:t>AL</a:t>
            </a:r>
            <a:r>
              <a:rPr lang="en-US" altLang="en-US" sz="1400" dirty="0">
                <a:solidFill>
                  <a:schemeClr val="tx1"/>
                </a:solidFill>
              </a:rPr>
              <a:t> = ASCII character.</a:t>
            </a:r>
            <a:br>
              <a:rPr lang="en-US" altLang="en-US" sz="1400" dirty="0">
                <a:solidFill>
                  <a:schemeClr val="tx1"/>
                </a:solidFill>
              </a:rPr>
            </a:br>
            <a:r>
              <a:rPr lang="en-US" altLang="en-US" sz="1400" dirty="0">
                <a:solidFill>
                  <a:schemeClr val="tx1"/>
                </a:solidFill>
              </a:rPr>
              <a:t>(if a keystroke is present, it is not removed from the keyboard buffer). </a:t>
            </a:r>
          </a:p>
        </p:txBody>
      </p:sp>
      <p:pic>
        <p:nvPicPr>
          <p:cNvPr id="41" name="Picture 4" descr="Super Mario Run' made by Shigeru Miyamoto, original Mario creators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0036" y="142081"/>
            <a:ext cx="2909457" cy="2170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127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Keyboard Interrupts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MOV AH, 01H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INT </a:t>
            </a:r>
            <a:r>
              <a:rPr lang="en-US" sz="1400" dirty="0" smtClean="0">
                <a:solidFill>
                  <a:srgbClr val="FF0000"/>
                </a:solidFill>
              </a:rPr>
              <a:t>16H</a:t>
            </a:r>
          </a:p>
          <a:p>
            <a:pPr marL="0" indent="0">
              <a:buNone/>
            </a:pPr>
            <a:endParaRPr lang="en-US" altLang="en-US" sz="1400" dirty="0">
              <a:solidFill>
                <a:srgbClr val="000000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400" dirty="0">
                <a:solidFill>
                  <a:srgbClr val="000000"/>
                </a:solidFill>
              </a:rPr>
              <a:t>check for keystroke in the keyboard </a:t>
            </a:r>
            <a:r>
              <a:rPr lang="en-US" altLang="en-US" sz="1400" dirty="0" smtClean="0">
                <a:solidFill>
                  <a:srgbClr val="000000"/>
                </a:solidFill>
              </a:rPr>
              <a:t>buffer</a:t>
            </a:r>
            <a:r>
              <a:rPr lang="en-US" altLang="en-US" sz="1400" dirty="0" smtClean="0">
                <a:solidFill>
                  <a:schemeClr val="tx1"/>
                </a:solidFill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400" dirty="0" smtClean="0">
                <a:solidFill>
                  <a:schemeClr val="tx1"/>
                </a:solidFill>
              </a:rPr>
              <a:t>(if </a:t>
            </a:r>
            <a:r>
              <a:rPr lang="en-US" altLang="en-US" sz="1400" dirty="0">
                <a:solidFill>
                  <a:schemeClr val="tx1"/>
                </a:solidFill>
              </a:rPr>
              <a:t>a keystroke is present, it is not removed from the keyboard buffer). </a:t>
            </a:r>
            <a:endParaRPr lang="en-US" altLang="en-US" sz="1400" dirty="0" smtClean="0">
              <a:solidFill>
                <a:schemeClr val="tx1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400" dirty="0">
              <a:solidFill>
                <a:schemeClr val="tx1"/>
              </a:solidFill>
            </a:endParaRPr>
          </a:p>
          <a:p>
            <a:pPr marL="475488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200" dirty="0" err="1">
                <a:solidFill>
                  <a:srgbClr val="002060"/>
                </a:solidFill>
              </a:rPr>
              <a:t>mov</a:t>
            </a:r>
            <a:r>
              <a:rPr lang="en-US" altLang="en-US" sz="1200" dirty="0">
                <a:solidFill>
                  <a:srgbClr val="002060"/>
                </a:solidFill>
              </a:rPr>
              <a:t> ax,0</a:t>
            </a:r>
          </a:p>
          <a:p>
            <a:pPr marL="475488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200" dirty="0" smtClean="0">
                <a:solidFill>
                  <a:srgbClr val="002060"/>
                </a:solidFill>
              </a:rPr>
              <a:t>Again</a:t>
            </a:r>
            <a:r>
              <a:rPr lang="en-US" altLang="en-US" sz="1200" dirty="0">
                <a:solidFill>
                  <a:srgbClr val="002060"/>
                </a:solidFill>
              </a:rPr>
              <a:t>:</a:t>
            </a:r>
          </a:p>
          <a:p>
            <a:pPr marL="475488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200" dirty="0" smtClean="0">
                <a:solidFill>
                  <a:srgbClr val="002060"/>
                </a:solidFill>
              </a:rPr>
              <a:t>   </a:t>
            </a:r>
            <a:r>
              <a:rPr lang="en-US" altLang="en-US" sz="1200" dirty="0" err="1" smtClean="0">
                <a:solidFill>
                  <a:srgbClr val="002060"/>
                </a:solidFill>
              </a:rPr>
              <a:t>mov</a:t>
            </a:r>
            <a:r>
              <a:rPr lang="en-US" altLang="en-US" sz="1200" dirty="0" smtClean="0">
                <a:solidFill>
                  <a:srgbClr val="002060"/>
                </a:solidFill>
              </a:rPr>
              <a:t> </a:t>
            </a:r>
            <a:r>
              <a:rPr lang="en-US" altLang="en-US" sz="1200" dirty="0">
                <a:solidFill>
                  <a:srgbClr val="002060"/>
                </a:solidFill>
              </a:rPr>
              <a:t>ah,01</a:t>
            </a:r>
          </a:p>
          <a:p>
            <a:pPr marL="475488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200" dirty="0" smtClean="0">
                <a:solidFill>
                  <a:srgbClr val="002060"/>
                </a:solidFill>
              </a:rPr>
              <a:t>   </a:t>
            </a:r>
            <a:r>
              <a:rPr lang="en-US" altLang="en-US" sz="1200" dirty="0" err="1" smtClean="0">
                <a:solidFill>
                  <a:srgbClr val="002060"/>
                </a:solidFill>
              </a:rPr>
              <a:t>int</a:t>
            </a:r>
            <a:r>
              <a:rPr lang="en-US" altLang="en-US" sz="1200" dirty="0" smtClean="0">
                <a:solidFill>
                  <a:srgbClr val="002060"/>
                </a:solidFill>
              </a:rPr>
              <a:t> </a:t>
            </a:r>
            <a:r>
              <a:rPr lang="en-US" altLang="en-US" sz="1200" dirty="0">
                <a:solidFill>
                  <a:srgbClr val="002060"/>
                </a:solidFill>
              </a:rPr>
              <a:t>16h</a:t>
            </a:r>
          </a:p>
          <a:p>
            <a:pPr marL="475488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200" dirty="0" err="1" smtClean="0">
                <a:solidFill>
                  <a:srgbClr val="002060"/>
                </a:solidFill>
              </a:rPr>
              <a:t>cmp</a:t>
            </a:r>
            <a:r>
              <a:rPr lang="en-US" altLang="en-US" sz="1200" dirty="0" smtClean="0">
                <a:solidFill>
                  <a:srgbClr val="002060"/>
                </a:solidFill>
              </a:rPr>
              <a:t> </a:t>
            </a:r>
            <a:r>
              <a:rPr lang="en-US" altLang="en-US" sz="1200" dirty="0">
                <a:solidFill>
                  <a:srgbClr val="002060"/>
                </a:solidFill>
              </a:rPr>
              <a:t>ah,4Dh </a:t>
            </a:r>
            <a:r>
              <a:rPr lang="en-US" altLang="en-US" sz="1200" dirty="0" smtClean="0">
                <a:solidFill>
                  <a:srgbClr val="002060"/>
                </a:solidFill>
              </a:rPr>
              <a:t>   ;right arrow  </a:t>
            </a:r>
          </a:p>
          <a:p>
            <a:pPr marL="475488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200" dirty="0" err="1" smtClean="0">
                <a:solidFill>
                  <a:srgbClr val="002060"/>
                </a:solidFill>
              </a:rPr>
              <a:t>jne</a:t>
            </a:r>
            <a:r>
              <a:rPr lang="en-US" altLang="en-US" sz="1200" dirty="0" smtClean="0">
                <a:solidFill>
                  <a:srgbClr val="002060"/>
                </a:solidFill>
              </a:rPr>
              <a:t> again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400" dirty="0">
              <a:solidFill>
                <a:schemeClr val="tx1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4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INT 21h</a:t>
            </a:r>
            <a:r>
              <a:rPr lang="en-US" sz="1600" dirty="0"/>
              <a:t> / </a:t>
            </a:r>
            <a:r>
              <a:rPr lang="en-US" sz="1600" b="1" dirty="0"/>
              <a:t>AH=0Ch</a:t>
            </a:r>
            <a:r>
              <a:rPr lang="en-US" sz="1600" dirty="0"/>
              <a:t> - flush keyboard </a:t>
            </a:r>
            <a:r>
              <a:rPr lang="en-US" sz="1600" dirty="0" smtClean="0"/>
              <a:t>buffer</a:t>
            </a:r>
            <a:endParaRPr lang="en-US" sz="1600" dirty="0"/>
          </a:p>
          <a:p>
            <a:pPr marL="384048" lvl="2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MOV AH,0CH</a:t>
            </a:r>
          </a:p>
          <a:p>
            <a:pPr marL="384048" lvl="2" indent="0"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>
                <a:solidFill>
                  <a:srgbClr val="FF0000"/>
                </a:solidFill>
              </a:rPr>
              <a:t> 21H</a:t>
            </a:r>
          </a:p>
          <a:p>
            <a:pPr marL="384048" lvl="2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Returns the next character in the keyboard buffer; if no character is available, this service waits until one is available. (if a keystroke is present, it is removed from the keyboard buffer</a:t>
            </a:r>
            <a:r>
              <a:rPr lang="en-US" sz="1400" dirty="0" smtClean="0"/>
              <a:t>).</a:t>
            </a:r>
          </a:p>
          <a:p>
            <a:pPr marL="384048" lvl="2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MOV AH,00H</a:t>
            </a:r>
            <a:endParaRPr lang="en-US" dirty="0">
              <a:solidFill>
                <a:srgbClr val="FF0000"/>
              </a:solidFill>
            </a:endParaRPr>
          </a:p>
          <a:p>
            <a:pPr marL="384048" lvl="2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</a:t>
            </a: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21H</a:t>
            </a:r>
          </a:p>
          <a:p>
            <a:pPr marL="658368" lvl="3" indent="0">
              <a:buNone/>
            </a:pPr>
            <a:endParaRPr lang="en-US" sz="800" dirty="0"/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72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5056</TotalTime>
  <Words>445</Words>
  <Application>Microsoft Office PowerPoint</Application>
  <PresentationFormat>Custom</PresentationFormat>
  <Paragraphs>157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Retrospect</vt:lpstr>
      <vt:lpstr>Graphics  </vt:lpstr>
      <vt:lpstr>Introduction</vt:lpstr>
      <vt:lpstr>Draw Pixel</vt:lpstr>
      <vt:lpstr>Change Background color</vt:lpstr>
      <vt:lpstr>Write Text</vt:lpstr>
      <vt:lpstr>Animation</vt:lpstr>
      <vt:lpstr>Animation</vt:lpstr>
      <vt:lpstr>Mouse Programming</vt:lpstr>
      <vt:lpstr>Mouse Programming</vt:lpstr>
      <vt:lpstr>Keyboard Interrupts</vt:lpstr>
      <vt:lpstr>Keyboard Interrupts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Cache</dc:title>
  <dc:creator>saroshshahid@gmail.com</dc:creator>
  <cp:lastModifiedBy>chilwan</cp:lastModifiedBy>
  <cp:revision>145</cp:revision>
  <dcterms:created xsi:type="dcterms:W3CDTF">2020-03-26T04:42:27Z</dcterms:created>
  <dcterms:modified xsi:type="dcterms:W3CDTF">2020-04-15T14:00:24Z</dcterms:modified>
</cp:coreProperties>
</file>