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27"/>
  </p:notesMasterIdLst>
  <p:sldIdLst>
    <p:sldId id="452" r:id="rId2"/>
    <p:sldId id="257" r:id="rId3"/>
    <p:sldId id="437" r:id="rId4"/>
    <p:sldId id="438" r:id="rId5"/>
    <p:sldId id="439" r:id="rId6"/>
    <p:sldId id="440" r:id="rId7"/>
    <p:sldId id="441" r:id="rId8"/>
    <p:sldId id="444" r:id="rId9"/>
    <p:sldId id="381" r:id="rId10"/>
    <p:sldId id="382" r:id="rId11"/>
    <p:sldId id="384" r:id="rId12"/>
    <p:sldId id="388" r:id="rId13"/>
    <p:sldId id="385" r:id="rId14"/>
    <p:sldId id="448" r:id="rId15"/>
    <p:sldId id="386" r:id="rId16"/>
    <p:sldId id="387" r:id="rId17"/>
    <p:sldId id="445" r:id="rId18"/>
    <p:sldId id="419" r:id="rId19"/>
    <p:sldId id="391" r:id="rId20"/>
    <p:sldId id="392" r:id="rId21"/>
    <p:sldId id="450" r:id="rId22"/>
    <p:sldId id="411" r:id="rId23"/>
    <p:sldId id="434" r:id="rId24"/>
    <p:sldId id="435" r:id="rId25"/>
    <p:sldId id="45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09" autoAdjust="0"/>
  </p:normalViewPr>
  <p:slideViewPr>
    <p:cSldViewPr>
      <p:cViewPr varScale="1">
        <p:scale>
          <a:sx n="79" d="100"/>
          <a:sy n="79" d="100"/>
        </p:scale>
        <p:origin x="-120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2B4AD-A7C9-41AD-B22D-D2C020D92AFB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95A69-4E25-4BAB-9549-4552ADBB2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6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nb-NO" altLang="nb-NO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2756" indent="-270291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164" indent="-216233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3629" indent="-216233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095" indent="-216233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78560" indent="-21623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11026" indent="-21623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43491" indent="-21623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75957" indent="-21623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</a:pPr>
            <a:fld id="{501569CA-2591-42F6-8848-A9D811C6E871}" type="slidenum">
              <a:rPr lang="en-US" altLang="nb-NO" sz="1200"/>
              <a:pPr>
                <a:spcBef>
                  <a:spcPct val="0"/>
                </a:spcBef>
              </a:pPr>
              <a:t>1</a:t>
            </a:fld>
            <a:endParaRPr lang="en-US" altLang="nb-NO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ZF=1</a:t>
            </a:r>
            <a:br>
              <a:rPr lang="en-US" dirty="0" smtClean="0"/>
            </a:br>
            <a:r>
              <a:rPr lang="en-US" dirty="0" smtClean="0"/>
              <a:t>ZF=0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95A69-4E25-4BAB-9549-4552ADBB2C5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3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ZF=1</a:t>
            </a:r>
            <a:br>
              <a:rPr lang="en-US" dirty="0" smtClean="0"/>
            </a:br>
            <a:r>
              <a:rPr lang="en-US" dirty="0" smtClean="0"/>
              <a:t>ZF=0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95A69-4E25-4BAB-9549-4552ADBB2C5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33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E20D50-8A0C-4272-B458-6F2DB91C5E3A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143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43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51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C7472-A993-4D22-A9EE-B104D9654E4E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43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105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2353F7-D8AB-4BFD-9939-9BF2CB1567D8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3A9FF63-D51A-48AE-A207-7890F0879BBF}" type="datetime1">
              <a:rPr lang="en-US" smtClean="0"/>
              <a:t>10/20/2020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F5F9A0-7B67-4056-B232-7DA33EE0622D}" type="datetime1">
              <a:rPr lang="en-US" smtClean="0"/>
              <a:t>10/20/2020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7518678-6B2F-40F7-87CB-EAF3C6BD6B53}" type="datetime1">
              <a:rPr lang="en-US" smtClean="0"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42053-80DF-43BB-B9CD-B2C107AC048D}" type="datetime1">
              <a:rPr lang="en-US" smtClean="0"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E747-AFE1-41BF-B1FC-6FA6FE4B22FD}" type="datetime1">
              <a:rPr lang="en-US" smtClean="0"/>
              <a:t>10/20/2020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1918B34-480E-4D0A-A727-C62FBBC28A1B}" type="datetime1">
              <a:rPr lang="en-US" smtClean="0"/>
              <a:t>10/20/2020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4AE9-8F66-4D09-8CF3-6355FAE8FA55}" type="datetime1">
              <a:rPr lang="en-US" smtClean="0"/>
              <a:t>10/20/2020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4EBEFCD-7A6F-4F84-9DCF-B1A3C5DDF80A}" type="datetime1">
              <a:rPr lang="en-US" smtClean="0"/>
              <a:t>10/20/2020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DD1CCC7-AE6F-4077-9598-1E75FCB255F7}" type="datetime1">
              <a:rPr lang="en-US" smtClean="0"/>
              <a:t>10/20/2020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AA89-B790-48A3-A0BD-F40CD404868E}" type="datetime1">
              <a:rPr lang="en-US" smtClean="0"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3B0-8871-43F5-8B3E-7E05DA5191E2}" type="datetime1">
              <a:rPr lang="en-US" smtClean="0"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9938795-18FB-4338-B96D-82098F03443E}" type="datetime1">
              <a:rPr lang="en-US" smtClean="0"/>
              <a:t>10/20/2020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62000"/>
            <a:ext cx="7772400" cy="14700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Conditional Structures</a:t>
            </a:r>
            <a:endParaRPr lang="en-US" sz="54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2743200"/>
            <a:ext cx="6096000" cy="31242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nb-NO" sz="2800" smtClean="0"/>
              <a:t>Computer Organization and Assembly Language</a:t>
            </a:r>
          </a:p>
          <a:p>
            <a:pPr eaLnBrk="1" hangingPunct="1">
              <a:spcBef>
                <a:spcPct val="150000"/>
              </a:spcBef>
            </a:pPr>
            <a:r>
              <a:rPr lang="en-US" altLang="nb-NO" smtClean="0"/>
              <a:t>Computer Science Department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nb-NO" smtClean="0"/>
              <a:t>National University of Computer and Emerging Sciences Islamabad</a:t>
            </a:r>
          </a:p>
        </p:txBody>
      </p:sp>
    </p:spTree>
    <p:extLst>
      <p:ext uri="{BB962C8B-B14F-4D97-AF65-F5344CB8AC3E}">
        <p14:creationId xmlns:p14="http://schemas.microsoft.com/office/powerpoint/2010/main" val="19140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 for 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Arithmetic Instructions</a:t>
            </a:r>
          </a:p>
          <a:p>
            <a:r>
              <a:rPr lang="en-US" dirty="0" smtClean="0"/>
              <a:t>Labels</a:t>
            </a:r>
          </a:p>
          <a:p>
            <a:r>
              <a:rPr lang="en-US" dirty="0" smtClean="0"/>
              <a:t>Conditional and Unconditional Flow of Program</a:t>
            </a:r>
          </a:p>
          <a:p>
            <a:r>
              <a:rPr lang="en-US" dirty="0" smtClean="0"/>
              <a:t>JMP instruction</a:t>
            </a:r>
          </a:p>
          <a:p>
            <a:r>
              <a:rPr lang="en-US" dirty="0" smtClean="0"/>
              <a:t>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 </a:t>
            </a:r>
            <a:r>
              <a:rPr lang="en-US" i="1" dirty="0" smtClean="0"/>
              <a:t>operand1</a:t>
            </a:r>
          </a:p>
          <a:p>
            <a:pPr lvl="1"/>
            <a:r>
              <a:rPr lang="en-US" dirty="0" smtClean="0"/>
              <a:t>operand1 is 8-bit (type BYTE): multiply with contents placed in register AL, result will be in AX.</a:t>
            </a:r>
          </a:p>
          <a:p>
            <a:pPr lvl="1"/>
            <a:r>
              <a:rPr lang="en-US" dirty="0"/>
              <a:t>operand1 is </a:t>
            </a:r>
            <a:r>
              <a:rPr lang="en-US" dirty="0" smtClean="0"/>
              <a:t>16-bit </a:t>
            </a:r>
            <a:r>
              <a:rPr lang="en-US" dirty="0"/>
              <a:t>(type </a:t>
            </a:r>
            <a:r>
              <a:rPr lang="en-US" dirty="0" smtClean="0"/>
              <a:t>WORD): </a:t>
            </a:r>
            <a:r>
              <a:rPr lang="en-US" dirty="0"/>
              <a:t>multiply with contents placed in register </a:t>
            </a:r>
            <a:r>
              <a:rPr lang="en-US" dirty="0" smtClean="0"/>
              <a:t>AX, </a:t>
            </a:r>
            <a:r>
              <a:rPr lang="en-US" dirty="0"/>
              <a:t>result will be in </a:t>
            </a:r>
            <a:r>
              <a:rPr lang="en-US" dirty="0" smtClean="0"/>
              <a:t>DX:AX.</a:t>
            </a:r>
            <a:endParaRPr lang="en-US" dirty="0"/>
          </a:p>
          <a:p>
            <a:pPr lvl="1"/>
            <a:r>
              <a:rPr lang="en-US" dirty="0"/>
              <a:t>operand1 is </a:t>
            </a:r>
            <a:r>
              <a:rPr lang="en-US" dirty="0" smtClean="0"/>
              <a:t>32-bit </a:t>
            </a:r>
            <a:r>
              <a:rPr lang="en-US" dirty="0"/>
              <a:t>(type </a:t>
            </a:r>
            <a:r>
              <a:rPr lang="en-US" dirty="0" smtClean="0"/>
              <a:t>DWORD): </a:t>
            </a:r>
            <a:r>
              <a:rPr lang="en-US" dirty="0"/>
              <a:t>multiply with contents placed in register </a:t>
            </a:r>
            <a:r>
              <a:rPr lang="en-US" dirty="0" smtClean="0"/>
              <a:t>DX:AX, </a:t>
            </a:r>
            <a:r>
              <a:rPr lang="en-US" dirty="0"/>
              <a:t>result will be in </a:t>
            </a:r>
            <a:r>
              <a:rPr lang="en-US" dirty="0" smtClean="0"/>
              <a:t>EDX:EAX</a:t>
            </a:r>
            <a:r>
              <a:rPr lang="en-US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Example</a:t>
            </a:r>
          </a:p>
          <a:p>
            <a:pPr lvl="1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MOV AL, 200 ;</a:t>
            </a:r>
          </a:p>
          <a:p>
            <a:pPr lvl="1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MOV BL, 4 </a:t>
            </a:r>
          </a:p>
          <a:p>
            <a:pPr lvl="1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MUL BL ;</a:t>
            </a:r>
          </a:p>
          <a:p>
            <a:pPr lvl="1">
              <a:buNone/>
            </a:pP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25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MUL Instruction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67000"/>
            <a:ext cx="7467600" cy="13199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7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800" dirty="0"/>
              <a:t>DIV </a:t>
            </a:r>
            <a:r>
              <a:rPr lang="en-US" sz="1800" i="1" dirty="0"/>
              <a:t>operand1</a:t>
            </a:r>
          </a:p>
          <a:p>
            <a:pPr lvl="1"/>
            <a:r>
              <a:rPr lang="en-US" sz="1800" dirty="0"/>
              <a:t>when operand is a </a:t>
            </a:r>
            <a:r>
              <a:rPr lang="en-US" sz="1800" dirty="0" smtClean="0"/>
              <a:t>BYTE:  </a:t>
            </a:r>
            <a:r>
              <a:rPr lang="en-US" sz="1800" dirty="0"/>
              <a:t>AL = AX / operand  then  </a:t>
            </a:r>
          </a:p>
          <a:p>
            <a:pPr lvl="2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AL =Quotient</a:t>
            </a:r>
          </a:p>
          <a:p>
            <a:pPr lvl="2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AH = remainder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/>
              <a:t>Example</a:t>
            </a:r>
            <a:endParaRPr lang="en-US" sz="1800" dirty="0"/>
          </a:p>
          <a:p>
            <a:pPr lvl="1"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MOV AX, 203; </a:t>
            </a:r>
          </a:p>
          <a:p>
            <a:pPr lvl="1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	MOV BL, 4;</a:t>
            </a:r>
          </a:p>
          <a:p>
            <a:pPr lvl="1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DIV BL </a:t>
            </a:r>
            <a:r>
              <a:rPr lang="en-US" sz="2000" dirty="0"/>
              <a:t>;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AL = 50 , AH =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  <a:p>
            <a:pPr lvl="1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7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DIV Instruction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1800" dirty="0"/>
              <a:t>when operand is a word: AX = (DX AX) / operand then</a:t>
            </a:r>
          </a:p>
          <a:p>
            <a:pPr lvl="2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 AX = Quotient</a:t>
            </a:r>
          </a:p>
          <a:p>
            <a:pPr lvl="2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 DX = remainder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86200"/>
            <a:ext cx="67818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8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Divide </a:t>
            </a:r>
            <a:r>
              <a:rPr lang="en-US" b="1" dirty="0" smtClean="0"/>
              <a:t>overflow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a division operand produces quotient that is larger than storage then divide </a:t>
            </a:r>
            <a:r>
              <a:rPr lang="en-US" dirty="0" smtClean="0"/>
              <a:t>overflow condition </a:t>
            </a:r>
            <a:r>
              <a:rPr lang="en-US" dirty="0"/>
              <a:t>occurs and the program terminates.</a:t>
            </a:r>
          </a:p>
          <a:p>
            <a:pPr lvl="1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MOV AX,1000h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MOV BL,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10h</a:t>
            </a:r>
          </a:p>
          <a:p>
            <a:pPr lvl="1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DIV BL                   </a:t>
            </a:r>
            <a:r>
              <a:rPr lang="en-US" dirty="0" smtClean="0"/>
              <a:t>;</a:t>
            </a:r>
            <a:r>
              <a:rPr lang="en-US" dirty="0" smtClean="0">
                <a:solidFill>
                  <a:srgbClr val="FF0000"/>
                </a:solidFill>
              </a:rPr>
              <a:t>AL </a:t>
            </a:r>
            <a:r>
              <a:rPr lang="en-US" dirty="0">
                <a:solidFill>
                  <a:srgbClr val="FF0000"/>
                </a:solidFill>
              </a:rPr>
              <a:t>cannot hold </a:t>
            </a:r>
            <a:r>
              <a:rPr lang="en-US" dirty="0" smtClean="0">
                <a:solidFill>
                  <a:srgbClr val="FF0000"/>
                </a:solidFill>
              </a:rPr>
              <a:t>100h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Similarly when you divide by zero program terminates.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Labels in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label is an identifier that is followed by a colon.</a:t>
            </a:r>
          </a:p>
          <a:p>
            <a:r>
              <a:rPr lang="en-US" dirty="0" smtClean="0"/>
              <a:t>Names suffixed with colons (:) are symbolic labels.</a:t>
            </a:r>
          </a:p>
          <a:p>
            <a:r>
              <a:rPr lang="en-US" dirty="0" smtClean="0"/>
              <a:t>The labels do not create code.</a:t>
            </a:r>
          </a:p>
          <a:p>
            <a:r>
              <a:rPr lang="en-US" dirty="0" smtClean="0"/>
              <a:t>They are simply a way to tell the assembler that those locations have symbolic names.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Label1:</a:t>
            </a:r>
          </a:p>
          <a:p>
            <a:pPr lvl="1"/>
            <a:r>
              <a:rPr lang="en-US" dirty="0" smtClean="0"/>
              <a:t>Above:</a:t>
            </a:r>
          </a:p>
          <a:p>
            <a:pPr lvl="1"/>
            <a:r>
              <a:rPr lang="en-US" dirty="0" smtClean="0"/>
              <a:t>Start: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JMP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20000" cy="3581400"/>
          </a:xfrm>
        </p:spPr>
        <p:txBody>
          <a:bodyPr/>
          <a:lstStyle/>
          <a:p>
            <a:r>
              <a:rPr lang="en-US" dirty="0" smtClean="0"/>
              <a:t>Unconditional jump</a:t>
            </a:r>
          </a:p>
          <a:p>
            <a:r>
              <a:rPr lang="en-US" dirty="0" smtClean="0"/>
              <a:t>Jumps to the given label[Address]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dirty="0" smtClean="0"/>
              <a:t>JMP [Label] 	;PC will jump to the address of Label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92162"/>
          </a:xfrm>
        </p:spPr>
        <p:txBody>
          <a:bodyPr/>
          <a:lstStyle/>
          <a:p>
            <a:r>
              <a:rPr lang="fr-FR" dirty="0" err="1" smtClean="0"/>
              <a:t>Examples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245210"/>
          </a:xfrm>
        </p:spPr>
        <p:txBody>
          <a:bodyPr>
            <a:normAutofit/>
          </a:bodyPr>
          <a:lstStyle/>
          <a:p>
            <a:r>
              <a:rPr lang="en-US" dirty="0" smtClean="0"/>
              <a:t>Jump</a:t>
            </a:r>
          </a:p>
          <a:p>
            <a:pPr lvl="1"/>
            <a:r>
              <a:rPr lang="en-US" dirty="0" smtClean="0"/>
              <a:t>ABOVE:</a:t>
            </a:r>
          </a:p>
          <a:p>
            <a:pPr lvl="2"/>
            <a:r>
              <a:rPr lang="en-US" dirty="0" err="1" smtClean="0"/>
              <a:t>mov</a:t>
            </a:r>
            <a:r>
              <a:rPr lang="en-US" dirty="0" smtClean="0"/>
              <a:t> ah,09</a:t>
            </a:r>
          </a:p>
          <a:p>
            <a:pPr lvl="2"/>
            <a:r>
              <a:rPr lang="en-US" dirty="0" err="1" smtClean="0"/>
              <a:t>mov</a:t>
            </a:r>
            <a:r>
              <a:rPr lang="en-US" dirty="0" smtClean="0"/>
              <a:t> dh,32</a:t>
            </a:r>
          </a:p>
          <a:p>
            <a:pPr lvl="1"/>
            <a:r>
              <a:rPr lang="en-US" dirty="0" smtClean="0"/>
              <a:t>JMP ABOVE</a:t>
            </a:r>
          </a:p>
          <a:p>
            <a:r>
              <a:rPr lang="en-US" dirty="0"/>
              <a:t>Backward jump</a:t>
            </a:r>
          </a:p>
          <a:p>
            <a:pPr lvl="1"/>
            <a:r>
              <a:rPr lang="en-US" dirty="0" err="1"/>
              <a:t>StartLoop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dirty="0"/>
              <a:t>; statements</a:t>
            </a:r>
          </a:p>
          <a:p>
            <a:pPr lvl="1"/>
            <a:r>
              <a:rPr lang="en-US" dirty="0"/>
              <a:t>JMP </a:t>
            </a:r>
            <a:r>
              <a:rPr lang="en-US" dirty="0" err="1"/>
              <a:t>StartLoop</a:t>
            </a:r>
            <a:endParaRPr lang="en-US" dirty="0"/>
          </a:p>
          <a:p>
            <a:r>
              <a:rPr lang="en-US" dirty="0"/>
              <a:t>Forward jump</a:t>
            </a:r>
          </a:p>
          <a:p>
            <a:pPr lvl="1"/>
            <a:r>
              <a:rPr lang="en-US" dirty="0"/>
              <a:t>JMP </a:t>
            </a:r>
            <a:r>
              <a:rPr lang="en-US" dirty="0" err="1"/>
              <a:t>EndLoop</a:t>
            </a:r>
            <a:endParaRPr lang="en-US" dirty="0"/>
          </a:p>
          <a:p>
            <a:pPr lvl="1">
              <a:buNone/>
            </a:pPr>
            <a:r>
              <a:rPr lang="en-US" dirty="0"/>
              <a:t>; statements</a:t>
            </a:r>
          </a:p>
          <a:p>
            <a:pPr lvl="1"/>
            <a:r>
              <a:rPr lang="en-US" dirty="0" err="1"/>
              <a:t>EndLoop</a:t>
            </a:r>
            <a:r>
              <a:rPr lang="en-US" dirty="0"/>
              <a:t>: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urved Right Arrow 6"/>
          <p:cNvSpPr/>
          <p:nvPr/>
        </p:nvSpPr>
        <p:spPr>
          <a:xfrm rot="10161908">
            <a:off x="2798495" y="1412691"/>
            <a:ext cx="838200" cy="12640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 rot="9905991">
            <a:off x="3083473" y="3387134"/>
            <a:ext cx="694115" cy="95935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urved Left Arrow 5"/>
          <p:cNvSpPr/>
          <p:nvPr/>
        </p:nvSpPr>
        <p:spPr>
          <a:xfrm rot="278682">
            <a:off x="3010661" y="5152462"/>
            <a:ext cx="759820" cy="9906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Jumps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Transfers Control if condition is satisfied.</a:t>
            </a:r>
          </a:p>
          <a:p>
            <a:r>
              <a:rPr lang="en-US" dirty="0" smtClean="0"/>
              <a:t>Jumps based on unsigned data</a:t>
            </a:r>
          </a:p>
          <a:p>
            <a:r>
              <a:rPr lang="en-US" dirty="0" smtClean="0"/>
              <a:t>Jumps to label if equal</a:t>
            </a:r>
          </a:p>
          <a:p>
            <a:pPr lvl="1"/>
            <a:r>
              <a:rPr lang="en-US" dirty="0" smtClean="0"/>
              <a:t>JE [label]</a:t>
            </a:r>
          </a:p>
          <a:p>
            <a:r>
              <a:rPr lang="en-US" dirty="0" smtClean="0"/>
              <a:t>Jump if not equal</a:t>
            </a:r>
          </a:p>
          <a:p>
            <a:pPr lvl="1"/>
            <a:r>
              <a:rPr lang="en-US" dirty="0" smtClean="0"/>
              <a:t>JNE [label]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Jumps Based on Equality</a:t>
            </a:r>
            <a:endParaRPr lang="en-US" dirty="0"/>
          </a:p>
        </p:txBody>
      </p:sp>
      <p:pic>
        <p:nvPicPr>
          <p:cNvPr id="4" name="Content Placeholder 3" descr="16-425da19a85.pn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143000" y="2438400"/>
            <a:ext cx="7085687" cy="259159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CMP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Compares value of two operands and set flags</a:t>
            </a:r>
          </a:p>
          <a:p>
            <a:r>
              <a:rPr lang="en-US" dirty="0" smtClean="0"/>
              <a:t>Syntax</a:t>
            </a:r>
          </a:p>
          <a:p>
            <a:pPr lvl="1"/>
            <a:r>
              <a:rPr lang="en-US" dirty="0" smtClean="0"/>
              <a:t>CMP opr1,opr2</a:t>
            </a:r>
          </a:p>
          <a:p>
            <a:pPr lvl="1"/>
            <a:r>
              <a:rPr lang="en-US" dirty="0" smtClean="0"/>
              <a:t>Opr1 = </a:t>
            </a:r>
            <a:r>
              <a:rPr lang="en-US" dirty="0" err="1" smtClean="0"/>
              <a:t>reg</a:t>
            </a:r>
            <a:r>
              <a:rPr lang="en-US" dirty="0" smtClean="0"/>
              <a:t>/</a:t>
            </a:r>
            <a:r>
              <a:rPr lang="en-US" dirty="0" err="1" smtClean="0"/>
              <a:t>mem</a:t>
            </a:r>
            <a:endParaRPr lang="en-US" dirty="0" smtClean="0"/>
          </a:p>
          <a:p>
            <a:pPr lvl="1"/>
            <a:r>
              <a:rPr lang="en-US" dirty="0" smtClean="0"/>
              <a:t>Opr2 = </a:t>
            </a:r>
            <a:r>
              <a:rPr lang="en-US" dirty="0" err="1" smtClean="0"/>
              <a:t>reg</a:t>
            </a:r>
            <a:r>
              <a:rPr lang="en-US" dirty="0" smtClean="0"/>
              <a:t>/</a:t>
            </a:r>
            <a:r>
              <a:rPr lang="en-US" dirty="0" err="1" smtClean="0"/>
              <a:t>mem</a:t>
            </a:r>
            <a:r>
              <a:rPr lang="en-US" dirty="0" smtClean="0"/>
              <a:t>/</a:t>
            </a:r>
            <a:r>
              <a:rPr lang="en-US" dirty="0" err="1" smtClean="0"/>
              <a:t>imme</a:t>
            </a:r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CMP </a:t>
            </a:r>
            <a:r>
              <a:rPr lang="en-US" dirty="0" err="1" smtClean="0"/>
              <a:t>ax,bx</a:t>
            </a:r>
            <a:endParaRPr lang="en-US" dirty="0" smtClean="0"/>
          </a:p>
          <a:p>
            <a:pPr lvl="1"/>
            <a:r>
              <a:rPr lang="en-US" dirty="0" smtClean="0"/>
              <a:t>CMP </a:t>
            </a:r>
            <a:r>
              <a:rPr lang="en-US" dirty="0" err="1" smtClean="0"/>
              <a:t>ah,al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ajaZia\Desktop\assembly-language-8086-12-72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52400"/>
            <a:ext cx="83312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4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</a:t>
            </a:r>
          </a:p>
          <a:p>
            <a:pPr lvl="2">
              <a:buNone/>
            </a:pPr>
            <a:r>
              <a:rPr lang="en-US" dirty="0" smtClean="0"/>
              <a:t>…</a:t>
            </a:r>
          </a:p>
          <a:p>
            <a:pPr lvl="2"/>
            <a:r>
              <a:rPr lang="en-US" dirty="0" err="1" smtClean="0"/>
              <a:t>Mov</a:t>
            </a:r>
            <a:r>
              <a:rPr lang="en-US" dirty="0" smtClean="0"/>
              <a:t> al,5</a:t>
            </a:r>
          </a:p>
          <a:p>
            <a:pPr lvl="2"/>
            <a:r>
              <a:rPr lang="en-US" dirty="0" err="1" smtClean="0"/>
              <a:t>Cmp</a:t>
            </a:r>
            <a:r>
              <a:rPr lang="en-US" dirty="0" smtClean="0"/>
              <a:t> al,5</a:t>
            </a:r>
          </a:p>
          <a:p>
            <a:pPr lvl="2"/>
            <a:r>
              <a:rPr lang="en-US" dirty="0" smtClean="0"/>
              <a:t>Je label1</a:t>
            </a:r>
          </a:p>
          <a:p>
            <a:pPr lvl="2"/>
            <a:r>
              <a:rPr lang="en-US" dirty="0" err="1" smtClean="0"/>
              <a:t>Jmp</a:t>
            </a:r>
            <a:r>
              <a:rPr lang="en-US" dirty="0" smtClean="0"/>
              <a:t> exit</a:t>
            </a:r>
          </a:p>
          <a:p>
            <a:pPr lvl="1"/>
            <a:r>
              <a:rPr lang="en-US" dirty="0" smtClean="0"/>
              <a:t>Label1:</a:t>
            </a:r>
          </a:p>
          <a:p>
            <a:pPr lvl="2"/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 err="1" smtClean="0"/>
              <a:t>ax,bx</a:t>
            </a:r>
            <a:endParaRPr lang="en-US" dirty="0" smtClean="0"/>
          </a:p>
          <a:p>
            <a:pPr lvl="2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Exit:	…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48512"/>
          </a:xfrm>
        </p:spPr>
        <p:txBody>
          <a:bodyPr/>
          <a:lstStyle/>
          <a:p>
            <a:r>
              <a:rPr lang="en-US" dirty="0" smtClean="0"/>
              <a:t>Jumps Based on Flags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52600"/>
            <a:ext cx="5805699" cy="357962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48512"/>
          </a:xfrm>
        </p:spPr>
        <p:txBody>
          <a:bodyPr/>
          <a:lstStyle/>
          <a:p>
            <a:r>
              <a:rPr lang="en-US" dirty="0" smtClean="0"/>
              <a:t>Jumps Based on Conditions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1" y="1981200"/>
            <a:ext cx="8305800" cy="3547898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16888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altLang="zh-TW" dirty="0"/>
              <a:t>Your turn . . .</a:t>
            </a:r>
          </a:p>
        </p:txBody>
      </p:sp>
      <p:sp>
        <p:nvSpPr>
          <p:cNvPr id="1437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2438400"/>
            <a:ext cx="8569325" cy="9493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TW" dirty="0"/>
              <a:t>Implement the following </a:t>
            </a:r>
            <a:r>
              <a:rPr lang="en-US" altLang="zh-TW" dirty="0" err="1" smtClean="0"/>
              <a:t>pseudocode</a:t>
            </a:r>
            <a:r>
              <a:rPr lang="en-US" altLang="zh-TW" dirty="0" smtClean="0"/>
              <a:t> </a:t>
            </a:r>
            <a:r>
              <a:rPr lang="en-US" altLang="zh-TW" dirty="0"/>
              <a:t>in assembly language. All values are unsigned:</a:t>
            </a:r>
            <a:endParaRPr lang="en-US" altLang="zh-TW" sz="2400" b="1" dirty="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37701" name="Text Box 5"/>
          <p:cNvSpPr txBox="1">
            <a:spLocks noChangeArrowheads="1"/>
          </p:cNvSpPr>
          <p:nvPr/>
        </p:nvSpPr>
        <p:spPr bwMode="auto">
          <a:xfrm>
            <a:off x="2846388" y="3505200"/>
            <a:ext cx="32004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smtClean="0">
                <a:latin typeface="Courier New" pitchFamily="49" charset="0"/>
              </a:rPr>
              <a:t>if( </a:t>
            </a:r>
            <a:r>
              <a:rPr kumimoji="0" lang="en-US" altLang="zh-TW" sz="1800" b="1" dirty="0" err="1" smtClean="0">
                <a:latin typeface="Courier New" pitchFamily="49" charset="0"/>
              </a:rPr>
              <a:t>bx</a:t>
            </a:r>
            <a:r>
              <a:rPr kumimoji="0" lang="en-US" altLang="zh-TW" sz="1800" b="1" dirty="0" smtClean="0">
                <a:latin typeface="Courier New" pitchFamily="49" charset="0"/>
              </a:rPr>
              <a:t> &lt;= ax </a:t>
            </a:r>
            <a:endParaRPr kumimoji="0" lang="en-US" altLang="zh-TW" sz="1800" b="1" dirty="0">
              <a:latin typeface="Courier New" pitchFamily="49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	</a:t>
            </a:r>
            <a:r>
              <a:rPr kumimoji="0" lang="en-US" altLang="zh-TW" sz="1800" b="1" dirty="0" smtClean="0">
                <a:latin typeface="Courier New" pitchFamily="49" charset="0"/>
              </a:rPr>
              <a:t>&amp;&amp; </a:t>
            </a:r>
            <a:r>
              <a:rPr kumimoji="0" lang="en-US" altLang="zh-TW" sz="1800" b="1" dirty="0" err="1" smtClean="0">
                <a:latin typeface="Courier New" pitchFamily="49" charset="0"/>
              </a:rPr>
              <a:t>cx</a:t>
            </a:r>
            <a:r>
              <a:rPr kumimoji="0" lang="en-US" altLang="zh-TW" sz="1800" b="1" dirty="0" smtClean="0">
                <a:latin typeface="Courier New" pitchFamily="49" charset="0"/>
              </a:rPr>
              <a:t> &gt; </a:t>
            </a:r>
            <a:r>
              <a:rPr kumimoji="0" lang="en-US" altLang="zh-TW" sz="1800" b="1" dirty="0" err="1" smtClean="0">
                <a:latin typeface="Courier New" pitchFamily="49" charset="0"/>
              </a:rPr>
              <a:t>dx</a:t>
            </a:r>
            <a:r>
              <a:rPr kumimoji="0" lang="en-US" altLang="zh-TW" sz="1800" b="1" dirty="0" smtClean="0">
                <a:latin typeface="Courier New" pitchFamily="49" charset="0"/>
              </a:rPr>
              <a:t> </a:t>
            </a:r>
            <a:r>
              <a:rPr kumimoji="0" lang="en-US" altLang="zh-TW" sz="1800" b="1" dirty="0">
                <a:latin typeface="Courier New" pitchFamily="49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{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</a:t>
            </a:r>
            <a:r>
              <a:rPr kumimoji="0" lang="en-US" altLang="zh-TW" sz="1800" b="1" dirty="0" smtClean="0">
                <a:latin typeface="Courier New" pitchFamily="49" charset="0"/>
              </a:rPr>
              <a:t>ax </a:t>
            </a:r>
            <a:r>
              <a:rPr kumimoji="0" lang="en-US" altLang="zh-TW" sz="1800" b="1" dirty="0">
                <a:latin typeface="Courier New" pitchFamily="49" charset="0"/>
              </a:rPr>
              <a:t>= 5;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</a:t>
            </a:r>
            <a:r>
              <a:rPr kumimoji="0" lang="en-US" altLang="zh-TW" sz="1800" b="1" dirty="0" err="1" smtClean="0">
                <a:latin typeface="Courier New" pitchFamily="49" charset="0"/>
              </a:rPr>
              <a:t>dx</a:t>
            </a:r>
            <a:r>
              <a:rPr kumimoji="0" lang="en-US" altLang="zh-TW" sz="1800" b="1" dirty="0" smtClean="0">
                <a:latin typeface="Courier New" pitchFamily="49" charset="0"/>
              </a:rPr>
              <a:t> </a:t>
            </a:r>
            <a:r>
              <a:rPr kumimoji="0" lang="en-US" altLang="zh-TW" sz="1800" b="1" dirty="0">
                <a:latin typeface="Courier New" pitchFamily="49" charset="0"/>
              </a:rPr>
              <a:t>= 6;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smtClean="0">
                <a:latin typeface="Courier New" pitchFamily="49" charset="0"/>
              </a:rPr>
              <a:t>}</a:t>
            </a:r>
            <a:endParaRPr lang="en-US" altLang="zh-TW" b="1" dirty="0" smtClean="0">
              <a:latin typeface="Courier New" pitchFamily="49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endParaRPr kumimoji="0" lang="en-US" altLang="zh-TW" sz="1800" b="1" dirty="0">
              <a:latin typeface="Courier New" pitchFamily="49" charset="0"/>
            </a:endParaRPr>
          </a:p>
          <a:p>
            <a:pPr algn="ctr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endParaRPr kumimoji="0" lang="zh-TW" altLang="en-US" sz="1800" b="1" dirty="0">
              <a:latin typeface="Courier New" pitchFamily="49" charset="0"/>
            </a:endParaRPr>
          </a:p>
        </p:txBody>
      </p:sp>
      <p:sp>
        <p:nvSpPr>
          <p:cNvPr id="1437702" name="Text Box 6"/>
          <p:cNvSpPr txBox="1">
            <a:spLocks noChangeArrowheads="1"/>
          </p:cNvSpPr>
          <p:nvPr/>
        </p:nvSpPr>
        <p:spPr bwMode="auto">
          <a:xfrm>
            <a:off x="827088" y="5638800"/>
            <a:ext cx="7239000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137160" bIns="13716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TW" sz="2100" dirty="0"/>
              <a:t>(There are multiple correct solutions to this problem.)</a:t>
            </a:r>
          </a:p>
        </p:txBody>
      </p:sp>
    </p:spTree>
    <p:extLst>
      <p:ext uri="{BB962C8B-B14F-4D97-AF65-F5344CB8AC3E}">
        <p14:creationId xmlns:p14="http://schemas.microsoft.com/office/powerpoint/2010/main" val="333973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Block-Structured IF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Assembly language programmers can easily translate logical statements written in C++/Java into assembly language. For example:</a:t>
            </a:r>
            <a:endParaRPr lang="en-US" altLang="zh-TW" sz="2800" b="1" dirty="0" smtClean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9600" y="4000500"/>
            <a:ext cx="32766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 lvl="1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err="1">
                <a:latin typeface="Courier New" pitchFamily="49" charset="0"/>
              </a:rPr>
              <a:t>mov</a:t>
            </a:r>
            <a:r>
              <a:rPr kumimoji="0" lang="en-US" altLang="zh-TW" sz="1800" b="1" dirty="0">
                <a:latin typeface="Courier New" pitchFamily="49" charset="0"/>
              </a:rPr>
              <a:t> </a:t>
            </a:r>
            <a:r>
              <a:rPr kumimoji="0" lang="en-US" altLang="zh-TW" sz="1800" b="1" dirty="0" smtClean="0">
                <a:latin typeface="Courier New" pitchFamily="49" charset="0"/>
              </a:rPr>
              <a:t>ax,op1</a:t>
            </a:r>
            <a:endParaRPr kumimoji="0" lang="en-US" altLang="zh-TW" sz="1800" b="1" dirty="0">
              <a:latin typeface="Courier New" pitchFamily="49" charset="0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err="1">
                <a:latin typeface="Courier New" pitchFamily="49" charset="0"/>
              </a:rPr>
              <a:t>cmp</a:t>
            </a:r>
            <a:r>
              <a:rPr kumimoji="0" lang="en-US" altLang="zh-TW" sz="1800" b="1" dirty="0">
                <a:latin typeface="Courier New" pitchFamily="49" charset="0"/>
              </a:rPr>
              <a:t> </a:t>
            </a:r>
            <a:r>
              <a:rPr kumimoji="0" lang="en-US" altLang="zh-TW" sz="1800" b="1" dirty="0" smtClean="0">
                <a:latin typeface="Courier New" pitchFamily="49" charset="0"/>
              </a:rPr>
              <a:t>ax,op2</a:t>
            </a:r>
            <a:endParaRPr kumimoji="0" lang="en-US" altLang="zh-TW" sz="1800" b="1" dirty="0">
              <a:latin typeface="Courier New" pitchFamily="49" charset="0"/>
            </a:endParaRPr>
          </a:p>
          <a:p>
            <a:pPr lvl="1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err="1">
                <a:latin typeface="Courier New" pitchFamily="49" charset="0"/>
              </a:rPr>
              <a:t>jne</a:t>
            </a:r>
            <a:r>
              <a:rPr kumimoji="0" lang="en-US" altLang="zh-TW" sz="1800" b="1" dirty="0">
                <a:latin typeface="Courier New" pitchFamily="49" charset="0"/>
              </a:rPr>
              <a:t> L1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err="1">
                <a:latin typeface="Courier New" pitchFamily="49" charset="0"/>
              </a:rPr>
              <a:t>mov</a:t>
            </a:r>
            <a:r>
              <a:rPr kumimoji="0" lang="en-US" altLang="zh-TW" sz="1800" b="1" dirty="0">
                <a:latin typeface="Courier New" pitchFamily="49" charset="0"/>
              </a:rPr>
              <a:t> X,1</a:t>
            </a:r>
          </a:p>
          <a:p>
            <a:pPr lvl="1"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 err="1">
                <a:latin typeface="Courier New" pitchFamily="49" charset="0"/>
              </a:rPr>
              <a:t>jmp</a:t>
            </a:r>
            <a:r>
              <a:rPr kumimoji="0" lang="en-US" altLang="zh-TW" sz="1800" b="1" dirty="0">
                <a:latin typeface="Courier New" pitchFamily="49" charset="0"/>
              </a:rPr>
              <a:t> L2</a:t>
            </a:r>
          </a:p>
          <a:p>
            <a:pPr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L1</a:t>
            </a:r>
            <a:r>
              <a:rPr kumimoji="0" lang="en-US" altLang="zh-TW" sz="1800" b="1" dirty="0" smtClean="0">
                <a:latin typeface="Courier New" pitchFamily="49" charset="0"/>
              </a:rPr>
              <a:t>:</a:t>
            </a:r>
          </a:p>
          <a:p>
            <a:pPr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	</a:t>
            </a:r>
            <a:r>
              <a:rPr kumimoji="0" lang="en-US" altLang="zh-TW" sz="1800" b="1" dirty="0" err="1">
                <a:latin typeface="Courier New" pitchFamily="49" charset="0"/>
              </a:rPr>
              <a:t>mov</a:t>
            </a:r>
            <a:r>
              <a:rPr kumimoji="0" lang="en-US" altLang="zh-TW" sz="1800" b="1" dirty="0">
                <a:latin typeface="Courier New" pitchFamily="49" charset="0"/>
              </a:rPr>
              <a:t> X,2</a:t>
            </a:r>
          </a:p>
          <a:p>
            <a:pPr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L2:</a:t>
            </a:r>
          </a:p>
          <a:p>
            <a:pPr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endParaRPr kumimoji="0" lang="zh-TW" altLang="en-US" sz="1800" b="1" dirty="0">
              <a:latin typeface="Courier New" pitchFamily="49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1186" y="4000500"/>
            <a:ext cx="30480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if( op1 == op2 )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X = 1;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else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X = 2;</a:t>
            </a:r>
          </a:p>
          <a:p>
            <a:pPr>
              <a:lnSpc>
                <a:spcPct val="50000"/>
              </a:lnSpc>
              <a:spcBef>
                <a:spcPct val="50000"/>
              </a:spcBef>
              <a:tabLst>
                <a:tab pos="457200" algn="l"/>
                <a:tab pos="3657600" algn="l"/>
                <a:tab pos="4114800" algn="l"/>
              </a:tabLst>
            </a:pPr>
            <a:endParaRPr kumimoji="0" lang="zh-TW" altLang="en-US" sz="1800" b="1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zh-TW" dirty="0"/>
              <a:t>Your turn . . .</a:t>
            </a:r>
          </a:p>
        </p:txBody>
      </p:sp>
      <p:sp>
        <p:nvSpPr>
          <p:cNvPr id="1429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2369983"/>
            <a:ext cx="8569325" cy="90661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TW" dirty="0" smtClean="0"/>
              <a:t>Implement </a:t>
            </a:r>
            <a:r>
              <a:rPr lang="en-US" altLang="zh-TW" dirty="0"/>
              <a:t>the following </a:t>
            </a:r>
            <a:r>
              <a:rPr lang="en-US" altLang="zh-TW" dirty="0" smtClean="0"/>
              <a:t>pseudo code </a:t>
            </a:r>
            <a:r>
              <a:rPr lang="en-US" altLang="zh-TW" dirty="0"/>
              <a:t>in assembly language. All </a:t>
            </a:r>
            <a:r>
              <a:rPr lang="en-US" altLang="zh-TW" dirty="0" smtClean="0"/>
              <a:t>values </a:t>
            </a:r>
            <a:r>
              <a:rPr lang="en-US" altLang="zh-TW" dirty="0"/>
              <a:t>are </a:t>
            </a:r>
            <a:r>
              <a:rPr lang="en-US" altLang="zh-TW" dirty="0" smtClean="0"/>
              <a:t>16-bit </a:t>
            </a:r>
            <a:r>
              <a:rPr lang="en-US" altLang="zh-TW" dirty="0"/>
              <a:t>signed integers:</a:t>
            </a:r>
            <a:endParaRPr lang="en-US" altLang="zh-TW" sz="2400" b="1" dirty="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429509" name="Text Box 5"/>
          <p:cNvSpPr txBox="1">
            <a:spLocks noChangeArrowheads="1"/>
          </p:cNvSpPr>
          <p:nvPr/>
        </p:nvSpPr>
        <p:spPr bwMode="auto">
          <a:xfrm>
            <a:off x="2551208" y="3276600"/>
            <a:ext cx="3200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if( var1 </a:t>
            </a:r>
            <a:r>
              <a:rPr kumimoji="0" lang="en-US" altLang="zh-TW" sz="1800" b="1" dirty="0" smtClean="0">
                <a:latin typeface="Courier New" pitchFamily="49" charset="0"/>
              </a:rPr>
              <a:t>== </a:t>
            </a:r>
            <a:r>
              <a:rPr kumimoji="0" lang="en-US" altLang="zh-TW" sz="1800" b="1" dirty="0">
                <a:latin typeface="Courier New" pitchFamily="49" charset="0"/>
              </a:rPr>
              <a:t>var2 )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var3 = 10;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else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{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var3 = 6;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var4 = 7;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1429510" name="Text Box 6"/>
          <p:cNvSpPr txBox="1">
            <a:spLocks noChangeArrowheads="1"/>
          </p:cNvSpPr>
          <p:nvPr/>
        </p:nvSpPr>
        <p:spPr bwMode="auto">
          <a:xfrm>
            <a:off x="611188" y="5715000"/>
            <a:ext cx="723900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137160" bIns="13716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TW" sz="2100" dirty="0" smtClean="0"/>
              <a:t>(</a:t>
            </a:r>
            <a:r>
              <a:rPr kumimoji="0" lang="en-US" altLang="zh-TW" sz="2100" dirty="0"/>
              <a:t>There are multiple correct solutions to this problem.)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1030" name="Picture 6" descr="C:\Users\RajaZia\Desktop\ass4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62" y="2057400"/>
            <a:ext cx="386473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31" name="Picture 7" descr="C:\Users\RajaZia\Desktop\ass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3962400"/>
            <a:ext cx="6319157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19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2133600"/>
            <a:ext cx="3048000" cy="30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Another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endParaRPr lang="en-US" altLang="zh-TW" sz="1800" b="1" dirty="0" smtClean="0">
              <a:solidFill>
                <a:schemeClr val="tx2"/>
              </a:solidFill>
              <a:latin typeface="Courier New" pitchFamily="49" charset="0"/>
            </a:endParaRP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endParaRPr lang="en-US" altLang="zh-TW" sz="1800" b="1" dirty="0">
              <a:solidFill>
                <a:schemeClr val="tx2"/>
              </a:solidFill>
              <a:latin typeface="Courier New" pitchFamily="49" charset="0"/>
            </a:endParaRP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endParaRPr lang="en-US" altLang="zh-TW" sz="1800" b="1" dirty="0" smtClean="0">
              <a:solidFill>
                <a:schemeClr val="tx2"/>
              </a:solidFill>
              <a:latin typeface="Courier New" pitchFamily="49" charset="0"/>
            </a:endParaRP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err="1" smtClean="0">
                <a:latin typeface="Courier New" pitchFamily="49" charset="0"/>
              </a:rPr>
              <a:t>mov</a:t>
            </a:r>
            <a:r>
              <a:rPr lang="en-US" altLang="zh-TW" sz="1800" b="1" dirty="0" smtClean="0">
                <a:latin typeface="Courier New" pitchFamily="49" charset="0"/>
              </a:rPr>
              <a:t> </a:t>
            </a:r>
            <a:r>
              <a:rPr lang="en-US" altLang="zh-TW" sz="1800" b="1" dirty="0">
                <a:latin typeface="Courier New" pitchFamily="49" charset="0"/>
              </a:rPr>
              <a:t>ax,var1</a:t>
            </a: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err="1">
                <a:latin typeface="Courier New" pitchFamily="49" charset="0"/>
              </a:rPr>
              <a:t>cmp</a:t>
            </a:r>
            <a:r>
              <a:rPr lang="en-US" altLang="zh-TW" sz="1800" b="1" dirty="0">
                <a:latin typeface="Courier New" pitchFamily="49" charset="0"/>
              </a:rPr>
              <a:t> ax,var2</a:t>
            </a: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>
                <a:latin typeface="Courier New" pitchFamily="49" charset="0"/>
              </a:rPr>
              <a:t>je L1</a:t>
            </a: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err="1">
                <a:latin typeface="Courier New" pitchFamily="49" charset="0"/>
              </a:rPr>
              <a:t>mov</a:t>
            </a:r>
            <a:r>
              <a:rPr lang="en-US" altLang="zh-TW" sz="1800" b="1" dirty="0">
                <a:latin typeface="Courier New" pitchFamily="49" charset="0"/>
              </a:rPr>
              <a:t> var3,6</a:t>
            </a: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err="1">
                <a:latin typeface="Courier New" pitchFamily="49" charset="0"/>
              </a:rPr>
              <a:t>mov</a:t>
            </a:r>
            <a:r>
              <a:rPr lang="en-US" altLang="zh-TW" sz="1800" b="1" dirty="0">
                <a:latin typeface="Courier New" pitchFamily="49" charset="0"/>
              </a:rPr>
              <a:t> var4,7</a:t>
            </a:r>
          </a:p>
          <a:p>
            <a:pPr marL="365760" lvl="1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err="1">
                <a:latin typeface="Courier New" pitchFamily="49" charset="0"/>
              </a:rPr>
              <a:t>jmp</a:t>
            </a:r>
            <a:r>
              <a:rPr lang="en-US" altLang="zh-TW" sz="1800" b="1" dirty="0">
                <a:latin typeface="Courier New" pitchFamily="49" charset="0"/>
              </a:rPr>
              <a:t> L2</a:t>
            </a:r>
          </a:p>
          <a:p>
            <a:pPr marL="0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>
                <a:latin typeface="Courier New" pitchFamily="49" charset="0"/>
              </a:rPr>
              <a:t> </a:t>
            </a:r>
            <a:r>
              <a:rPr lang="en-US" altLang="zh-TW" sz="1800" b="1" dirty="0" smtClean="0">
                <a:latin typeface="Courier New" pitchFamily="49" charset="0"/>
              </a:rPr>
              <a:t> 	L1: </a:t>
            </a:r>
            <a:r>
              <a:rPr lang="en-US" altLang="zh-TW" sz="1800" b="1" dirty="0" err="1" smtClean="0">
                <a:latin typeface="Courier New" pitchFamily="49" charset="0"/>
              </a:rPr>
              <a:t>mov</a:t>
            </a:r>
            <a:r>
              <a:rPr lang="en-US" altLang="zh-TW" sz="1800" b="1" dirty="0" smtClean="0">
                <a:latin typeface="Courier New" pitchFamily="49" charset="0"/>
              </a:rPr>
              <a:t> </a:t>
            </a:r>
            <a:r>
              <a:rPr lang="en-US" altLang="zh-TW" sz="1800" b="1" dirty="0">
                <a:latin typeface="Courier New" pitchFamily="49" charset="0"/>
              </a:rPr>
              <a:t>var3,10</a:t>
            </a:r>
          </a:p>
          <a:p>
            <a:pPr marL="0" indent="0">
              <a:lnSpc>
                <a:spcPct val="50000"/>
              </a:lnSpc>
              <a:spcBef>
                <a:spcPct val="50000"/>
              </a:spcBef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lang="en-US" altLang="zh-TW" sz="1800" b="1" dirty="0" smtClean="0">
                <a:latin typeface="Courier New" pitchFamily="49" charset="0"/>
              </a:rPr>
              <a:t>	L2</a:t>
            </a:r>
            <a:r>
              <a:rPr lang="en-US" altLang="zh-TW" sz="1800" b="1" dirty="0">
                <a:latin typeface="Courier New" pitchFamily="49" charset="0"/>
              </a:rPr>
              <a:t>:</a:t>
            </a:r>
          </a:p>
          <a:p>
            <a:endParaRPr lang="en-US" dirty="0"/>
          </a:p>
        </p:txBody>
      </p:sp>
      <p:sp>
        <p:nvSpPr>
          <p:cNvPr id="6" name="Text Box 5"/>
          <p:cNvSpPr txBox="1">
            <a:spLocks noGrp="1" noChangeArrowheads="1"/>
          </p:cNvSpPr>
          <p:nvPr>
            <p:ph sz="quarter" idx="2"/>
          </p:nvPr>
        </p:nvSpPr>
        <p:spPr bwMode="auto">
          <a:xfrm>
            <a:off x="4270248" y="2199564"/>
            <a:ext cx="3273552" cy="30582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if( var1 </a:t>
            </a:r>
            <a:r>
              <a:rPr kumimoji="0" lang="en-US" altLang="zh-TW" sz="1800" b="1" dirty="0" smtClean="0">
                <a:latin typeface="Courier New" pitchFamily="49" charset="0"/>
              </a:rPr>
              <a:t>== </a:t>
            </a:r>
            <a:r>
              <a:rPr kumimoji="0" lang="en-US" altLang="zh-TW" sz="1800" b="1" dirty="0">
                <a:latin typeface="Courier New" pitchFamily="49" charset="0"/>
              </a:rPr>
              <a:t>var2 )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var3 = 10;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else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{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var3 = 6;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  var4 = 7;</a:t>
            </a:r>
          </a:p>
          <a:p>
            <a:pPr marL="0" indent="0"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None/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319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CX used as Counter</a:t>
            </a:r>
          </a:p>
          <a:p>
            <a:r>
              <a:rPr lang="en-US" dirty="0" smtClean="0"/>
              <a:t>Automatically Decremented after every iteration</a:t>
            </a:r>
          </a:p>
          <a:p>
            <a:r>
              <a:rPr lang="en-US" dirty="0" smtClean="0"/>
              <a:t>Label is used to jump</a:t>
            </a:r>
          </a:p>
          <a:p>
            <a:r>
              <a:rPr lang="en-US" dirty="0" smtClean="0"/>
              <a:t>Ends when counter reaches zero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MOV cx,10	;loop runs 10 times</a:t>
            </a:r>
          </a:p>
          <a:p>
            <a:pPr lvl="1"/>
            <a:r>
              <a:rPr lang="en-US" dirty="0" smtClean="0"/>
              <a:t>Loop1:</a:t>
            </a:r>
          </a:p>
          <a:p>
            <a:pPr lvl="2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Loop Loop1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4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zh-TW" dirty="0"/>
              <a:t>WHILE Loops</a:t>
            </a:r>
            <a:endParaRPr lang="en-US" altLang="zh-TW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443843" name="Text Box 3"/>
          <p:cNvSpPr txBox="1">
            <a:spLocks noChangeArrowheads="1"/>
          </p:cNvSpPr>
          <p:nvPr/>
        </p:nvSpPr>
        <p:spPr bwMode="auto">
          <a:xfrm>
            <a:off x="2477614" y="3124200"/>
            <a:ext cx="38862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182880" rIns="137160" bIns="182880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while( </a:t>
            </a:r>
            <a:r>
              <a:rPr kumimoji="0" lang="en-US" altLang="zh-TW" sz="1800" b="1" dirty="0" smtClean="0">
                <a:latin typeface="Courier New" pitchFamily="49" charset="0"/>
              </a:rPr>
              <a:t>ax </a:t>
            </a:r>
            <a:r>
              <a:rPr kumimoji="0" lang="en-US" altLang="zh-TW" sz="1800" b="1" dirty="0">
                <a:latin typeface="Courier New" pitchFamily="49" charset="0"/>
              </a:rPr>
              <a:t>&lt; </a:t>
            </a:r>
            <a:r>
              <a:rPr kumimoji="0" lang="en-US" altLang="zh-TW" sz="1800" b="1" dirty="0" err="1" smtClean="0">
                <a:latin typeface="Courier New" pitchFamily="49" charset="0"/>
              </a:rPr>
              <a:t>bx</a:t>
            </a:r>
            <a:r>
              <a:rPr kumimoji="0" lang="en-US" altLang="zh-TW" sz="1800" b="1" dirty="0">
                <a:latin typeface="Courier New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tabLst>
                <a:tab pos="457200" algn="l"/>
                <a:tab pos="3657600" algn="l"/>
                <a:tab pos="4114800" algn="l"/>
              </a:tabLst>
            </a:pPr>
            <a:r>
              <a:rPr kumimoji="0" lang="en-US" altLang="zh-TW" sz="1800" b="1" dirty="0">
                <a:latin typeface="Courier New" pitchFamily="49" charset="0"/>
              </a:rPr>
              <a:t>	</a:t>
            </a:r>
            <a:r>
              <a:rPr kumimoji="0" lang="en-US" altLang="zh-TW" sz="1800" b="1" dirty="0" smtClean="0">
                <a:latin typeface="Courier New" pitchFamily="49" charset="0"/>
              </a:rPr>
              <a:t>ax </a:t>
            </a:r>
            <a:r>
              <a:rPr kumimoji="0" lang="en-US" altLang="zh-TW" sz="1800" b="1" dirty="0">
                <a:latin typeface="Courier New" pitchFamily="49" charset="0"/>
              </a:rPr>
              <a:t>= </a:t>
            </a:r>
            <a:r>
              <a:rPr kumimoji="0" lang="en-US" altLang="zh-TW" sz="1800" b="1" dirty="0" smtClean="0">
                <a:latin typeface="Courier New" pitchFamily="49" charset="0"/>
              </a:rPr>
              <a:t>ax </a:t>
            </a:r>
            <a:r>
              <a:rPr kumimoji="0" lang="en-US" altLang="zh-TW" sz="1800" b="1" dirty="0">
                <a:latin typeface="Courier New" pitchFamily="49" charset="0"/>
              </a:rPr>
              <a:t>+ 1;</a:t>
            </a:r>
          </a:p>
        </p:txBody>
      </p:sp>
      <p:sp>
        <p:nvSpPr>
          <p:cNvPr id="1443844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7993062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137160" bIns="13716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dirty="0"/>
              <a:t>A WHILE loop is really an IF statement followed by the body of the loop, followed by an unconditional jump to the top of the loop. Consider the following example: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95429" y="4138506"/>
            <a:ext cx="7327739" cy="2438400"/>
            <a:chOff x="291" y="2160"/>
            <a:chExt cx="4704" cy="1440"/>
          </a:xfrm>
        </p:grpSpPr>
        <p:sp>
          <p:nvSpPr>
            <p:cNvPr id="1443846" name="Text Box 6"/>
            <p:cNvSpPr txBox="1">
              <a:spLocks noChangeArrowheads="1"/>
            </p:cNvSpPr>
            <p:nvPr/>
          </p:nvSpPr>
          <p:spPr bwMode="auto">
            <a:xfrm>
              <a:off x="291" y="2544"/>
              <a:ext cx="4704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37160" tIns="182880" rIns="137160" bIns="182880"/>
            <a:lstStyle/>
            <a:p>
              <a:pPr>
                <a:lnSpc>
                  <a:spcPct val="50000"/>
                </a:lnSpc>
                <a:spcBef>
                  <a:spcPct val="50000"/>
                </a:spcBef>
                <a:tabLst>
                  <a:tab pos="571500" algn="l"/>
                  <a:tab pos="3657600" algn="l"/>
                </a:tabLst>
              </a:pPr>
              <a:r>
                <a:rPr kumimoji="0" lang="en-US" altLang="zh-TW" sz="1800" b="1" dirty="0">
                  <a:latin typeface="Courier New" pitchFamily="49" charset="0"/>
                </a:rPr>
                <a:t>top:	</a:t>
              </a:r>
              <a:r>
                <a:rPr kumimoji="0" lang="en-US" altLang="zh-TW" sz="1800" b="1" dirty="0" err="1">
                  <a:latin typeface="Courier New" pitchFamily="49" charset="0"/>
                </a:rPr>
                <a:t>cmp</a:t>
              </a:r>
              <a:r>
                <a:rPr kumimoji="0" lang="en-US" altLang="zh-TW" sz="1800" b="1" dirty="0">
                  <a:latin typeface="Courier New" pitchFamily="49" charset="0"/>
                </a:rPr>
                <a:t> </a:t>
              </a:r>
              <a:r>
                <a:rPr kumimoji="0" lang="en-US" altLang="zh-TW" sz="1800" b="1" dirty="0" err="1" smtClean="0">
                  <a:latin typeface="Courier New" pitchFamily="49" charset="0"/>
                </a:rPr>
                <a:t>ax,bx</a:t>
              </a:r>
              <a:r>
                <a:rPr kumimoji="0" lang="en-US" altLang="zh-TW" sz="1800" b="1" dirty="0">
                  <a:latin typeface="Courier New" pitchFamily="49" charset="0"/>
                </a:rPr>
                <a:t>	; check loop condition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  <a:tabLst>
                  <a:tab pos="571500" algn="l"/>
                  <a:tab pos="3657600" algn="l"/>
                </a:tabLst>
              </a:pPr>
              <a:r>
                <a:rPr kumimoji="0" lang="en-US" altLang="zh-TW" sz="1800" b="1" dirty="0">
                  <a:latin typeface="Courier New" pitchFamily="49" charset="0"/>
                </a:rPr>
                <a:t>	</a:t>
              </a:r>
              <a:r>
                <a:rPr kumimoji="0" lang="en-US" altLang="zh-TW" sz="1800" b="1" dirty="0" err="1">
                  <a:latin typeface="Courier New" pitchFamily="49" charset="0"/>
                </a:rPr>
                <a:t>jae</a:t>
              </a:r>
              <a:r>
                <a:rPr kumimoji="0" lang="en-US" altLang="zh-TW" sz="1800" b="1" dirty="0">
                  <a:latin typeface="Courier New" pitchFamily="49" charset="0"/>
                </a:rPr>
                <a:t> next	; false? exit loop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  <a:tabLst>
                  <a:tab pos="571500" algn="l"/>
                  <a:tab pos="3657600" algn="l"/>
                </a:tabLst>
              </a:pPr>
              <a:r>
                <a:rPr kumimoji="0" lang="en-US" altLang="zh-TW" sz="1800" b="1" dirty="0">
                  <a:latin typeface="Courier New" pitchFamily="49" charset="0"/>
                </a:rPr>
                <a:t>	inc </a:t>
              </a:r>
              <a:r>
                <a:rPr kumimoji="0" lang="en-US" altLang="zh-TW" sz="1800" b="1" dirty="0" smtClean="0">
                  <a:latin typeface="Courier New" pitchFamily="49" charset="0"/>
                </a:rPr>
                <a:t>ax</a:t>
              </a:r>
              <a:r>
                <a:rPr kumimoji="0" lang="en-US" altLang="zh-TW" sz="1800" b="1" dirty="0">
                  <a:latin typeface="Courier New" pitchFamily="49" charset="0"/>
                </a:rPr>
                <a:t>	; body of loop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  <a:tabLst>
                  <a:tab pos="571500" algn="l"/>
                  <a:tab pos="3657600" algn="l"/>
                </a:tabLst>
              </a:pPr>
              <a:r>
                <a:rPr kumimoji="0" lang="en-US" altLang="zh-TW" sz="1800" b="1" dirty="0">
                  <a:latin typeface="Courier New" pitchFamily="49" charset="0"/>
                </a:rPr>
                <a:t>	</a:t>
              </a:r>
              <a:r>
                <a:rPr kumimoji="0" lang="en-US" altLang="zh-TW" sz="1800" b="1" dirty="0" err="1">
                  <a:latin typeface="Courier New" pitchFamily="49" charset="0"/>
                </a:rPr>
                <a:t>jmp</a:t>
              </a:r>
              <a:r>
                <a:rPr kumimoji="0" lang="en-US" altLang="zh-TW" sz="1800" b="1" dirty="0">
                  <a:latin typeface="Courier New" pitchFamily="49" charset="0"/>
                </a:rPr>
                <a:t> top	; repeat the loop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  <a:tabLst>
                  <a:tab pos="571500" algn="l"/>
                  <a:tab pos="3657600" algn="l"/>
                </a:tabLst>
              </a:pPr>
              <a:r>
                <a:rPr kumimoji="0" lang="en-US" altLang="zh-TW" sz="1800" b="1" dirty="0">
                  <a:latin typeface="Courier New" pitchFamily="49" charset="0"/>
                </a:rPr>
                <a:t>next:</a:t>
              </a:r>
            </a:p>
          </p:txBody>
        </p:sp>
        <p:sp>
          <p:nvSpPr>
            <p:cNvPr id="1443847" name="Text Box 7"/>
            <p:cNvSpPr txBox="1">
              <a:spLocks noChangeArrowheads="1"/>
            </p:cNvSpPr>
            <p:nvPr/>
          </p:nvSpPr>
          <p:spPr bwMode="auto">
            <a:xfrm>
              <a:off x="528" y="2160"/>
              <a:ext cx="4080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tIns="137160" bIns="13716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sz="2100"/>
                <a:t>This is a possible implementation: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32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5" name="Picture 10" descr="C:\Users\RajaZia\Desktop\ass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070" y="1823836"/>
            <a:ext cx="7145130" cy="450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3959</TotalTime>
  <Words>666</Words>
  <Application>Microsoft Office PowerPoint</Application>
  <PresentationFormat>On-screen Show (4:3)</PresentationFormat>
  <Paragraphs>203</Paragraphs>
  <Slides>25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Oriel</vt:lpstr>
      <vt:lpstr>Conditional Structures</vt:lpstr>
      <vt:lpstr>Agenda for today</vt:lpstr>
      <vt:lpstr>Arithmetic Instructions</vt:lpstr>
      <vt:lpstr>MUL Instruction</vt:lpstr>
      <vt:lpstr>Arithmetic Instructions</vt:lpstr>
      <vt:lpstr>DIV Instruction</vt:lpstr>
      <vt:lpstr>Divide overflow</vt:lpstr>
      <vt:lpstr>Labels in Assembly</vt:lpstr>
      <vt:lpstr>JMP Instruction</vt:lpstr>
      <vt:lpstr>Examples</vt:lpstr>
      <vt:lpstr>Conditional Jumps</vt:lpstr>
      <vt:lpstr>Jumps Based on Equality</vt:lpstr>
      <vt:lpstr>CMP Instruction</vt:lpstr>
      <vt:lpstr>PowerPoint Presentation</vt:lpstr>
      <vt:lpstr>PowerPoint Presentation</vt:lpstr>
      <vt:lpstr>Jumps Based on Flags</vt:lpstr>
      <vt:lpstr>Jumps Based on Conditions</vt:lpstr>
      <vt:lpstr>Your turn . . .</vt:lpstr>
      <vt:lpstr>Block-Structured IF Statements</vt:lpstr>
      <vt:lpstr>Your turn . . .</vt:lpstr>
      <vt:lpstr>Another Example</vt:lpstr>
      <vt:lpstr>And Another</vt:lpstr>
      <vt:lpstr>Loop Instruction</vt:lpstr>
      <vt:lpstr>WHILE Loops</vt:lpstr>
      <vt:lpstr>Another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# 01 Computer Organization and Assembly Language</dc:title>
  <dc:creator>Nauman</dc:creator>
  <cp:lastModifiedBy>chilwan</cp:lastModifiedBy>
  <cp:revision>580</cp:revision>
  <dcterms:created xsi:type="dcterms:W3CDTF">2006-08-16T00:00:00Z</dcterms:created>
  <dcterms:modified xsi:type="dcterms:W3CDTF">2020-10-20T05:02:47Z</dcterms:modified>
</cp:coreProperties>
</file>